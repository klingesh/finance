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defaultTextStyle>
    <a:defPPr>
      <a:defRPr lang="en-I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901" Type="http://schemas.openxmlformats.org/officeDocument/2006/relationships/presProps" Target="presProps.xml"/><Relationship Id="rId902" Type="http://schemas.openxmlformats.org/officeDocument/2006/relationships/viewProps" Target="viewProps.xml"/><Relationship Id="rId903" Type="http://schemas.openxmlformats.org/officeDocument/2006/relationships/theme" Target="theme/theme1.xml"/><Relationship Id="rId904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291465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884613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Opening: This case asks whether ABFRL should commit Rs 1,200 crore to an integrated manufacturing facility for its premium apparel brands.</a:t>
            </a:r>
          </a:p>
          <a:p>
            <a:pPr algn="l"/>
            <a:r>
              <a:rPr lang="en-IN" sz="1200" dirty="0"/>
              <a:t>Headline answer to give upfront: on the numbers as given the project does NOT clear the 11% hurdle - NPV is negative Rs 32.92 crore and IRR is 10.04%.</a:t>
            </a:r>
          </a:p>
          <a:p>
            <a:pPr algn="l"/>
            <a:r>
              <a:rPr lang="en-IN" sz="1200" dirty="0"/>
              <a:t>But the shortfall is only 2.7% of the outlay, so the recommendation is 'reject as structured, restructure and re-present' rather than a flat no.</a:t>
            </a:r>
          </a:p>
          <a:p>
            <a:pPr algn="l"/>
            <a:r>
              <a:rPr lang="en-IN" sz="1200" dirty="0"/>
              <a:t>Keep this slide up for about 20 seconds while introducing yourself.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Walk the agenda quickly - about 25 seconds. Signal that sections 4 to 6 carry the computation and section 7 carries the decision.</a:t>
            </a:r>
          </a:p>
          <a:p>
            <a:pPr algn="l"/>
            <a:r>
              <a:rPr lang="en-IN" sz="1200" dirty="0"/>
              <a:t>Tell the audience the four exam questions map to: Q1 = sections 4-6, Q2 = section 7, Q3 and Q4 = section 8.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Keep this to 40 seconds. The purpose is only to establish why manufacturing is strategically relevant for a premium-weighted brand portfolio.</a:t>
            </a:r>
          </a:p>
          <a:p>
            <a:pPr algn="l"/>
            <a:r>
              <a:rPr lang="en-IN" sz="1200" dirty="0"/>
              <a:t>Brand names are illustrative of the portfolio mix - do not quote store counts or revenue figures, they are not given in the case.</a:t>
            </a:r>
          </a:p>
          <a:p>
            <a:pPr algn="l"/>
            <a:r>
              <a:rPr lang="en-IN" sz="1200" dirty="0"/>
              <a:t>Bridge line to the next slide: 'The strategic logic is sound - the question is whether the numbers support it.'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Read out the facts, then make the key setup point: nominal inflows of Rs 1,650 crore on a Rs 1,200 crore outlay look fine, but they are back-ended.</a:t>
            </a:r>
          </a:p>
          <a:p>
            <a:pPr algn="l"/>
            <a:r>
              <a:rPr lang="en-IN" sz="1200" dirty="0"/>
              <a:t>Salvage of Rs 150 crore is treated as a Year 5 inflow, so Year 5 total is Rs 530 crore.</a:t>
            </a:r>
          </a:p>
          <a:p>
            <a:pPr algn="l"/>
            <a:r>
              <a:rPr lang="en-IN" sz="1200" dirty="0"/>
              <a:t>Growth rates 18.2 / 15.4 / 13.3 / 11.8 per cent are computed, not given - mention that they decelerate, which is a realistic ramp-up pattern.</a:t>
            </a:r>
          </a:p>
          <a:p>
            <a:pPr algn="l"/>
            <a:r>
              <a:rPr lang="en-IN" sz="1200" dirty="0"/>
              <a:t>This slide sets the trap that NPV then exposes.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Examiners award marks for stating assumptions. Spend 30 seconds here.</a:t>
            </a:r>
          </a:p>
          <a:p>
            <a:pPr algn="l"/>
            <a:r>
              <a:rPr lang="en-IN" sz="1200" dirty="0"/>
              <a:t>The two assumptions that matter most for the recommendation: the year-end convention, and treating salvage as a Year 5 after-tax inflow.</a:t>
            </a:r>
          </a:p>
          <a:p>
            <a:pPr algn="l"/>
            <a:r>
              <a:rPr lang="en-IN" sz="1200" dirty="0"/>
              <a:t>Flag the benchmark payback of 4 years as a stated internal norm, not a case figure.</a:t>
            </a:r>
          </a:p>
          <a:p>
            <a:pPr algn="l"/>
            <a:r>
              <a:rPr lang="en-IN" sz="1200" dirty="0"/>
              <a:t>Note that NPV is declared the primary rule now - this pre-empts any argument later when payback looks acceptable but NPV does not.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This is the core computation slide - spend 60 to 75 seconds here.</a:t>
            </a:r>
          </a:p>
          <a:p>
            <a:pPr algn="l"/>
            <a:r>
              <a:rPr lang="en-IN" sz="1200" dirty="0"/>
              <a:t>Walk one row aloud so the method is visible: Year 3, 300 crore times 0.7312 equals 219.36 crore.</a:t>
            </a:r>
          </a:p>
          <a:p>
            <a:pPr algn="l"/>
            <a:r>
              <a:rPr lang="en-IN" sz="1200" dirty="0"/>
              <a:t>Year 5 is the row to emphasise: 380 operating plus 150 salvage equals 530 crore, discounted at 0.5935 gives 314.53 crore.</a:t>
            </a:r>
          </a:p>
          <a:p>
            <a:pPr algn="l"/>
            <a:r>
              <a:rPr lang="en-IN" sz="1200" dirty="0"/>
              <a:t>Total PV of inflows 1,167.08 minus outlay 1,200 gives NPV of minus 32.92 crore.</a:t>
            </a:r>
          </a:p>
          <a:p>
            <a:pPr algn="l"/>
            <a:r>
              <a:rPr lang="en-IN" sz="1200" dirty="0"/>
              <a:t>Profitability index of 0.973 is the same message in ratio form - below 1.0 means value destruction.</a:t>
            </a:r>
          </a:p>
          <a:p>
            <a:pPr algn="l"/>
            <a:r>
              <a:rPr lang="en-IN" sz="1200" dirty="0"/>
              <a:t>If asked: the cumulative NPV column is the discounted payback trail, which is why it never reaches zero.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IRR is 10.04 per cent against an 11 per cent hurdle - the project fails by 96 basis points.</a:t>
            </a:r>
          </a:p>
          <a:p>
            <a:pPr algn="l"/>
            <a:r>
              <a:rPr lang="en-IN" sz="1200" dirty="0"/>
              <a:t>Show the interpolation explicitly: NPV is plus 1.58 at 10 per cent and minus 32.92 at 11 per cent, so IRR sits just above 10 per cent.</a:t>
            </a:r>
          </a:p>
          <a:p>
            <a:pPr algn="l"/>
            <a:r>
              <a:rPr lang="en-IN" sz="1200" dirty="0"/>
              <a:t>The strongest analytical point on this slide: excluding salvage, IRR falls to 7.22 per cent. So roughly 280 basis points of the return depends on one terminal-value guess.</a:t>
            </a:r>
          </a:p>
          <a:p>
            <a:pPr algn="l"/>
            <a:r>
              <a:rPr lang="en-IN" sz="1200" dirty="0"/>
              <a:t>Explain why NPV and IRR agree here - the cash flows change sign only once, so there is a single IRR and no ranking conflict.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Payback: after Year 4 cumulative inflows are 1,120 crore, leaving 80 crore unrecovered. 80 divided by 380 gives 0.21, so payback is 4.21 years.</a:t>
            </a:r>
          </a:p>
          <a:p>
            <a:pPr algn="l"/>
            <a:r>
              <a:rPr lang="en-IN" sz="1200" dirty="0"/>
              <a:t>State clearly that this uses operating cash flows. Including salvage it would be 4.15 years - mention it, but do not use it as the headline.</a:t>
            </a:r>
          </a:p>
          <a:p>
            <a:pPr algn="l"/>
            <a:r>
              <a:rPr lang="en-IN" sz="1200" dirty="0"/>
              <a:t>Now the contrast that earns marks: on a discounted basis cumulative PV reaches only 1,167.08 crore by Year 5, so 32.92 crore is never recovered.</a:t>
            </a:r>
          </a:p>
          <a:p>
            <a:pPr algn="l"/>
            <a:r>
              <a:rPr lang="en-IN" sz="1200" dirty="0"/>
              <a:t>The line to deliver: nominal payback says 4.21 years, discounted payback says never - and the difference is precisely the cost of capital.</a:t>
            </a:r>
          </a:p>
          <a:p>
            <a:pPr algn="l"/>
            <a:r>
              <a:rPr lang="en-IN" sz="1200" dirty="0"/>
              <a:t>This demonstrates the textbook criticism of payback: it ignores time value and everything beyond the cut-off.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This is the slide to pause on - it answers Question 1 in one view.</a:t>
            </a:r>
          </a:p>
          <a:p>
            <a:pPr algn="l"/>
            <a:r>
              <a:rPr lang="en-IN" sz="1200" dirty="0"/>
              <a:t>Three of four criteria say reject. The only one that looks acceptable, nominal payback, is the one that ignores the cost of capital.</a:t>
            </a:r>
          </a:p>
          <a:p>
            <a:pPr algn="l"/>
            <a:r>
              <a:rPr lang="en-IN" sz="1200" dirty="0"/>
              <a:t>Then deliver the pivot on the right: the shortfall is only 2.7 per cent of the outlay, so the project is redeemable rather than fundamentally flawed.</a:t>
            </a:r>
          </a:p>
          <a:p>
            <a:pPr algn="l"/>
            <a:r>
              <a:rPr lang="en-IN" sz="1200" dirty="0"/>
              <a:t>That pivot sets up the recommendation on the next slide and shows judgement rather than mechanical rule-following.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Answer Question 2 directly in the first sentence: no, not as presented.</a:t>
            </a:r>
          </a:p>
          <a:p>
            <a:pPr algn="l"/>
            <a:r>
              <a:rPr lang="en-IN" sz="1200" dirty="0"/>
              <a:t>Give the four financial reasons in order. Reason 1 is the governing one - NPV is negative.</a:t>
            </a:r>
          </a:p>
          <a:p>
            <a:pPr algn="l"/>
            <a:r>
              <a:rPr lang="en-IN" sz="1200" dirty="0"/>
              <a:t>Reason 4 is the sophisticated point: 89 crore of present value, 28 per cent of Year 5, is salvage, and stripping it out drops IRR to 7.22 per cent.</a:t>
            </a:r>
          </a:p>
          <a:p>
            <a:pPr algn="l"/>
            <a:r>
              <a:rPr lang="en-IN" sz="1200" dirty="0"/>
              <a:t>Then use the right-hand column to show balance. The gap is only 2.7 per cent of the outlay and three specific levers close it.</a:t>
            </a:r>
          </a:p>
          <a:p>
            <a:pPr algn="l"/>
            <a:r>
              <a:rPr lang="en-IN" sz="1200" dirty="0"/>
              <a:t>Be careful with the last line: strategic value justifies restructuring the proposal, it does not justify overriding a negative NPV. Examiners look for that discipline.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Sensitivity analysis is what turns a computation into a recommendation - it shows how robust the rejection is.</a:t>
            </a:r>
          </a:p>
          <a:p>
            <a:pPr algn="l"/>
            <a:r>
              <a:rPr lang="en-IN" sz="1200" dirty="0"/>
              <a:t>Two scenarios flip the decision: cash flows 10 per cent higher, or salvage realised at 300 crore. Both are plausible, which is why the answer is restructure rather than abandon.</a:t>
            </a:r>
          </a:p>
          <a:p>
            <a:pPr algn="l"/>
            <a:r>
              <a:rPr lang="en-IN" sz="1200" dirty="0"/>
              <a:t>The asymmetry is the finding to emphasise: a 10 per cent overrun costs 153 crore while a 10 per cent uplift earns only 75 crore. Downside is about twice the upside.</a:t>
            </a:r>
          </a:p>
          <a:p>
            <a:pPr algn="l"/>
            <a:r>
              <a:rPr lang="en-IN" sz="1200" dirty="0"/>
              <a:t>The breakeven triggers on the right are the negotiating targets for management - capex under 1,167 crore is the single most actionable one.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Question 3 asks for three risks. Give each one a name, a cause and a number - the number is what separates a good answer from a generic one.</a:t>
            </a:r>
          </a:p>
          <a:p>
            <a:pPr algn="l"/>
            <a:r>
              <a:rPr lang="en-IN" sz="1200" dirty="0"/>
              <a:t>Risk 1 demand: the model assumes 12 to 18 per cent growth every year for five years, which is a strong assumption for discretionary premium apparel. Cost of a 10 per cent miss: NPV of minus 140.73 crore.</a:t>
            </a:r>
          </a:p>
          <a:p>
            <a:pPr algn="l"/>
            <a:r>
              <a:rPr lang="en-IN" sz="1200" dirty="0"/>
              <a:t>Risk 2 execution: breakeven capex is 1,167 crore against a 1,200 crore budget, so there is effectively zero tolerance for overrun. A 10 per cent overrun costs 152.92 crore.</a:t>
            </a:r>
          </a:p>
          <a:p>
            <a:pPr algn="l"/>
            <a:r>
              <a:rPr lang="en-IN" sz="1200" dirty="0"/>
              <a:t>Risk 3 terminal value: 150 crore of salvage on specialised apparel assets. If it is worthless, NPV is minus 121.94 crore.</a:t>
            </a:r>
          </a:p>
          <a:p>
            <a:pPr algn="l"/>
            <a:r>
              <a:rPr lang="en-IN" sz="1200" dirty="0"/>
              <a:t>If asked for more: input-cost volatility in cotton and yarn, labour and regulatory risk, and cannibalisation of existing vendor relationships.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Question 4. Keep the mapping explicit - each column answers the risk with the same number on the previous slide.</a:t>
            </a:r>
          </a:p>
          <a:p>
            <a:pPr algn="l"/>
            <a:r>
              <a:rPr lang="en-IN" sz="1200" dirty="0"/>
              <a:t>The two strongest actions to call out: the fixed-price turnkey EPC contract with liquidated damages, which transfers overrun risk to the contractor; and OEM buy-back guarantees, which turn the salvage assumption into a contractual floor.</a:t>
            </a:r>
          </a:p>
          <a:p>
            <a:pPr algn="l"/>
            <a:r>
              <a:rPr lang="en-IN" sz="1200" dirty="0"/>
              <a:t>Phasing appears twice on purpose - it mitigates demand risk and it creates option value.</a:t>
            </a:r>
          </a:p>
          <a:p>
            <a:pPr algn="l"/>
            <a:r>
              <a:rPr lang="en-IN" sz="1200" dirty="0"/>
              <a:t>The cross-cutting strip is the sophisticated close: reducing WACC to 10.04 per cent alone makes the project viable, so the financing structure is a genuine lever, not just the operations.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This slide is optional if you are short on time, but it is what lifts the answer from analysis to advice.</a:t>
            </a:r>
          </a:p>
          <a:p>
            <a:pPr algn="l"/>
            <a:r>
              <a:rPr lang="en-IN" sz="1200" dirty="0"/>
              <a:t>The idea: instead of a single yes or no on 1,200 crore, release capital in stages as uncertainty is resolved.</a:t>
            </a:r>
          </a:p>
          <a:p>
            <a:pPr algn="l"/>
            <a:r>
              <a:rPr lang="en-IN" sz="1200" dirty="0"/>
              <a:t>Gate 0 is the most important - re-tender to get capex under 1,167 crore, which is the breakeven figure.</a:t>
            </a:r>
          </a:p>
          <a:p>
            <a:pPr algn="l"/>
            <a:r>
              <a:rPr lang="en-IN" sz="1200" dirty="0"/>
              <a:t>Close with the governing rule: at every gate, re-run NPV on current data, and never let sunk cost from an earlier gate justify the next tranche.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Close in 45 seconds. Lead with the five numbers, then the four takeaways.</a:t>
            </a:r>
          </a:p>
          <a:p>
            <a:pPr algn="l"/>
            <a:r>
              <a:rPr lang="en-IN" sz="1200" dirty="0"/>
              <a:t>The single sentence to leave in the room: defer and restructure - do not sanction 1,200 crore on these numbers.</a:t>
            </a:r>
          </a:p>
          <a:p>
            <a:pPr algn="l"/>
            <a:r>
              <a:rPr lang="en-IN" sz="1200" dirty="0"/>
              <a:t>End on the academic takeaway. A negative NPV is not always a rejection of the strategy, sometimes it is a rejection of the price being paid for it. That line shows you understood the case rather than just calculated it.</a:t>
            </a:r>
          </a:p>
          <a:p>
            <a:pPr algn="l"/>
            <a:r>
              <a:rPr lang="en-IN" sz="1200" dirty="0"/>
              <a:t>Then invite questions.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dirty="0"/>
              <a:t>Stop talking here and invite questions.</a:t>
            </a:r>
          </a:p>
          <a:p>
            <a:pPr algn="l"/>
            <a:r>
              <a:rPr lang="en-IN" sz="1200" dirty="0"/>
              <a:t>Likely questions and short answers:</a:t>
            </a:r>
          </a:p>
          <a:p>
            <a:pPr algn="l"/>
            <a:r>
              <a:rPr lang="en-IN" sz="1200" dirty="0"/>
              <a:t>Why is NPV negative when inflows total 1,650 crore? Because they are back-ended and 11 per cent compounding over five years costs more than the nominal surplus.</a:t>
            </a:r>
          </a:p>
          <a:p>
            <a:pPr algn="l"/>
            <a:r>
              <a:rPr lang="en-IN" sz="1200" dirty="0"/>
              <a:t>Would you accept at a 10 per cent WACC? Yes, marginally - NPV becomes plus 1.58 crore, but that is too thin a margin to sanction without renegotiating capex.</a:t>
            </a:r>
          </a:p>
          <a:p>
            <a:pPr algn="l"/>
            <a:r>
              <a:rPr lang="en-IN" sz="1200" dirty="0"/>
              <a:t>Why not use payback? It ignores time value and everything after the cut-off; here it would have approved a value-destroying project.</a:t>
            </a:r>
          </a:p>
          <a:p>
            <a:pPr algn="l"/>
            <a:r>
              <a:rPr lang="en-IN" sz="1200" dirty="0"/>
              <a:t>What single change would you demand? Capex re-tendered to 1,167 crore or below.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0B15"/>
            </a:gs>
            <a:gs pos="55000">
              <a:srgbClr val="9E1B32"/>
            </a:gs>
            <a:gs pos="100000">
              <a:srgbClr val="3C060E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55000">
                <a:srgbClr val="9E1B32"/>
              </a:gs>
              <a:gs pos="100000">
                <a:srgbClr val="3C060E"/>
              </a:gs>
            </a:gsLst>
            <a:lin ang="27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Arc1"/>
          <p:cNvSpPr/>
          <p:nvPr/>
        </p:nvSpPr>
        <p:spPr>
          <a:xfrm>
            <a:off x="8321040" y="-1828800"/>
            <a:ext cx="6035040" cy="6035040"/>
          </a:xfrm>
          <a:prstGeom prst="ellipse">
            <a:avLst/>
          </a:prstGeom>
          <a:noFill/>
          <a:ln w="13970" cap="flat" cmpd="sng" algn="ctr">
            <a:solidFill>
              <a:srgbClr val="C9A227">
                <a:alpha val="26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Arc2"/>
          <p:cNvSpPr/>
          <p:nvPr/>
        </p:nvSpPr>
        <p:spPr>
          <a:xfrm>
            <a:off x="9144000" y="-1005840"/>
            <a:ext cx="6035040" cy="6035040"/>
          </a:xfrm>
          <a:prstGeom prst="ellipse">
            <a:avLst/>
          </a:prstGeom>
          <a:noFill/>
          <a:ln w="11430" cap="flat" cmpd="sng" algn="ctr">
            <a:solidFill>
              <a:srgbClr val="C9A227">
                <a:alpha val="17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Arc3"/>
          <p:cNvSpPr/>
          <p:nvPr/>
        </p:nvSpPr>
        <p:spPr>
          <a:xfrm>
            <a:off x="-1463040" y="3931920"/>
            <a:ext cx="4206240" cy="4206240"/>
          </a:xfrm>
          <a:prstGeom prst="ellipse">
            <a:avLst/>
          </a:prstGeom>
          <a:noFill/>
          <a:ln w="11430" cap="flat" cmpd="sng" algn="ctr">
            <a:solidFill>
              <a:srgbClr val="C9A227">
                <a:alpha val="15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Edge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ISSM Crest"/>
          <p:cNvSpPr/>
          <p:nvPr/>
        </p:nvSpPr>
        <p:spPr>
          <a:xfrm>
            <a:off x="603504" y="548640"/>
            <a:ext cx="725155" cy="841248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2032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rest Inner"/>
          <p:cNvSpPr/>
          <p:nvPr/>
        </p:nvSpPr>
        <p:spPr>
          <a:xfrm>
            <a:off x="657890" y="594908"/>
            <a:ext cx="616383" cy="744504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Flame"/>
          <p:cNvSpPr/>
          <p:nvPr/>
        </p:nvSpPr>
        <p:spPr>
          <a:xfrm>
            <a:off x="921664" y="662208"/>
            <a:ext cx="88835" cy="134599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Stem"/>
          <p:cNvSpPr/>
          <p:nvPr/>
        </p:nvSpPr>
        <p:spPr>
          <a:xfrm>
            <a:off x="950853" y="796808"/>
            <a:ext cx="30456" cy="121980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Collar"/>
          <p:cNvSpPr/>
          <p:nvPr/>
        </p:nvSpPr>
        <p:spPr>
          <a:xfrm>
            <a:off x="918946" y="906170"/>
            <a:ext cx="94270" cy="1850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Page L"/>
          <p:cNvSpPr/>
          <p:nvPr/>
        </p:nvSpPr>
        <p:spPr>
          <a:xfrm>
            <a:off x="777541" y="948232"/>
            <a:ext cx="179113" cy="158373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Page R"/>
          <p:cNvSpPr/>
          <p:nvPr/>
        </p:nvSpPr>
        <p:spPr>
          <a:xfrm flipH="1">
            <a:off x="975508" y="948232"/>
            <a:ext cx="179113" cy="158373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4" name="Spine"/>
          <p:cNvSpPr/>
          <p:nvPr/>
        </p:nvSpPr>
        <p:spPr>
          <a:xfrm>
            <a:off x="956654" y="1004428"/>
            <a:ext cx="18854" cy="81740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5" name="Ribbon"/>
          <p:cNvSpPr/>
          <p:nvPr/>
        </p:nvSpPr>
        <p:spPr>
          <a:xfrm>
            <a:off x="763038" y="1133307"/>
            <a:ext cx="406086" cy="42062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6" name="ISSM Wordmark"/>
          <p:cNvSpPr/>
          <p:nvPr/>
        </p:nvSpPr>
        <p:spPr>
          <a:xfrm>
            <a:off x="1463258" y="594908"/>
            <a:ext cx="2944368" cy="8412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392" b="1" spc="60" dirty="0">
                <a:solidFill>
                  <a:srgbClr val="FFFFFF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67" b="1" spc="170" dirty="0">
                <a:solidFill>
                  <a:srgbClr val="E3C567"/>
                </a:solidFill>
                <a:latin typeface="Calibri"/>
                <a:cs typeface="Calibri"/>
              </a:rPr>
              <a:t>BUSINESS SCHOOL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736" b="1" spc="130" dirty="0">
                <a:solidFill>
                  <a:srgbClr val="D8CFC0"/>
                </a:solidFill>
                <a:latin typeface="Calibri"/>
                <a:cs typeface="Calibri"/>
              </a:rPr>
              <a:t>CHENNAI  |  HYDERABAD</a:t>
            </a:r>
          </a:p>
        </p:txBody>
      </p:sp>
      <p:sp>
        <p:nvSpPr>
          <p:cNvPr id="17" name="Badge"/>
          <p:cNvSpPr/>
          <p:nvPr/>
        </p:nvSpPr>
        <p:spPr>
          <a:xfrm>
            <a:off x="603504" y="1920240"/>
            <a:ext cx="2395728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20" b="1" spc="200" dirty="0">
                <a:solidFill>
                  <a:srgbClr val="5E0B15"/>
                </a:solidFill>
                <a:latin typeface="Calibri"/>
                <a:cs typeface="Calibri"/>
              </a:rPr>
              <a:t>CASE STUDY 2</a:t>
            </a:r>
          </a:p>
        </p:txBody>
      </p:sp>
      <p:sp>
        <p:nvSpPr>
          <p:cNvPr id="18" name="Badge Sub"/>
          <p:cNvSpPr/>
          <p:nvPr/>
        </p:nvSpPr>
        <p:spPr>
          <a:xfrm>
            <a:off x="3145536" y="1947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80" b="1" spc="170" dirty="0">
                <a:solidFill>
                  <a:srgbClr val="E2D2B8"/>
                </a:solidFill>
                <a:latin typeface="Calibri"/>
                <a:cs typeface="Calibri"/>
              </a:rPr>
              <a:t>CORPORATE FINANCE  |  CAPITAL BUDGETING</a:t>
            </a:r>
          </a:p>
        </p:txBody>
      </p:sp>
      <p:sp>
        <p:nvSpPr>
          <p:cNvPr id="19" name="Main Title"/>
          <p:cNvSpPr/>
          <p:nvPr/>
        </p:nvSpPr>
        <p:spPr>
          <a:xfrm>
            <a:off x="603504" y="2395728"/>
            <a:ext cx="9052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3000"/>
              </a:lnSpc>
              <a:buNone/>
            </a:pPr>
            <a:r>
              <a:rPr lang="en-IN" sz="5000" b="1" spc="-30" dirty="0">
                <a:solidFill>
                  <a:srgbClr val="FFFFFF"/>
                </a:solidFill>
                <a:latin typeface="Georgia"/>
                <a:cs typeface="Georgia"/>
              </a:rPr>
              <a:t>Aditya Birla Fashion</a:t>
            </a:r>
          </a:p>
          <a:p>
            <a:pPr algn="l">
              <a:lnSpc>
                <a:spcPct val="93000"/>
              </a:lnSpc>
              <a:buNone/>
            </a:pPr>
            <a:r>
              <a:rPr lang="en-IN" sz="5000" b="1" spc="-30" dirty="0">
                <a:solidFill>
                  <a:srgbClr val="E3C567"/>
                </a:solidFill>
                <a:latin typeface="Georgia"/>
                <a:cs typeface="Georgia"/>
              </a:rPr>
              <a:t>&amp; Retail Ltd.</a:t>
            </a:r>
          </a:p>
        </p:txBody>
      </p:sp>
      <p:sp>
        <p:nvSpPr>
          <p:cNvPr id="20" name="Rule"/>
          <p:cNvSpPr/>
          <p:nvPr/>
        </p:nvSpPr>
        <p:spPr>
          <a:xfrm>
            <a:off x="603504" y="4059936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1" name="Subtitle"/>
          <p:cNvSpPr/>
          <p:nvPr/>
        </p:nvSpPr>
        <p:spPr>
          <a:xfrm>
            <a:off x="603504" y="4261104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IN" sz="1550" dirty="0">
                <a:solidFill>
                  <a:srgbClr val="EFE3D2"/>
                </a:solidFill>
                <a:latin typeface="Calibri"/>
                <a:cs typeface="Calibri"/>
              </a:rPr>
              <a:t>Investment Appraisal of a </a:t>
            </a:r>
            <a:r>
              <a:rPr lang="en-IN" sz="1550" b="1" dirty="0">
                <a:solidFill>
                  <a:srgbClr val="FFFFFF"/>
                </a:solidFill>
                <a:latin typeface="Calibri"/>
                <a:cs typeface="Calibri"/>
              </a:rPr>
              <a:t>₹1,200 Crore</a:t>
            </a:r>
            <a:r>
              <a:rPr lang="en-IN" sz="1550" dirty="0">
                <a:solidFill>
                  <a:srgbClr val="EFE3D2"/>
                </a:solidFill>
                <a:latin typeface="Calibri"/>
                <a:cs typeface="Calibri"/>
              </a:rPr>
              <a:t> Integrated Manufacturing Facility</a:t>
            </a:r>
          </a:p>
          <a:p>
            <a:pPr algn="l">
              <a:spcBef>
                <a:spcPts val="700"/>
              </a:spcBef>
              <a:buNone/>
            </a:pPr>
            <a:r>
              <a:rPr lang="en-IN" sz="1100" b="1" spc="90" dirty="0">
                <a:solidFill>
                  <a:srgbClr val="E3C567"/>
                </a:solidFill>
                <a:latin typeface="Calibri"/>
                <a:cs typeface="Calibri"/>
              </a:rPr>
              <a:t>NPV  •  IRR  •  Payback Period  •  Strategic Risk &amp; Mitigation</a:t>
            </a:r>
          </a:p>
        </p:txBody>
      </p:sp>
      <p:sp>
        <p:nvSpPr>
          <p:cNvPr id="22" name="Pres Bar"/>
          <p:cNvSpPr/>
          <p:nvPr/>
        </p:nvSpPr>
        <p:spPr>
          <a:xfrm>
            <a:off x="603504" y="5230368"/>
            <a:ext cx="32004" cy="7863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Presenter"/>
          <p:cNvSpPr/>
          <p:nvPr/>
        </p:nvSpPr>
        <p:spPr>
          <a:xfrm>
            <a:off x="786384" y="52120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40" b="1" spc="200" dirty="0">
                <a:solidFill>
                  <a:srgbClr val="C9A227"/>
                </a:solidFill>
                <a:latin typeface="Calibri"/>
                <a:cs typeface="Calibri"/>
              </a:rPr>
              <a:t>PREPARED BY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900" b="1" dirty="0">
                <a:solidFill>
                  <a:srgbClr val="FFFFFF"/>
                </a:solidFill>
                <a:latin typeface="Georgia"/>
                <a:cs typeface="Georgia"/>
              </a:rPr>
              <a:t>Lingesh K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980" dirty="0">
                <a:solidFill>
                  <a:srgbClr val="D6C6B4"/>
                </a:solidFill>
                <a:latin typeface="Calibri"/>
                <a:cs typeface="Calibri"/>
              </a:rPr>
              <a:t>MBA — Finance   |   Register No. </a:t>
            </a:r>
            <a:r>
              <a:rPr lang="en-IN" sz="980" b="1" spc="50" dirty="0">
                <a:solidFill>
                  <a:srgbClr val="E3C56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4" name="Submitted"/>
          <p:cNvSpPr/>
          <p:nvPr/>
        </p:nvSpPr>
        <p:spPr>
          <a:xfrm>
            <a:off x="7930896" y="554126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840" b="1" spc="200" dirty="0">
                <a:solidFill>
                  <a:srgbClr val="C9A227"/>
                </a:solidFill>
                <a:latin typeface="Calibri"/>
                <a:cs typeface="Calibri"/>
              </a:rPr>
              <a:t>SUBMITTED TO</a:t>
            </a:r>
          </a:p>
          <a:p>
            <a:pPr algn="r">
              <a:spcBef>
                <a:spcPts val="300"/>
              </a:spcBef>
              <a:buNone/>
            </a:pPr>
            <a:r>
              <a:rPr lang="en-IN" sz="1240" b="1" dirty="0">
                <a:solidFill>
                  <a:srgbClr val="FFFFFF"/>
                </a:solidFill>
                <a:latin typeface="Georgia"/>
                <a:cs typeface="Georgia"/>
              </a:rPr>
              <a:t>ISSM Business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STRUCTURE OF THE ANALYSIS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Agenda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8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19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02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0" name="Card"/>
          <p:cNvSpPr/>
          <p:nvPr/>
        </p:nvSpPr>
        <p:spPr>
          <a:xfrm>
            <a:off x="603504" y="1572768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1" name="Accent"/>
          <p:cNvSpPr/>
          <p:nvPr/>
        </p:nvSpPr>
        <p:spPr>
          <a:xfrm>
            <a:off x="603504" y="1572768"/>
            <a:ext cx="45720" cy="93268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Num"/>
          <p:cNvSpPr/>
          <p:nvPr/>
        </p:nvSpPr>
        <p:spPr>
          <a:xfrm>
            <a:off x="822960" y="16916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C9A227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23" name="Item"/>
          <p:cNvSpPr/>
          <p:nvPr/>
        </p:nvSpPr>
        <p:spPr>
          <a:xfrm>
            <a:off x="1444752" y="1737360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Company &amp; Project Context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Who ABFRL is and why backward integration is on the table</a:t>
            </a:r>
          </a:p>
        </p:txBody>
      </p:sp>
      <p:sp>
        <p:nvSpPr>
          <p:cNvPr id="24" name="Card"/>
          <p:cNvSpPr/>
          <p:nvPr/>
        </p:nvSpPr>
        <p:spPr>
          <a:xfrm>
            <a:off x="6233160" y="1572768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5" name="Accent"/>
          <p:cNvSpPr/>
          <p:nvPr/>
        </p:nvSpPr>
        <p:spPr>
          <a:xfrm>
            <a:off x="6233160" y="1572768"/>
            <a:ext cx="45720" cy="9326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Num"/>
          <p:cNvSpPr/>
          <p:nvPr/>
        </p:nvSpPr>
        <p:spPr>
          <a:xfrm>
            <a:off x="6452616" y="16916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9E1B32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27" name="Item"/>
          <p:cNvSpPr/>
          <p:nvPr/>
        </p:nvSpPr>
        <p:spPr>
          <a:xfrm>
            <a:off x="7074408" y="1737360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The Investment Proposition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Case facts: outlay, cash inflows, hurdle rate, salvage</a:t>
            </a:r>
          </a:p>
        </p:txBody>
      </p:sp>
      <p:sp>
        <p:nvSpPr>
          <p:cNvPr id="28" name="Card"/>
          <p:cNvSpPr/>
          <p:nvPr/>
        </p:nvSpPr>
        <p:spPr>
          <a:xfrm>
            <a:off x="603504" y="2633472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9" name="Accent"/>
          <p:cNvSpPr/>
          <p:nvPr/>
        </p:nvSpPr>
        <p:spPr>
          <a:xfrm>
            <a:off x="603504" y="2633472"/>
            <a:ext cx="45720" cy="93268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Num"/>
          <p:cNvSpPr/>
          <p:nvPr/>
        </p:nvSpPr>
        <p:spPr>
          <a:xfrm>
            <a:off x="822960" y="275234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C9A227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31" name="Item"/>
          <p:cNvSpPr/>
          <p:nvPr/>
        </p:nvSpPr>
        <p:spPr>
          <a:xfrm>
            <a:off x="1444752" y="2798064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Methodology &amp; Assumptions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Decision rules and the basis of every number used</a:t>
            </a:r>
          </a:p>
        </p:txBody>
      </p:sp>
      <p:sp>
        <p:nvSpPr>
          <p:cNvPr id="32" name="Card"/>
          <p:cNvSpPr/>
          <p:nvPr/>
        </p:nvSpPr>
        <p:spPr>
          <a:xfrm>
            <a:off x="6233160" y="2633472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Accent"/>
          <p:cNvSpPr/>
          <p:nvPr/>
        </p:nvSpPr>
        <p:spPr>
          <a:xfrm>
            <a:off x="6233160" y="2633472"/>
            <a:ext cx="45720" cy="9326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Num"/>
          <p:cNvSpPr/>
          <p:nvPr/>
        </p:nvSpPr>
        <p:spPr>
          <a:xfrm>
            <a:off x="6452616" y="275234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9E1B32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35" name="Item"/>
          <p:cNvSpPr/>
          <p:nvPr/>
        </p:nvSpPr>
        <p:spPr>
          <a:xfrm>
            <a:off x="7074408" y="2798064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NPV Computation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Full discounting schedule at 11% cost of capital</a:t>
            </a:r>
          </a:p>
        </p:txBody>
      </p:sp>
      <p:sp>
        <p:nvSpPr>
          <p:cNvPr id="36" name="Card"/>
          <p:cNvSpPr/>
          <p:nvPr/>
        </p:nvSpPr>
        <p:spPr>
          <a:xfrm>
            <a:off x="603504" y="3694176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Accent"/>
          <p:cNvSpPr/>
          <p:nvPr/>
        </p:nvSpPr>
        <p:spPr>
          <a:xfrm>
            <a:off x="603504" y="3694176"/>
            <a:ext cx="45720" cy="93268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Num"/>
          <p:cNvSpPr/>
          <p:nvPr/>
        </p:nvSpPr>
        <p:spPr>
          <a:xfrm>
            <a:off x="822960" y="381304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C9A227"/>
                </a:solidFill>
                <a:latin typeface="Georgia"/>
                <a:cs typeface="Georgia"/>
              </a:rPr>
              <a:t>05</a:t>
            </a:r>
          </a:p>
        </p:txBody>
      </p:sp>
      <p:sp>
        <p:nvSpPr>
          <p:cNvPr id="39" name="Item"/>
          <p:cNvSpPr/>
          <p:nvPr/>
        </p:nvSpPr>
        <p:spPr>
          <a:xfrm>
            <a:off x="1444752" y="3858768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IRR &amp; NPV Profile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Interpolated IRR and sensitivity of NPV to the discount rate</a:t>
            </a:r>
          </a:p>
        </p:txBody>
      </p:sp>
      <p:sp>
        <p:nvSpPr>
          <p:cNvPr id="40" name="Card"/>
          <p:cNvSpPr/>
          <p:nvPr/>
        </p:nvSpPr>
        <p:spPr>
          <a:xfrm>
            <a:off x="6233160" y="3694176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1" name="Accent"/>
          <p:cNvSpPr/>
          <p:nvPr/>
        </p:nvSpPr>
        <p:spPr>
          <a:xfrm>
            <a:off x="6233160" y="3694176"/>
            <a:ext cx="45720" cy="9326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2" name="Num"/>
          <p:cNvSpPr/>
          <p:nvPr/>
        </p:nvSpPr>
        <p:spPr>
          <a:xfrm>
            <a:off x="6452616" y="381304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9E1B32"/>
                </a:solidFill>
                <a:latin typeface="Georgia"/>
                <a:cs typeface="Georgia"/>
              </a:rPr>
              <a:t>06</a:t>
            </a:r>
          </a:p>
        </p:txBody>
      </p:sp>
      <p:sp>
        <p:nvSpPr>
          <p:cNvPr id="43" name="Item"/>
          <p:cNvSpPr/>
          <p:nvPr/>
        </p:nvSpPr>
        <p:spPr>
          <a:xfrm>
            <a:off x="7074408" y="3858768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Payback &amp; Discounted Payback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Capital recovery on both a nominal and time-value basis</a:t>
            </a:r>
          </a:p>
        </p:txBody>
      </p:sp>
      <p:sp>
        <p:nvSpPr>
          <p:cNvPr id="44" name="Card"/>
          <p:cNvSpPr/>
          <p:nvPr/>
        </p:nvSpPr>
        <p:spPr>
          <a:xfrm>
            <a:off x="603504" y="4754880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5" name="Accent"/>
          <p:cNvSpPr/>
          <p:nvPr/>
        </p:nvSpPr>
        <p:spPr>
          <a:xfrm>
            <a:off x="603504" y="4754880"/>
            <a:ext cx="45720" cy="93268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6" name="Num"/>
          <p:cNvSpPr/>
          <p:nvPr/>
        </p:nvSpPr>
        <p:spPr>
          <a:xfrm>
            <a:off x="822960" y="487375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C9A227"/>
                </a:solidFill>
                <a:latin typeface="Georgia"/>
                <a:cs typeface="Georgia"/>
              </a:rPr>
              <a:t>07</a:t>
            </a:r>
          </a:p>
        </p:txBody>
      </p:sp>
      <p:sp>
        <p:nvSpPr>
          <p:cNvPr id="47" name="Item"/>
          <p:cNvSpPr/>
          <p:nvPr/>
        </p:nvSpPr>
        <p:spPr>
          <a:xfrm>
            <a:off x="1444752" y="4919472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Decision Dashboard &amp; Recommendation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Verdict against each criterion, with justification</a:t>
            </a:r>
          </a:p>
        </p:txBody>
      </p:sp>
      <p:sp>
        <p:nvSpPr>
          <p:cNvPr id="48" name="Card"/>
          <p:cNvSpPr/>
          <p:nvPr/>
        </p:nvSpPr>
        <p:spPr>
          <a:xfrm>
            <a:off x="6233160" y="4754880"/>
            <a:ext cx="5355336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9" name="Accent"/>
          <p:cNvSpPr/>
          <p:nvPr/>
        </p:nvSpPr>
        <p:spPr>
          <a:xfrm>
            <a:off x="6233160" y="4754880"/>
            <a:ext cx="45720" cy="9326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0" name="Num"/>
          <p:cNvSpPr/>
          <p:nvPr/>
        </p:nvSpPr>
        <p:spPr>
          <a:xfrm>
            <a:off x="6452616" y="487375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600" b="1" dirty="0">
                <a:solidFill>
                  <a:srgbClr val="9E1B32"/>
                </a:solidFill>
                <a:latin typeface="Georgia"/>
                <a:cs typeface="Georgia"/>
              </a:rPr>
              <a:t>08</a:t>
            </a:r>
          </a:p>
        </p:txBody>
      </p:sp>
      <p:sp>
        <p:nvSpPr>
          <p:cNvPr id="51" name="Item"/>
          <p:cNvSpPr/>
          <p:nvPr/>
        </p:nvSpPr>
        <p:spPr>
          <a:xfrm>
            <a:off x="7074408" y="4919472"/>
            <a:ext cx="4312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Risks, Mitigation &amp; Roadmap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Three strategic risks and the managerial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COMPANY CONTEXT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About Aditya Birla Fashion &amp; Retail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Part of the Aditya Birla Group — one of India's largest pure-play fashion and lifestyle businesses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03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5074920" cy="2084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Accent"/>
          <p:cNvSpPr/>
          <p:nvPr/>
        </p:nvSpPr>
        <p:spPr>
          <a:xfrm>
            <a:off x="603504" y="1572768"/>
            <a:ext cx="45720" cy="208483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Narrative"/>
          <p:cNvSpPr/>
          <p:nvPr/>
        </p:nvSpPr>
        <p:spPr>
          <a:xfrm>
            <a:off x="896112" y="1755648"/>
            <a:ext cx="452628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200" dirty="0">
                <a:solidFill>
                  <a:srgbClr val="C9A227"/>
                </a:solidFill>
                <a:latin typeface="Calibri"/>
                <a:cs typeface="Calibri"/>
              </a:rPr>
              <a:t>WHO THEY ARE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buNone/>
            </a:pPr>
            <a:r>
              <a:rPr lang="en-IN" sz="1120" dirty="0">
                <a:solidFill>
                  <a:srgbClr val="4A4A55"/>
                </a:solidFill>
                <a:latin typeface="Calibri"/>
                <a:cs typeface="Calibri"/>
              </a:rPr>
              <a:t>ABFRL builds and retails branded apparel across the premium, mid-market and value segments in India, operating through a large network of exclusive brand outlets, department stores and its own digital channels.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buNone/>
            </a:pPr>
            <a:r>
              <a:rPr lang="en-IN" sz="1120" dirty="0">
                <a:solidFill>
                  <a:srgbClr val="4A4A55"/>
                </a:solidFill>
                <a:latin typeface="Calibri"/>
                <a:cs typeface="Calibri"/>
              </a:rPr>
              <a:t>Its growth engine is brand strength plus speed to market — which makes control over the supply chain a strategic question, not just a cost question.</a:t>
            </a:r>
          </a:p>
        </p:txBody>
      </p:sp>
      <p:sp>
        <p:nvSpPr>
          <p:cNvPr id="24" name="Card"/>
          <p:cNvSpPr/>
          <p:nvPr/>
        </p:nvSpPr>
        <p:spPr>
          <a:xfrm>
            <a:off x="603504" y="3822192"/>
            <a:ext cx="5074920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5" name="Accent"/>
          <p:cNvSpPr/>
          <p:nvPr/>
        </p:nvSpPr>
        <p:spPr>
          <a:xfrm>
            <a:off x="603504" y="3822192"/>
            <a:ext cx="45720" cy="22128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Brands"/>
          <p:cNvSpPr/>
          <p:nvPr/>
        </p:nvSpPr>
        <p:spPr>
          <a:xfrm>
            <a:off x="896112" y="4005072"/>
            <a:ext cx="452628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80" dirty="0">
                <a:solidFill>
                  <a:srgbClr val="C9A227"/>
                </a:solidFill>
                <a:latin typeface="Calibri"/>
                <a:cs typeface="Calibri"/>
              </a:rPr>
              <a:t>BRAND PORTFOLIO (ILLUSTRATIVE)</a:t>
            </a:r>
          </a:p>
          <a:p>
            <a:pPr algn="l">
              <a:lnSpc>
                <a:spcPct val="124000"/>
              </a:lnSpc>
              <a:spcBef>
                <a:spcPts val="900"/>
              </a:spcBef>
              <a:buNone/>
            </a:pP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Louis Philippe  ·  Van Heusen  ·  Allen Solly  ·  Peter England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buNone/>
            </a:pP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Pantaloons  ·  designer and ethnic labels  ·  licensed international brands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buNone/>
            </a:pPr>
            <a:r>
              <a:rPr lang="en-IN" sz="1040" i="1" dirty="0">
                <a:solidFill>
                  <a:srgbClr val="7A7A85"/>
                </a:solidFill>
                <a:latin typeface="Calibri"/>
                <a:cs typeface="Calibri"/>
              </a:rPr>
              <a:t>A premium-weighted portfolio raises the cost of quality failure and of slow replenishment — the core argument for owning manufacturing capacity.</a:t>
            </a:r>
          </a:p>
        </p:txBody>
      </p:sp>
      <p:sp>
        <p:nvSpPr>
          <p:cNvPr id="27" name="H2"/>
          <p:cNvSpPr/>
          <p:nvPr/>
        </p:nvSpPr>
        <p:spPr>
          <a:xfrm>
            <a:off x="5971032" y="1536192"/>
            <a:ext cx="56174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80" dirty="0">
                <a:solidFill>
                  <a:srgbClr val="9E1B32"/>
                </a:solidFill>
                <a:latin typeface="Calibri"/>
                <a:cs typeface="Calibri"/>
              </a:rPr>
              <a:t>WHY AN INTEGRATED PLANT?</a:t>
            </a:r>
          </a:p>
        </p:txBody>
      </p:sp>
      <p:sp>
        <p:nvSpPr>
          <p:cNvPr id="28" name="Card"/>
          <p:cNvSpPr/>
          <p:nvPr/>
        </p:nvSpPr>
        <p:spPr>
          <a:xfrm>
            <a:off x="5971032" y="1847088"/>
            <a:ext cx="561746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9" name="Accent"/>
          <p:cNvSpPr/>
          <p:nvPr/>
        </p:nvSpPr>
        <p:spPr>
          <a:xfrm>
            <a:off x="5971032" y="1847088"/>
            <a:ext cx="36576" cy="85953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Dot"/>
          <p:cNvSpPr/>
          <p:nvPr/>
        </p:nvSpPr>
        <p:spPr>
          <a:xfrm>
            <a:off x="6172200" y="2084832"/>
            <a:ext cx="384048" cy="384048"/>
          </a:xfrm>
          <a:prstGeom prst="ellipse">
            <a:avLst/>
          </a:prstGeom>
          <a:solidFill>
            <a:srgbClr val="F6E7EA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dirty="0">
                <a:solidFill>
                  <a:srgbClr val="9E1B32"/>
                </a:solidFill>
                <a:latin typeface="Calibri"/>
                <a:cs typeface="Calibri"/>
              </a:rPr>
              <a:t>◆</a:t>
            </a:r>
          </a:p>
        </p:txBody>
      </p:sp>
      <p:sp>
        <p:nvSpPr>
          <p:cNvPr id="31" name="R"/>
          <p:cNvSpPr/>
          <p:nvPr/>
        </p:nvSpPr>
        <p:spPr>
          <a:xfrm>
            <a:off x="6684264" y="1984248"/>
            <a:ext cx="47030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80" b="1" dirty="0">
                <a:solidFill>
                  <a:srgbClr val="5E0B15"/>
                </a:solidFill>
                <a:latin typeface="Georgia"/>
                <a:cs typeface="Georgia"/>
              </a:rPr>
              <a:t>Quality control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Premium brands cannot absorb defect and consistency risk from a long vendor tail.</a:t>
            </a:r>
          </a:p>
        </p:txBody>
      </p:sp>
      <p:sp>
        <p:nvSpPr>
          <p:cNvPr id="32" name="Card"/>
          <p:cNvSpPr/>
          <p:nvPr/>
        </p:nvSpPr>
        <p:spPr>
          <a:xfrm>
            <a:off x="5971032" y="2816352"/>
            <a:ext cx="561746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Accent"/>
          <p:cNvSpPr/>
          <p:nvPr/>
        </p:nvSpPr>
        <p:spPr>
          <a:xfrm>
            <a:off x="5971032" y="2816352"/>
            <a:ext cx="36576" cy="85953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Dot"/>
          <p:cNvSpPr/>
          <p:nvPr/>
        </p:nvSpPr>
        <p:spPr>
          <a:xfrm>
            <a:off x="6172200" y="3054096"/>
            <a:ext cx="384048" cy="384048"/>
          </a:xfrm>
          <a:prstGeom prst="ellipse">
            <a:avLst/>
          </a:prstGeom>
          <a:solidFill>
            <a:srgbClr val="F6E7EA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dirty="0">
                <a:solidFill>
                  <a:srgbClr val="9E1B32"/>
                </a:solidFill>
                <a:latin typeface="Calibri"/>
                <a:cs typeface="Calibri"/>
              </a:rPr>
              <a:t>◆</a:t>
            </a:r>
          </a:p>
        </p:txBody>
      </p:sp>
      <p:sp>
        <p:nvSpPr>
          <p:cNvPr id="35" name="R"/>
          <p:cNvSpPr/>
          <p:nvPr/>
        </p:nvSpPr>
        <p:spPr>
          <a:xfrm>
            <a:off x="6684264" y="2953512"/>
            <a:ext cx="47030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80" b="1" dirty="0">
                <a:solidFill>
                  <a:srgbClr val="5E0B15"/>
                </a:solidFill>
                <a:latin typeface="Georgia"/>
                <a:cs typeface="Georgia"/>
              </a:rPr>
              <a:t>Speed to market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In-house capacity shortens lead times and supports faster seasonal refresh.</a:t>
            </a:r>
          </a:p>
        </p:txBody>
      </p:sp>
      <p:sp>
        <p:nvSpPr>
          <p:cNvPr id="36" name="Card"/>
          <p:cNvSpPr/>
          <p:nvPr/>
        </p:nvSpPr>
        <p:spPr>
          <a:xfrm>
            <a:off x="5971032" y="3785616"/>
            <a:ext cx="561746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Accent"/>
          <p:cNvSpPr/>
          <p:nvPr/>
        </p:nvSpPr>
        <p:spPr>
          <a:xfrm>
            <a:off x="5971032" y="3785616"/>
            <a:ext cx="36576" cy="85953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Dot"/>
          <p:cNvSpPr/>
          <p:nvPr/>
        </p:nvSpPr>
        <p:spPr>
          <a:xfrm>
            <a:off x="6172200" y="4023360"/>
            <a:ext cx="384048" cy="384048"/>
          </a:xfrm>
          <a:prstGeom prst="ellipse">
            <a:avLst/>
          </a:prstGeom>
          <a:solidFill>
            <a:srgbClr val="F6E7EA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dirty="0">
                <a:solidFill>
                  <a:srgbClr val="9E1B32"/>
                </a:solidFill>
                <a:latin typeface="Calibri"/>
                <a:cs typeface="Calibri"/>
              </a:rPr>
              <a:t>◆</a:t>
            </a:r>
          </a:p>
        </p:txBody>
      </p:sp>
      <p:sp>
        <p:nvSpPr>
          <p:cNvPr id="39" name="R"/>
          <p:cNvSpPr/>
          <p:nvPr/>
        </p:nvSpPr>
        <p:spPr>
          <a:xfrm>
            <a:off x="6684264" y="3922776"/>
            <a:ext cx="47030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80" b="1" dirty="0">
                <a:solidFill>
                  <a:srgbClr val="5E0B15"/>
                </a:solidFill>
                <a:latin typeface="Georgia"/>
                <a:cs typeface="Georgia"/>
              </a:rPr>
              <a:t>Margin capture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Converting a vendor margin into an internal margin, if utilisation holds.</a:t>
            </a:r>
          </a:p>
        </p:txBody>
      </p:sp>
      <p:sp>
        <p:nvSpPr>
          <p:cNvPr id="40" name="Card"/>
          <p:cNvSpPr/>
          <p:nvPr/>
        </p:nvSpPr>
        <p:spPr>
          <a:xfrm>
            <a:off x="5971032" y="4754880"/>
            <a:ext cx="561746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1" name="Accent"/>
          <p:cNvSpPr/>
          <p:nvPr/>
        </p:nvSpPr>
        <p:spPr>
          <a:xfrm>
            <a:off x="5971032" y="4754880"/>
            <a:ext cx="36576" cy="85953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2" name="Dot"/>
          <p:cNvSpPr/>
          <p:nvPr/>
        </p:nvSpPr>
        <p:spPr>
          <a:xfrm>
            <a:off x="6172200" y="4992624"/>
            <a:ext cx="384048" cy="384048"/>
          </a:xfrm>
          <a:prstGeom prst="ellipse">
            <a:avLst/>
          </a:prstGeom>
          <a:solidFill>
            <a:srgbClr val="F6E7EA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dirty="0">
                <a:solidFill>
                  <a:srgbClr val="9E1B32"/>
                </a:solidFill>
                <a:latin typeface="Calibri"/>
                <a:cs typeface="Calibri"/>
              </a:rPr>
              <a:t>◆</a:t>
            </a:r>
          </a:p>
        </p:txBody>
      </p:sp>
      <p:sp>
        <p:nvSpPr>
          <p:cNvPr id="43" name="R"/>
          <p:cNvSpPr/>
          <p:nvPr/>
        </p:nvSpPr>
        <p:spPr>
          <a:xfrm>
            <a:off x="6684264" y="4892040"/>
            <a:ext cx="470306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80" b="1" dirty="0">
                <a:solidFill>
                  <a:srgbClr val="5E0B15"/>
                </a:solidFill>
                <a:latin typeface="Georgia"/>
                <a:cs typeface="Georgia"/>
              </a:rPr>
              <a:t>Vendor dependence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Reduces bargaining-power exposure to third-party job-workers.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THE PROPOSITION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The Investment Proposition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Every figure below is taken directly from the case; nothing is assumed at this stage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04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2499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Top"/>
          <p:cNvSpPr/>
          <p:nvPr/>
        </p:nvSpPr>
        <p:spPr>
          <a:xfrm>
            <a:off x="603504" y="1572768"/>
            <a:ext cx="2499360" cy="5029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Tile"/>
          <p:cNvSpPr/>
          <p:nvPr/>
        </p:nvSpPr>
        <p:spPr>
          <a:xfrm>
            <a:off x="603504" y="1737360"/>
            <a:ext cx="2499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60" b="1" spc="170" dirty="0">
                <a:solidFill>
                  <a:srgbClr val="7A7A85"/>
                </a:solidFill>
                <a:latin typeface="Calibri"/>
                <a:cs typeface="Calibri"/>
              </a:rPr>
              <a:t>INITIAL OUTLAY</a:t>
            </a:r>
          </a:p>
          <a:p>
            <a:pPr algn="ctr">
              <a:spcBef>
                <a:spcPts val="400"/>
              </a:spcBef>
              <a:buNone/>
            </a:pPr>
            <a:r>
              <a:rPr lang="en-IN" sz="3100" b="1" dirty="0">
                <a:solidFill>
                  <a:srgbClr val="5E0B15"/>
                </a:solidFill>
                <a:latin typeface="Georgia"/>
                <a:cs typeface="Georgia"/>
              </a:rPr>
              <a:t>₹1,200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crore, at Year 0</a:t>
            </a:r>
          </a:p>
        </p:txBody>
      </p:sp>
      <p:sp>
        <p:nvSpPr>
          <p:cNvPr id="24" name="Card"/>
          <p:cNvSpPr/>
          <p:nvPr/>
        </p:nvSpPr>
        <p:spPr>
          <a:xfrm>
            <a:off x="3432048" y="1572768"/>
            <a:ext cx="2499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5" name="Top"/>
          <p:cNvSpPr/>
          <p:nvPr/>
        </p:nvSpPr>
        <p:spPr>
          <a:xfrm>
            <a:off x="3432048" y="1572768"/>
            <a:ext cx="24993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Tile"/>
          <p:cNvSpPr/>
          <p:nvPr/>
        </p:nvSpPr>
        <p:spPr>
          <a:xfrm>
            <a:off x="3432048" y="1737360"/>
            <a:ext cx="2499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60" b="1" spc="170" dirty="0">
                <a:solidFill>
                  <a:srgbClr val="7A7A85"/>
                </a:solidFill>
                <a:latin typeface="Calibri"/>
                <a:cs typeface="Calibri"/>
              </a:rPr>
              <a:t>COST OF CAPITAL</a:t>
            </a:r>
          </a:p>
          <a:p>
            <a:pPr algn="ctr">
              <a:spcBef>
                <a:spcPts val="400"/>
              </a:spcBef>
              <a:buNone/>
            </a:pPr>
            <a:r>
              <a:rPr lang="en-IN" sz="3100" b="1" dirty="0">
                <a:solidFill>
                  <a:srgbClr val="5E0B15"/>
                </a:solidFill>
                <a:latin typeface="Georgia"/>
                <a:cs typeface="Georgia"/>
              </a:rPr>
              <a:t>11%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hurdle rate (WACC)</a:t>
            </a:r>
          </a:p>
        </p:txBody>
      </p:sp>
      <p:sp>
        <p:nvSpPr>
          <p:cNvPr id="27" name="Card"/>
          <p:cNvSpPr/>
          <p:nvPr/>
        </p:nvSpPr>
        <p:spPr>
          <a:xfrm>
            <a:off x="6260592" y="1572768"/>
            <a:ext cx="2499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Top"/>
          <p:cNvSpPr/>
          <p:nvPr/>
        </p:nvSpPr>
        <p:spPr>
          <a:xfrm>
            <a:off x="6260592" y="1572768"/>
            <a:ext cx="2499360" cy="5029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9" name="Tile"/>
          <p:cNvSpPr/>
          <p:nvPr/>
        </p:nvSpPr>
        <p:spPr>
          <a:xfrm>
            <a:off x="6260592" y="1737360"/>
            <a:ext cx="2499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60" b="1" spc="170" dirty="0">
                <a:solidFill>
                  <a:srgbClr val="7A7A85"/>
                </a:solidFill>
                <a:latin typeface="Calibri"/>
                <a:cs typeface="Calibri"/>
              </a:rPr>
              <a:t>PROJECT HORIZON</a:t>
            </a:r>
          </a:p>
          <a:p>
            <a:pPr algn="ctr">
              <a:spcBef>
                <a:spcPts val="400"/>
              </a:spcBef>
              <a:buNone/>
            </a:pPr>
            <a:r>
              <a:rPr lang="en-IN" sz="3100" b="1" dirty="0">
                <a:solidFill>
                  <a:srgbClr val="5E0B15"/>
                </a:solidFill>
                <a:latin typeface="Georgia"/>
                <a:cs typeface="Georgia"/>
              </a:rPr>
              <a:t>5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years of after-tax inflows</a:t>
            </a:r>
          </a:p>
        </p:txBody>
      </p:sp>
      <p:sp>
        <p:nvSpPr>
          <p:cNvPr id="30" name="Card"/>
          <p:cNvSpPr/>
          <p:nvPr/>
        </p:nvSpPr>
        <p:spPr>
          <a:xfrm>
            <a:off x="9089136" y="1572768"/>
            <a:ext cx="2499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Top"/>
          <p:cNvSpPr/>
          <p:nvPr/>
        </p:nvSpPr>
        <p:spPr>
          <a:xfrm>
            <a:off x="9089136" y="1572768"/>
            <a:ext cx="24993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2" name="Tile"/>
          <p:cNvSpPr/>
          <p:nvPr/>
        </p:nvSpPr>
        <p:spPr>
          <a:xfrm>
            <a:off x="9089136" y="1737360"/>
            <a:ext cx="2499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60" b="1" spc="170" dirty="0">
                <a:solidFill>
                  <a:srgbClr val="7A7A85"/>
                </a:solidFill>
                <a:latin typeface="Calibri"/>
                <a:cs typeface="Calibri"/>
              </a:rPr>
              <a:t>SALVAGE VALUE</a:t>
            </a:r>
          </a:p>
          <a:p>
            <a:pPr algn="ctr">
              <a:spcBef>
                <a:spcPts val="400"/>
              </a:spcBef>
              <a:buNone/>
            </a:pPr>
            <a:r>
              <a:rPr lang="en-IN" sz="3100" b="1" dirty="0">
                <a:solidFill>
                  <a:srgbClr val="5E0B15"/>
                </a:solidFill>
                <a:latin typeface="Georgia"/>
                <a:cs typeface="Georgia"/>
              </a:rPr>
              <a:t>₹150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crore, end of Year 5</a:t>
            </a:r>
          </a:p>
        </p:txBody>
      </p:sp>
      <p:sp>
        <p:nvSpPr>
          <p:cNvPr id="33" name="H"/>
          <p:cNvSpPr/>
          <p:nvPr/>
        </p:nvSpPr>
        <p:spPr>
          <a:xfrm>
            <a:off x="603504" y="29992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160" dirty="0">
                <a:solidFill>
                  <a:srgbClr val="9E1B32"/>
                </a:solidFill>
                <a:latin typeface="Calibri"/>
                <a:cs typeface="Calibri"/>
              </a:rPr>
              <a:t>PROJECTED AFTER-TAX CASH INFLOWS  (₹ crore)</a:t>
            </a:r>
          </a:p>
        </p:txBody>
      </p:sp>
      <p:graphicFrame>
        <p:nvGraphicFramePr>
          <p:cNvPr id="34" name="Table"/>
          <p:cNvGraphicFramePr>
            <a:graphicFrameLocks noGrp="1"/>
          </p:cNvGraphicFramePr>
          <p:nvPr/>
        </p:nvGraphicFramePr>
        <p:xfrm>
          <a:off x="603504" y="3255264"/>
          <a:ext cx="10984990" cy="1682496"/>
        </p:xfrm>
        <a:graphic>
          <a:graphicData uri="http://schemas.openxmlformats.org/drawingml/2006/table">
            <a:tbl>
              <a:tblPr/>
              <a:tblGrid>
                <a:gridCol w="2743200"/>
                <a:gridCol w="1648358"/>
                <a:gridCol w="1648358"/>
                <a:gridCol w="1648358"/>
                <a:gridCol w="1648358"/>
                <a:gridCol w="1648358"/>
              </a:tblGrid>
              <a:tr h="365760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40" b="1" spc="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 1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 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 3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 4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 5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</a:tr>
              <a:tr h="32918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6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Operating cash inflow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260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300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340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380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6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Salvage value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150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</a:tr>
              <a:tr h="32918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6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Total cash flow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220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260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300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340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530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</a:tr>
              <a:tr h="32918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6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Year-on-year growth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18.2%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15.4%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13.3%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11.8%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</a:tr>
            </a:tbl>
          </a:graphicData>
        </a:graphic>
      </p:graphicFrame>
      <p:sp>
        <p:nvSpPr>
          <p:cNvPr id="35" name="Card"/>
          <p:cNvSpPr/>
          <p:nvPr/>
        </p:nvSpPr>
        <p:spPr>
          <a:xfrm>
            <a:off x="603504" y="4974336"/>
            <a:ext cx="10984992" cy="932688"/>
          </a:xfrm>
          <a:prstGeom prst="roundRect">
            <a:avLst>
              <a:gd name="adj" fmla="val 4000"/>
            </a:avLst>
          </a:prstGeom>
          <a:solidFill>
            <a:srgbClr val="F6E7EA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6" name="Accent"/>
          <p:cNvSpPr/>
          <p:nvPr/>
        </p:nvSpPr>
        <p:spPr>
          <a:xfrm>
            <a:off x="603504" y="4974336"/>
            <a:ext cx="45720" cy="93268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Insight"/>
          <p:cNvSpPr/>
          <p:nvPr/>
        </p:nvSpPr>
        <p:spPr>
          <a:xfrm>
            <a:off x="877824" y="5102352"/>
            <a:ext cx="1043635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140" dirty="0">
                <a:solidFill>
                  <a:srgbClr val="9E1B32"/>
                </a:solidFill>
                <a:latin typeface="Calibri"/>
                <a:cs typeface="Calibri"/>
              </a:rPr>
              <a:t>FIRST OBSERVATION  —  </a:t>
            </a: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total nominal inflows are ₹1,650 crore against a ₹1,200 crore outlay, a 1.38× nominal return.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buNone/>
            </a:pP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That looks comfortable — but the inflows are back-ended and ₹150 crore of the total arrives only in Year 5. Once time value is applied at 11%, the picture changes materially. That is precisely what NPV is designed to reveal.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APPROACH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Methodology &amp; Assumptions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Stating assumptions explicitly makes the recommendation auditable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05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H1"/>
          <p:cNvSpPr/>
          <p:nvPr/>
        </p:nvSpPr>
        <p:spPr>
          <a:xfrm>
            <a:off x="603504" y="1527048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80" dirty="0">
                <a:solidFill>
                  <a:srgbClr val="9E1B32"/>
                </a:solidFill>
                <a:latin typeface="Calibri"/>
                <a:cs typeface="Calibri"/>
              </a:rPr>
              <a:t>TECHNIQUES APPLIED</a:t>
            </a:r>
          </a:p>
        </p:txBody>
      </p:sp>
      <p:sp>
        <p:nvSpPr>
          <p:cNvPr id="22" name="Card"/>
          <p:cNvSpPr/>
          <p:nvPr/>
        </p:nvSpPr>
        <p:spPr>
          <a:xfrm>
            <a:off x="603504" y="1828800"/>
            <a:ext cx="4041648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Accent"/>
          <p:cNvSpPr/>
          <p:nvPr/>
        </p:nvSpPr>
        <p:spPr>
          <a:xfrm>
            <a:off x="603504" y="1828800"/>
            <a:ext cx="45720" cy="93268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4" name="M"/>
          <p:cNvSpPr/>
          <p:nvPr/>
        </p:nvSpPr>
        <p:spPr>
          <a:xfrm>
            <a:off x="841248" y="1975104"/>
            <a:ext cx="35844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NPV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Primary rule. Absolute rupee value created, at the 11% hurdle.</a:t>
            </a:r>
          </a:p>
        </p:txBody>
      </p:sp>
      <p:sp>
        <p:nvSpPr>
          <p:cNvPr id="25" name="Card"/>
          <p:cNvSpPr/>
          <p:nvPr/>
        </p:nvSpPr>
        <p:spPr>
          <a:xfrm>
            <a:off x="603504" y="2852928"/>
            <a:ext cx="4041648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Accent"/>
          <p:cNvSpPr/>
          <p:nvPr/>
        </p:nvSpPr>
        <p:spPr>
          <a:xfrm>
            <a:off x="603504" y="2852928"/>
            <a:ext cx="45720" cy="9326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M"/>
          <p:cNvSpPr/>
          <p:nvPr/>
        </p:nvSpPr>
        <p:spPr>
          <a:xfrm>
            <a:off x="841248" y="2999232"/>
            <a:ext cx="35844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IRR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The project's own compound return; compared against 11%.</a:t>
            </a:r>
          </a:p>
        </p:txBody>
      </p:sp>
      <p:sp>
        <p:nvSpPr>
          <p:cNvPr id="28" name="Card"/>
          <p:cNvSpPr/>
          <p:nvPr/>
        </p:nvSpPr>
        <p:spPr>
          <a:xfrm>
            <a:off x="603504" y="3877056"/>
            <a:ext cx="4041648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9" name="Accent"/>
          <p:cNvSpPr/>
          <p:nvPr/>
        </p:nvSpPr>
        <p:spPr>
          <a:xfrm>
            <a:off x="603504" y="3877056"/>
            <a:ext cx="45720" cy="93268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M"/>
          <p:cNvSpPr/>
          <p:nvPr/>
        </p:nvSpPr>
        <p:spPr>
          <a:xfrm>
            <a:off x="841248" y="4023360"/>
            <a:ext cx="35844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Payback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Liquidity and capital-recovery speed, nominal basis.</a:t>
            </a:r>
          </a:p>
        </p:txBody>
      </p:sp>
      <p:sp>
        <p:nvSpPr>
          <p:cNvPr id="31" name="Card"/>
          <p:cNvSpPr/>
          <p:nvPr/>
        </p:nvSpPr>
        <p:spPr>
          <a:xfrm>
            <a:off x="603504" y="4901184"/>
            <a:ext cx="4041648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2" name="Accent"/>
          <p:cNvSpPr/>
          <p:nvPr/>
        </p:nvSpPr>
        <p:spPr>
          <a:xfrm>
            <a:off x="603504" y="4901184"/>
            <a:ext cx="45720" cy="9326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M"/>
          <p:cNvSpPr/>
          <p:nvPr/>
        </p:nvSpPr>
        <p:spPr>
          <a:xfrm>
            <a:off x="841248" y="5047488"/>
            <a:ext cx="35844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Supporting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Discounted payback, profitability index, scenario and breakeven analysis.</a:t>
            </a:r>
          </a:p>
        </p:txBody>
      </p:sp>
      <p:sp>
        <p:nvSpPr>
          <p:cNvPr id="34" name="H2"/>
          <p:cNvSpPr/>
          <p:nvPr/>
        </p:nvSpPr>
        <p:spPr>
          <a:xfrm>
            <a:off x="4956048" y="1527048"/>
            <a:ext cx="6632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80" dirty="0">
                <a:solidFill>
                  <a:srgbClr val="9E1B32"/>
                </a:solidFill>
                <a:latin typeface="Calibri"/>
                <a:cs typeface="Calibri"/>
              </a:rPr>
              <a:t>ASSUMPTIONS UNDERPINNING THE MODEL</a:t>
            </a:r>
          </a:p>
        </p:txBody>
      </p:sp>
      <p:sp>
        <p:nvSpPr>
          <p:cNvPr id="35" name="Card"/>
          <p:cNvSpPr/>
          <p:nvPr/>
        </p:nvSpPr>
        <p:spPr>
          <a:xfrm>
            <a:off x="4956048" y="1828800"/>
            <a:ext cx="6632448" cy="2304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6" name="Accent"/>
          <p:cNvSpPr/>
          <p:nvPr/>
        </p:nvSpPr>
        <p:spPr>
          <a:xfrm>
            <a:off x="4956048" y="1828800"/>
            <a:ext cx="41148" cy="2304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Assum"/>
          <p:cNvSpPr/>
          <p:nvPr/>
        </p:nvSpPr>
        <p:spPr>
          <a:xfrm>
            <a:off x="5212080" y="1975104"/>
            <a:ext cx="6120384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01168" indent="-201168" algn="l">
              <a:lnSpc>
                <a:spcPct val="118000"/>
              </a:lnSpc>
              <a:buClr>
                <a:srgbClr val="C9A227"/>
              </a:buClr>
              <a:buFont typeface="Arial" pitchFamily="34" charset="0"/>
              <a:buChar char="▪"/>
            </a:pPr>
            <a:r>
              <a:rPr lang="en-IN" sz="1030" dirty="0">
                <a:solidFill>
                  <a:srgbClr val="4A4A55"/>
                </a:solidFill>
                <a:latin typeface="Calibri"/>
                <a:cs typeface="Calibri"/>
              </a:rPr>
              <a:t>Cash inflows are stated after tax and are received at each year-end (year-end convention).</a:t>
            </a:r>
          </a:p>
          <a:p>
            <a:pPr marL="201168" indent="-201168" algn="l">
              <a:lnSpc>
                <a:spcPct val="118000"/>
              </a:lnSpc>
              <a:spcBef>
                <a:spcPts val="6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1030" dirty="0">
                <a:solidFill>
                  <a:srgbClr val="4A4A55"/>
                </a:solidFill>
                <a:latin typeface="Calibri"/>
                <a:cs typeface="Calibri"/>
              </a:rPr>
              <a:t>The ₹1,200 crore outlay is incurred in full at Year 0; no phasing is specified.</a:t>
            </a:r>
          </a:p>
          <a:p>
            <a:pPr marL="201168" indent="-201168" algn="l">
              <a:lnSpc>
                <a:spcPct val="118000"/>
              </a:lnSpc>
              <a:spcBef>
                <a:spcPts val="6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1030" dirty="0">
                <a:solidFill>
                  <a:srgbClr val="4A4A55"/>
                </a:solidFill>
                <a:latin typeface="Calibri"/>
                <a:cs typeface="Calibri"/>
              </a:rPr>
              <a:t>Cost of capital of 11% is constant across all five years and already reflects project risk.</a:t>
            </a:r>
          </a:p>
          <a:p>
            <a:pPr marL="201168" indent="-201168" algn="l">
              <a:lnSpc>
                <a:spcPct val="118000"/>
              </a:lnSpc>
              <a:spcBef>
                <a:spcPts val="6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1030" dirty="0">
                <a:solidFill>
                  <a:srgbClr val="4A4A55"/>
                </a:solidFill>
                <a:latin typeface="Calibri"/>
                <a:cs typeface="Calibri"/>
              </a:rPr>
              <a:t>Salvage of ₹150 crore is an after-tax terminal inflow realised at the end of Year 5.</a:t>
            </a:r>
          </a:p>
          <a:p>
            <a:pPr marL="201168" indent="-201168" algn="l">
              <a:lnSpc>
                <a:spcPct val="118000"/>
              </a:lnSpc>
              <a:spcBef>
                <a:spcPts val="6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1030" dirty="0">
                <a:solidFill>
                  <a:srgbClr val="4A4A55"/>
                </a:solidFill>
                <a:latin typeface="Calibri"/>
                <a:cs typeface="Calibri"/>
              </a:rPr>
              <a:t>No additional working-capital injection or release beyond the stated cash flows.</a:t>
            </a:r>
          </a:p>
          <a:p>
            <a:pPr marL="201168" indent="-201168" algn="l">
              <a:lnSpc>
                <a:spcPct val="118000"/>
              </a:lnSpc>
              <a:spcBef>
                <a:spcPts val="6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1030" dirty="0">
                <a:solidFill>
                  <a:srgbClr val="4A4A55"/>
                </a:solidFill>
                <a:latin typeface="Calibri"/>
                <a:cs typeface="Calibri"/>
              </a:rPr>
              <a:t>Five years is the appraisal window; depreciation is already embedded in the after-tax flows.</a:t>
            </a:r>
          </a:p>
        </p:txBody>
      </p:sp>
      <p:sp>
        <p:nvSpPr>
          <p:cNvPr id="38" name="H3"/>
          <p:cNvSpPr/>
          <p:nvPr/>
        </p:nvSpPr>
        <p:spPr>
          <a:xfrm>
            <a:off x="4956048" y="4279392"/>
            <a:ext cx="6632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80" dirty="0">
                <a:solidFill>
                  <a:srgbClr val="9E1B32"/>
                </a:solidFill>
                <a:latin typeface="Calibri"/>
                <a:cs typeface="Calibri"/>
              </a:rPr>
              <a:t>DECISION RULES</a:t>
            </a:r>
          </a:p>
        </p:txBody>
      </p:sp>
      <p:sp>
        <p:nvSpPr>
          <p:cNvPr id="39" name="Card"/>
          <p:cNvSpPr/>
          <p:nvPr/>
        </p:nvSpPr>
        <p:spPr>
          <a:xfrm>
            <a:off x="4956048" y="4553712"/>
            <a:ext cx="1493520" cy="859536"/>
          </a:xfrm>
          <a:prstGeom prst="roundRect">
            <a:avLst>
              <a:gd name="adj" fmla="val 4000"/>
            </a:avLst>
          </a:prstGeom>
          <a:solidFill>
            <a:srgbClr val="FAF1D8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Rule"/>
          <p:cNvSpPr/>
          <p:nvPr/>
        </p:nvSpPr>
        <p:spPr>
          <a:xfrm>
            <a:off x="4956048" y="4645152"/>
            <a:ext cx="149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60" b="1" dirty="0">
                <a:solidFill>
                  <a:srgbClr val="5E0B15"/>
                </a:solidFill>
                <a:latin typeface="Georgia"/>
                <a:cs typeface="Georgia"/>
              </a:rPr>
              <a:t>NPV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340" b="1" dirty="0">
                <a:solidFill>
                  <a:srgbClr val="9E1B32"/>
                </a:solidFill>
                <a:latin typeface="Georgia"/>
                <a:cs typeface="Georgia"/>
              </a:rPr>
              <a:t>&gt; 0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780" b="1" spc="140" dirty="0">
                <a:solidFill>
                  <a:srgbClr val="7A7A85"/>
                </a:solidFill>
                <a:latin typeface="Calibri"/>
                <a:cs typeface="Calibri"/>
              </a:rPr>
              <a:t>ACCEPT</a:t>
            </a:r>
          </a:p>
        </p:txBody>
      </p:sp>
      <p:sp>
        <p:nvSpPr>
          <p:cNvPr id="41" name="Card"/>
          <p:cNvSpPr/>
          <p:nvPr/>
        </p:nvSpPr>
        <p:spPr>
          <a:xfrm>
            <a:off x="6669024" y="4553712"/>
            <a:ext cx="1493520" cy="859536"/>
          </a:xfrm>
          <a:prstGeom prst="roundRect">
            <a:avLst>
              <a:gd name="adj" fmla="val 4000"/>
            </a:avLst>
          </a:prstGeom>
          <a:solidFill>
            <a:srgbClr val="FAF1D8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2" name="Rule"/>
          <p:cNvSpPr/>
          <p:nvPr/>
        </p:nvSpPr>
        <p:spPr>
          <a:xfrm>
            <a:off x="6669024" y="4645152"/>
            <a:ext cx="149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60" b="1" dirty="0">
                <a:solidFill>
                  <a:srgbClr val="5E0B15"/>
                </a:solidFill>
                <a:latin typeface="Georgia"/>
                <a:cs typeface="Georgia"/>
              </a:rPr>
              <a:t>IRR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340" b="1" dirty="0">
                <a:solidFill>
                  <a:srgbClr val="9E1B32"/>
                </a:solidFill>
                <a:latin typeface="Georgia"/>
                <a:cs typeface="Georgia"/>
              </a:rPr>
              <a:t>&gt; 11%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780" b="1" spc="140" dirty="0">
                <a:solidFill>
                  <a:srgbClr val="7A7A85"/>
                </a:solidFill>
                <a:latin typeface="Calibri"/>
                <a:cs typeface="Calibri"/>
              </a:rPr>
              <a:t>ACCEPT</a:t>
            </a:r>
          </a:p>
        </p:txBody>
      </p:sp>
      <p:sp>
        <p:nvSpPr>
          <p:cNvPr id="43" name="Card"/>
          <p:cNvSpPr/>
          <p:nvPr/>
        </p:nvSpPr>
        <p:spPr>
          <a:xfrm>
            <a:off x="8382000" y="4553712"/>
            <a:ext cx="1493520" cy="859536"/>
          </a:xfrm>
          <a:prstGeom prst="roundRect">
            <a:avLst>
              <a:gd name="adj" fmla="val 4000"/>
            </a:avLst>
          </a:prstGeom>
          <a:solidFill>
            <a:srgbClr val="FAF1D8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4" name="Rule"/>
          <p:cNvSpPr/>
          <p:nvPr/>
        </p:nvSpPr>
        <p:spPr>
          <a:xfrm>
            <a:off x="8382000" y="4645152"/>
            <a:ext cx="149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60" b="1" dirty="0">
                <a:solidFill>
                  <a:srgbClr val="5E0B15"/>
                </a:solidFill>
                <a:latin typeface="Georgia"/>
                <a:cs typeface="Georgia"/>
              </a:rPr>
              <a:t>Payback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340" b="1" dirty="0">
                <a:solidFill>
                  <a:srgbClr val="9E1B32"/>
                </a:solidFill>
                <a:latin typeface="Georgia"/>
                <a:cs typeface="Georgia"/>
              </a:rPr>
              <a:t>&lt; 4 yrs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780" b="1" spc="140" dirty="0">
                <a:solidFill>
                  <a:srgbClr val="7A7A85"/>
                </a:solidFill>
                <a:latin typeface="Calibri"/>
                <a:cs typeface="Calibri"/>
              </a:rPr>
              <a:t>PREFERRED</a:t>
            </a:r>
          </a:p>
        </p:txBody>
      </p:sp>
      <p:sp>
        <p:nvSpPr>
          <p:cNvPr id="45" name="Card"/>
          <p:cNvSpPr/>
          <p:nvPr/>
        </p:nvSpPr>
        <p:spPr>
          <a:xfrm>
            <a:off x="10094976" y="4553712"/>
            <a:ext cx="1493520" cy="859536"/>
          </a:xfrm>
          <a:prstGeom prst="roundRect">
            <a:avLst>
              <a:gd name="adj" fmla="val 4000"/>
            </a:avLst>
          </a:prstGeom>
          <a:solidFill>
            <a:srgbClr val="FAF1D8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6" name="Rule"/>
          <p:cNvSpPr/>
          <p:nvPr/>
        </p:nvSpPr>
        <p:spPr>
          <a:xfrm>
            <a:off x="10094976" y="4645152"/>
            <a:ext cx="149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60" b="1" dirty="0">
                <a:solidFill>
                  <a:srgbClr val="5E0B15"/>
                </a:solidFill>
                <a:latin typeface="Georgia"/>
                <a:cs typeface="Georgia"/>
              </a:rPr>
              <a:t>PI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340" b="1" dirty="0">
                <a:solidFill>
                  <a:srgbClr val="9E1B32"/>
                </a:solidFill>
                <a:latin typeface="Georgia"/>
                <a:cs typeface="Georgia"/>
              </a:rPr>
              <a:t>&gt; 1.00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780" b="1" spc="140" dirty="0">
                <a:solidFill>
                  <a:srgbClr val="7A7A85"/>
                </a:solidFill>
                <a:latin typeface="Calibri"/>
                <a:cs typeface="Calibri"/>
              </a:rPr>
              <a:t>ACCEPT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QUESTION 1 (A)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NPV Computation at 11%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Discount factor = 1 ÷ (1.11)ⁿ  —  full schedule with cumulative present value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06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graphicFrame>
        <p:nvGraphicFramePr>
          <p:cNvPr id="21" name="Table"/>
          <p:cNvGraphicFramePr>
            <a:graphicFrameLocks noGrp="1"/>
          </p:cNvGraphicFramePr>
          <p:nvPr/>
        </p:nvGraphicFramePr>
        <p:xfrm>
          <a:off x="603504" y="1572768"/>
          <a:ext cx="6675120" cy="2660904"/>
        </p:xfrm>
        <a:graphic>
          <a:graphicData uri="http://schemas.openxmlformats.org/drawingml/2006/table">
            <a:tbl>
              <a:tblPr/>
              <a:tblGrid>
                <a:gridCol w="566928"/>
                <a:gridCol w="1078992"/>
                <a:gridCol w="841248"/>
                <a:gridCol w="1042416"/>
                <a:gridCol w="932688"/>
                <a:gridCol w="1060704"/>
                <a:gridCol w="1152144"/>
              </a:tblGrid>
              <a:tr h="402336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Operating cash flow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Salvage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 cash flow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DF @ 11%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Present value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Cumulative NPV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</a:tr>
              <a:tr h="315468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(1,200.00)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(1,200.00)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1.0000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(1,200.00)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(1,200.00)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</a:tr>
              <a:tr h="315468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220.00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220.00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0.9009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198.20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(1,001.80)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260.00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260.00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0.8116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211.02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(790.78)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300.00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300.00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0.7312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219.36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(571.42)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340.00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340.00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0.6587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223.97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(347.45)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4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380.00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150.00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530.00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0.5935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314.53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(32.92)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</a:tr>
              <a:tr h="365760">
                <a:tc gridSpan="5"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4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 present value of inflows</a:t>
                      </a:r>
                    </a:p>
                  </a:txBody>
                  <a:tcPr marL="91440" marR="54864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32"/>
                    </a:solidFill>
                  </a:tcPr>
                </a:tc>
                <a:tc hMerge="1"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32"/>
                    </a:solidFill>
                  </a:tcPr>
                </a:tc>
                <a:tc hMerge="1"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32"/>
                    </a:solidFill>
                  </a:tcPr>
                </a:tc>
                <a:tc hMerge="1"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32"/>
                    </a:solidFill>
                  </a:tcPr>
                </a:tc>
                <a:tc hMerge="1"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1,167.08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lang="en-IN" sz="860" i="1" dirty="0">
                          <a:solidFill>
                            <a:srgbClr val="F0D9DE"/>
                          </a:solidFill>
                          <a:latin typeface="Calibri"/>
                          <a:cs typeface="Calibri"/>
                        </a:rPr>
                        <a:t>₹ crore</a:t>
                      </a:r>
                    </a:p>
                  </a:txBody>
                  <a:tcPr marL="54864" marR="9144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32"/>
                    </a:solidFill>
                  </a:tcPr>
                </a:tc>
              </a:tr>
            </a:tbl>
          </a:graphicData>
        </a:graphic>
      </p:graphicFrame>
      <p:sp>
        <p:nvSpPr>
          <p:cNvPr id="22" name="Card"/>
          <p:cNvSpPr/>
          <p:nvPr/>
        </p:nvSpPr>
        <p:spPr>
          <a:xfrm>
            <a:off x="603504" y="4425696"/>
            <a:ext cx="6675120" cy="15179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Accent"/>
          <p:cNvSpPr/>
          <p:nvPr/>
        </p:nvSpPr>
        <p:spPr>
          <a:xfrm>
            <a:off x="603504" y="4425696"/>
            <a:ext cx="41148" cy="15179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4" name="GapH"/>
          <p:cNvSpPr/>
          <p:nvPr/>
        </p:nvSpPr>
        <p:spPr>
          <a:xfrm>
            <a:off x="859536" y="4544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70" dirty="0">
                <a:solidFill>
                  <a:srgbClr val="7A7A85"/>
                </a:solidFill>
                <a:latin typeface="Calibri"/>
                <a:cs typeface="Calibri"/>
              </a:rPr>
              <a:t>THE GAP, DRAWN TO SCALE</a:t>
            </a:r>
          </a:p>
        </p:txBody>
      </p:sp>
      <p:sp>
        <p:nvSpPr>
          <p:cNvPr id="25" name="Formula"/>
          <p:cNvSpPr/>
          <p:nvPr/>
        </p:nvSpPr>
        <p:spPr>
          <a:xfrm>
            <a:off x="3621024" y="4544568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40" b="1" dirty="0">
                <a:solidFill>
                  <a:srgbClr val="9E1B32"/>
                </a:solidFill>
                <a:latin typeface="Calibri"/>
                <a:cs typeface="Calibri"/>
              </a:rPr>
              <a:t>NPV  =  Σ [ CF ÷ (1 + r)ⁿ ]  –  Initial Investment</a:t>
            </a:r>
          </a:p>
        </p:txBody>
      </p:sp>
      <p:sp>
        <p:nvSpPr>
          <p:cNvPr id="26" name="BL"/>
          <p:cNvSpPr/>
          <p:nvPr/>
        </p:nvSpPr>
        <p:spPr>
          <a:xfrm>
            <a:off x="859536" y="4846320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80" b="1" dirty="0">
                <a:solidFill>
                  <a:srgbClr val="22222A"/>
                </a:solidFill>
                <a:latin typeface="Calibri"/>
                <a:cs typeface="Calibri"/>
              </a:rPr>
              <a:t>PV of inflows</a:t>
            </a:r>
          </a:p>
        </p:txBody>
      </p:sp>
      <p:sp>
        <p:nvSpPr>
          <p:cNvPr id="27" name="Bar"/>
          <p:cNvSpPr/>
          <p:nvPr/>
        </p:nvSpPr>
        <p:spPr>
          <a:xfrm>
            <a:off x="2084832" y="4864608"/>
            <a:ext cx="3575046" cy="219456"/>
          </a:xfrm>
          <a:prstGeom prst="rect">
            <a:avLst/>
          </a:prstGeom>
          <a:gradFill flip="none" rotWithShape="1">
            <a:gsLst>
              <a:gs pos="0">
                <a:srgbClr val="C9A227"/>
              </a:gs>
              <a:gs pos="100000">
                <a:srgbClr val="E3C567"/>
              </a:gs>
            </a:gsLst>
            <a:lin ang="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BV"/>
          <p:cNvSpPr/>
          <p:nvPr/>
        </p:nvSpPr>
        <p:spPr>
          <a:xfrm>
            <a:off x="5870448" y="48463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80" b="1" dirty="0">
                <a:solidFill>
                  <a:srgbClr val="5E0B15"/>
                </a:solidFill>
                <a:latin typeface="Calibri"/>
                <a:cs typeface="Calibri"/>
              </a:rPr>
              <a:t>₹1,167.08 cr</a:t>
            </a:r>
          </a:p>
        </p:txBody>
      </p:sp>
      <p:sp>
        <p:nvSpPr>
          <p:cNvPr id="29" name="BL"/>
          <p:cNvSpPr/>
          <p:nvPr/>
        </p:nvSpPr>
        <p:spPr>
          <a:xfrm>
            <a:off x="859536" y="5212080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80" b="1" dirty="0">
                <a:solidFill>
                  <a:srgbClr val="22222A"/>
                </a:solidFill>
                <a:latin typeface="Calibri"/>
                <a:cs typeface="Calibri"/>
              </a:rPr>
              <a:t>Initial outlay</a:t>
            </a:r>
          </a:p>
        </p:txBody>
      </p:sp>
      <p:sp>
        <p:nvSpPr>
          <p:cNvPr id="30" name="Bar"/>
          <p:cNvSpPr/>
          <p:nvPr/>
        </p:nvSpPr>
        <p:spPr>
          <a:xfrm>
            <a:off x="2084832" y="5230368"/>
            <a:ext cx="3675887" cy="219456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BV"/>
          <p:cNvSpPr/>
          <p:nvPr/>
        </p:nvSpPr>
        <p:spPr>
          <a:xfrm>
            <a:off x="5870448" y="52120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80" b="1" dirty="0">
                <a:solidFill>
                  <a:srgbClr val="5E0B15"/>
                </a:solidFill>
                <a:latin typeface="Calibri"/>
                <a:cs typeface="Calibri"/>
              </a:rPr>
              <a:t>₹1,200.00 cr</a:t>
            </a:r>
          </a:p>
        </p:txBody>
      </p:sp>
      <p:sp>
        <p:nvSpPr>
          <p:cNvPr id="32" name="Marker"/>
          <p:cNvSpPr/>
          <p:nvPr/>
        </p:nvSpPr>
        <p:spPr>
          <a:xfrm>
            <a:off x="5659878" y="4828032"/>
            <a:ext cx="12802" cy="65836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GapNote"/>
          <p:cNvSpPr/>
          <p:nvPr/>
        </p:nvSpPr>
        <p:spPr>
          <a:xfrm>
            <a:off x="859536" y="5596128"/>
            <a:ext cx="6163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80" i="1" dirty="0">
                <a:solidFill>
                  <a:srgbClr val="4A4A55"/>
                </a:solidFill>
                <a:latin typeface="Calibri"/>
                <a:cs typeface="Calibri"/>
              </a:rPr>
              <a:t>The two bars are almost the same length — and that is the whole story: the project misses the hurdle by 2.7%, narrowly rather than badly.</a:t>
            </a:r>
          </a:p>
        </p:txBody>
      </p:sp>
      <p:sp>
        <p:nvSpPr>
          <p:cNvPr id="34" name="Card"/>
          <p:cNvSpPr/>
          <p:nvPr/>
        </p:nvSpPr>
        <p:spPr>
          <a:xfrm>
            <a:off x="7589520" y="1572768"/>
            <a:ext cx="3998976" cy="1481328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5" name="NPV Result"/>
          <p:cNvSpPr/>
          <p:nvPr/>
        </p:nvSpPr>
        <p:spPr>
          <a:xfrm>
            <a:off x="7827264" y="1737360"/>
            <a:ext cx="3523488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200" dirty="0">
                <a:solidFill>
                  <a:srgbClr val="E3C567"/>
                </a:solidFill>
                <a:latin typeface="Calibri"/>
                <a:cs typeface="Calibri"/>
              </a:rPr>
              <a:t>NET PRESENT VALUE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3300" b="1" spc="-20" dirty="0">
                <a:solidFill>
                  <a:srgbClr val="FFFFFF"/>
                </a:solidFill>
                <a:latin typeface="Georgia"/>
                <a:cs typeface="Georgia"/>
              </a:rPr>
              <a:t>– ₹ 32.92</a:t>
            </a:r>
          </a:p>
          <a:p>
            <a:pPr algn="l">
              <a:buNone/>
            </a:pPr>
            <a:r>
              <a:rPr lang="en-IN" sz="1100" dirty="0">
                <a:solidFill>
                  <a:srgbClr val="E0CBBE"/>
                </a:solidFill>
                <a:latin typeface="Calibri"/>
                <a:cs typeface="Calibri"/>
              </a:rPr>
              <a:t>crore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000" b="1" dirty="0">
                <a:solidFill>
                  <a:srgbClr val="E3C567"/>
                </a:solidFill>
                <a:latin typeface="Calibri"/>
                <a:cs typeface="Calibri"/>
              </a:rPr>
              <a:t>₹1,167.08 cr  –  ₹1,200.00 cr</a:t>
            </a:r>
          </a:p>
        </p:txBody>
      </p:sp>
      <p:sp>
        <p:nvSpPr>
          <p:cNvPr id="36" name="Card"/>
          <p:cNvSpPr/>
          <p:nvPr/>
        </p:nvSpPr>
        <p:spPr>
          <a:xfrm>
            <a:off x="7589520" y="3218688"/>
            <a:ext cx="3998976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Accent"/>
          <p:cNvSpPr/>
          <p:nvPr/>
        </p:nvSpPr>
        <p:spPr>
          <a:xfrm>
            <a:off x="7589520" y="3218688"/>
            <a:ext cx="45720" cy="1188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PI"/>
          <p:cNvSpPr/>
          <p:nvPr/>
        </p:nvSpPr>
        <p:spPr>
          <a:xfrm>
            <a:off x="7827264" y="3364992"/>
            <a:ext cx="35234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70" dirty="0">
                <a:solidFill>
                  <a:srgbClr val="7A7A85"/>
                </a:solidFill>
                <a:latin typeface="Calibri"/>
                <a:cs typeface="Calibri"/>
              </a:rPr>
              <a:t>PROFITABILITY INDEX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2400" b="1" dirty="0">
                <a:solidFill>
                  <a:srgbClr val="5E0B15"/>
                </a:solidFill>
                <a:latin typeface="Georgia"/>
                <a:cs typeface="Georgia"/>
              </a:rPr>
              <a:t>0.973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940" dirty="0">
                <a:solidFill>
                  <a:srgbClr val="7A7A85"/>
                </a:solidFill>
                <a:latin typeface="Calibri"/>
                <a:cs typeface="Calibri"/>
              </a:rPr>
              <a:t>1,167.08 ÷ 1,200.00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buNone/>
            </a:pPr>
            <a:r>
              <a:rPr lang="en-IN" sz="960" b="1" dirty="0">
                <a:solidFill>
                  <a:srgbClr val="4A4A55"/>
                </a:solidFill>
                <a:latin typeface="Calibri"/>
                <a:cs typeface="Calibri"/>
              </a:rPr>
              <a:t>Every ₹1 invested returns ₹0.97 in present-value terms.</a:t>
            </a:r>
          </a:p>
        </p:txBody>
      </p:sp>
      <p:sp>
        <p:nvSpPr>
          <p:cNvPr id="39" name="Card"/>
          <p:cNvSpPr/>
          <p:nvPr/>
        </p:nvSpPr>
        <p:spPr>
          <a:xfrm>
            <a:off x="7589520" y="4572000"/>
            <a:ext cx="3998976" cy="1316736"/>
          </a:xfrm>
          <a:prstGeom prst="roundRect">
            <a:avLst>
              <a:gd name="adj" fmla="val 4000"/>
            </a:avLst>
          </a:prstGeom>
          <a:solidFill>
            <a:srgbClr val="F6E7EA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Accent"/>
          <p:cNvSpPr/>
          <p:nvPr/>
        </p:nvSpPr>
        <p:spPr>
          <a:xfrm>
            <a:off x="7589520" y="4572000"/>
            <a:ext cx="45720" cy="1316736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1" name="Read"/>
          <p:cNvSpPr/>
          <p:nvPr/>
        </p:nvSpPr>
        <p:spPr>
          <a:xfrm>
            <a:off x="7827264" y="4700016"/>
            <a:ext cx="3523488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70" dirty="0">
                <a:solidFill>
                  <a:srgbClr val="9E1B32"/>
                </a:solidFill>
                <a:latin typeface="Calibri"/>
                <a:cs typeface="Calibri"/>
              </a:rPr>
              <a:t>READING THE SCHEDULE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The cumulative column never turns positive. Even after five years and the salvage receipt, the project is ₹32.92 crore short of recovering its capital in present-value terms.</a:t>
            </a:r>
          </a:p>
          <a:p>
            <a:pPr algn="l">
              <a:spcBef>
                <a:spcPts val="700"/>
              </a:spcBef>
              <a:buNone/>
            </a:pPr>
            <a:r>
              <a:rPr lang="en-IN" sz="1140" b="1" dirty="0">
                <a:solidFill>
                  <a:srgbClr val="9E1B32"/>
                </a:solidFill>
                <a:latin typeface="Calibri"/>
                <a:cs typeface="Calibri"/>
              </a:rPr>
              <a:t>Verdict: NPV &lt; 0  →  REJECT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QUESTION 1 (B)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Internal Rate of Return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The discount rate at which NPV = 0, found by interpolation between 10% and 11%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07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3931920" cy="1426464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IRR"/>
          <p:cNvSpPr/>
          <p:nvPr/>
        </p:nvSpPr>
        <p:spPr>
          <a:xfrm>
            <a:off x="859536" y="1719072"/>
            <a:ext cx="341985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90" dirty="0">
                <a:solidFill>
                  <a:srgbClr val="E3C567"/>
                </a:solidFill>
                <a:latin typeface="Calibri"/>
                <a:cs typeface="Calibri"/>
              </a:rPr>
              <a:t>INTERNAL RATE OF RETURN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3400" b="1" spc="-20" dirty="0">
                <a:solidFill>
                  <a:srgbClr val="FFFFFF"/>
                </a:solidFill>
                <a:latin typeface="Georgia"/>
                <a:cs typeface="Georgia"/>
              </a:rPr>
              <a:t>10.04%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060" dirty="0">
                <a:solidFill>
                  <a:srgbClr val="E0CBBE"/>
                </a:solidFill>
                <a:latin typeface="Calibri"/>
                <a:cs typeface="Calibri"/>
              </a:rPr>
              <a:t>versus an 11.00% cost of capital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040" b="1" dirty="0">
                <a:solidFill>
                  <a:srgbClr val="E3C567"/>
                </a:solidFill>
                <a:latin typeface="Calibri"/>
                <a:cs typeface="Calibri"/>
              </a:rPr>
              <a:t>Shortfall:  96 basis points</a:t>
            </a:r>
          </a:p>
        </p:txBody>
      </p:sp>
      <p:sp>
        <p:nvSpPr>
          <p:cNvPr id="23" name="Card"/>
          <p:cNvSpPr/>
          <p:nvPr/>
        </p:nvSpPr>
        <p:spPr>
          <a:xfrm>
            <a:off x="603504" y="3163824"/>
            <a:ext cx="3931920" cy="15179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4" name="Accent"/>
          <p:cNvSpPr/>
          <p:nvPr/>
        </p:nvSpPr>
        <p:spPr>
          <a:xfrm>
            <a:off x="603504" y="3163824"/>
            <a:ext cx="45720" cy="15179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5" name="Working"/>
          <p:cNvSpPr/>
          <p:nvPr/>
        </p:nvSpPr>
        <p:spPr>
          <a:xfrm>
            <a:off x="859536" y="3291840"/>
            <a:ext cx="3419856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70" dirty="0">
                <a:solidFill>
                  <a:srgbClr val="7A7A85"/>
                </a:solidFill>
                <a:latin typeface="Calibri"/>
                <a:cs typeface="Calibri"/>
              </a:rPr>
              <a:t>INTERPOLATION WORKING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040" b="1" dirty="0">
                <a:solidFill>
                  <a:srgbClr val="22222A"/>
                </a:solidFill>
                <a:latin typeface="Calibri"/>
                <a:cs typeface="Calibri"/>
              </a:rPr>
              <a:t>NPV at 10%  =  + ₹1.58 cr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40" b="1" dirty="0">
                <a:solidFill>
                  <a:srgbClr val="22222A"/>
                </a:solidFill>
                <a:latin typeface="Calibri"/>
                <a:cs typeface="Calibri"/>
              </a:rPr>
              <a:t>NPV at 11%  =  – ₹32.92 cr</a:t>
            </a:r>
          </a:p>
          <a:p>
            <a:pPr algn="l">
              <a:lnSpc>
                <a:spcPct val="116000"/>
              </a:lnSpc>
              <a:spcBef>
                <a:spcPts val="600"/>
              </a:spcBef>
              <a:buNone/>
            </a:pPr>
            <a:r>
              <a:rPr lang="en-IN" sz="1000" dirty="0">
                <a:solidFill>
                  <a:srgbClr val="4A4A55"/>
                </a:solidFill>
                <a:latin typeface="Calibri"/>
                <a:cs typeface="Calibri"/>
              </a:rPr>
              <a:t>IRR  =  10% + [ 1.58 ÷ (1.58 + 32.92) ] × 1%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100" b="1" dirty="0">
                <a:solidFill>
                  <a:srgbClr val="9E1B32"/>
                </a:solidFill>
                <a:latin typeface="Calibri"/>
                <a:cs typeface="Calibri"/>
              </a:rPr>
              <a:t>IRR  ≈  10.05%   (exact 10.04%)</a:t>
            </a:r>
          </a:p>
        </p:txBody>
      </p:sp>
      <p:sp>
        <p:nvSpPr>
          <p:cNvPr id="26" name="Card"/>
          <p:cNvSpPr/>
          <p:nvPr/>
        </p:nvSpPr>
        <p:spPr>
          <a:xfrm>
            <a:off x="603504" y="4846320"/>
            <a:ext cx="3931920" cy="1042416"/>
          </a:xfrm>
          <a:prstGeom prst="roundRect">
            <a:avLst>
              <a:gd name="adj" fmla="val 4000"/>
            </a:avLst>
          </a:prstGeom>
          <a:solidFill>
            <a:srgbClr val="F6E7EA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Accent"/>
          <p:cNvSpPr/>
          <p:nvPr/>
        </p:nvSpPr>
        <p:spPr>
          <a:xfrm>
            <a:off x="603504" y="4846320"/>
            <a:ext cx="45720" cy="1042416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Warn"/>
          <p:cNvSpPr/>
          <p:nvPr/>
        </p:nvSpPr>
        <p:spPr>
          <a:xfrm>
            <a:off x="859536" y="4956048"/>
            <a:ext cx="3419856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70" dirty="0">
                <a:solidFill>
                  <a:srgbClr val="9E1B32"/>
                </a:solidFill>
                <a:latin typeface="Calibri"/>
                <a:cs typeface="Calibri"/>
              </a:rPr>
              <a:t>QUALITY-OF-RETURN WARNING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Strip out the salvage value and IRR collapses to 7.22%. Nearly 280 bps of the project's return rests on a single terminal-value estimate.</a:t>
            </a:r>
          </a:p>
        </p:txBody>
      </p:sp>
      <p:sp>
        <p:nvSpPr>
          <p:cNvPr id="29" name="H"/>
          <p:cNvSpPr/>
          <p:nvPr/>
        </p:nvSpPr>
        <p:spPr>
          <a:xfrm>
            <a:off x="4901184" y="1517904"/>
            <a:ext cx="6687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40" dirty="0">
                <a:solidFill>
                  <a:srgbClr val="9E1B32"/>
                </a:solidFill>
                <a:latin typeface="Calibri"/>
                <a:cs typeface="Calibri"/>
              </a:rPr>
              <a:t>NPV PROFILE  —  SENSITIVITY TO THE DISCOUNT RATE  (₹ crore)</a:t>
            </a:r>
          </a:p>
        </p:txBody>
      </p:sp>
      <p:sp>
        <p:nvSpPr>
          <p:cNvPr id="30" name="Axis"/>
          <p:cNvSpPr/>
          <p:nvPr/>
        </p:nvSpPr>
        <p:spPr>
          <a:xfrm>
            <a:off x="7168896" y="1810512"/>
            <a:ext cx="11887" cy="3035808"/>
          </a:xfrm>
          <a:prstGeom prst="rect">
            <a:avLst/>
          </a:prstGeom>
          <a:solidFill>
            <a:srgbClr val="7A7A85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Zero"/>
          <p:cNvSpPr/>
          <p:nvPr/>
        </p:nvSpPr>
        <p:spPr>
          <a:xfrm>
            <a:off x="6894576" y="484632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780" b="1" dirty="0">
                <a:solidFill>
                  <a:srgbClr val="7A7A85"/>
                </a:solidFill>
                <a:latin typeface="Calibri"/>
                <a:cs typeface="Calibri"/>
              </a:rPr>
              <a:t>NPV = 0</a:t>
            </a:r>
          </a:p>
        </p:txBody>
      </p:sp>
      <p:sp>
        <p:nvSpPr>
          <p:cNvPr id="32" name="Lab"/>
          <p:cNvSpPr/>
          <p:nvPr/>
        </p:nvSpPr>
        <p:spPr>
          <a:xfrm>
            <a:off x="4956048" y="1947672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22222A"/>
                </a:solidFill>
                <a:latin typeface="Georgia"/>
                <a:cs typeface="Georgia"/>
              </a:rPr>
              <a:t>8%</a:t>
            </a:r>
          </a:p>
        </p:txBody>
      </p:sp>
      <p:sp>
        <p:nvSpPr>
          <p:cNvPr id="33" name="Bar+"/>
          <p:cNvSpPr/>
          <p:nvPr/>
        </p:nvSpPr>
        <p:spPr>
          <a:xfrm>
            <a:off x="7168896" y="1975104"/>
            <a:ext cx="1157981" cy="237744"/>
          </a:xfrm>
          <a:prstGeom prst="rect">
            <a:avLst/>
          </a:prstGeom>
          <a:gradFill flip="none" rotWithShape="1">
            <a:gsLst>
              <a:gs pos="0">
                <a:srgbClr val="1E7A4D"/>
              </a:gs>
              <a:gs pos="100000">
                <a:srgbClr val="2FA46B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V"/>
          <p:cNvSpPr/>
          <p:nvPr/>
        </p:nvSpPr>
        <p:spPr>
          <a:xfrm>
            <a:off x="10527792" y="1947672"/>
            <a:ext cx="9692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80" b="1" dirty="0">
                <a:solidFill>
                  <a:srgbClr val="1E7A4D"/>
                </a:solidFill>
                <a:latin typeface="Calibri"/>
                <a:cs typeface="Calibri"/>
              </a:rPr>
              <a:t>+75.38</a:t>
            </a:r>
          </a:p>
        </p:txBody>
      </p:sp>
      <p:sp>
        <p:nvSpPr>
          <p:cNvPr id="35" name="Lab"/>
          <p:cNvSpPr/>
          <p:nvPr/>
        </p:nvSpPr>
        <p:spPr>
          <a:xfrm>
            <a:off x="4956048" y="243230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22222A"/>
                </a:solidFill>
                <a:latin typeface="Georgia"/>
                <a:cs typeface="Georgia"/>
              </a:rPr>
              <a:t>9%</a:t>
            </a:r>
          </a:p>
        </p:txBody>
      </p:sp>
      <p:sp>
        <p:nvSpPr>
          <p:cNvPr id="36" name="Bar+"/>
          <p:cNvSpPr/>
          <p:nvPr/>
        </p:nvSpPr>
        <p:spPr>
          <a:xfrm>
            <a:off x="7168896" y="2459736"/>
            <a:ext cx="578376" cy="237744"/>
          </a:xfrm>
          <a:prstGeom prst="rect">
            <a:avLst/>
          </a:prstGeom>
          <a:gradFill flip="none" rotWithShape="1">
            <a:gsLst>
              <a:gs pos="0">
                <a:srgbClr val="1E7A4D"/>
              </a:gs>
              <a:gs pos="100000">
                <a:srgbClr val="2FA46B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V"/>
          <p:cNvSpPr/>
          <p:nvPr/>
        </p:nvSpPr>
        <p:spPr>
          <a:xfrm>
            <a:off x="10527792" y="2432304"/>
            <a:ext cx="9692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80" b="1" dirty="0">
                <a:solidFill>
                  <a:srgbClr val="1E7A4D"/>
                </a:solidFill>
                <a:latin typeface="Calibri"/>
                <a:cs typeface="Calibri"/>
              </a:rPr>
              <a:t>+37.65</a:t>
            </a:r>
          </a:p>
        </p:txBody>
      </p:sp>
      <p:sp>
        <p:nvSpPr>
          <p:cNvPr id="38" name="Lab"/>
          <p:cNvSpPr/>
          <p:nvPr/>
        </p:nvSpPr>
        <p:spPr>
          <a:xfrm>
            <a:off x="4956048" y="2916936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22222A"/>
                </a:solidFill>
                <a:latin typeface="Georgia"/>
                <a:cs typeface="Georgia"/>
              </a:rPr>
              <a:t>10%</a:t>
            </a:r>
          </a:p>
        </p:txBody>
      </p:sp>
      <p:sp>
        <p:nvSpPr>
          <p:cNvPr id="39" name="Bar+"/>
          <p:cNvSpPr/>
          <p:nvPr/>
        </p:nvSpPr>
        <p:spPr>
          <a:xfrm>
            <a:off x="7168896" y="2944368"/>
            <a:ext cx="24271" cy="237744"/>
          </a:xfrm>
          <a:prstGeom prst="rect">
            <a:avLst/>
          </a:prstGeom>
          <a:gradFill flip="none" rotWithShape="1">
            <a:gsLst>
              <a:gs pos="0">
                <a:srgbClr val="1E7A4D"/>
              </a:gs>
              <a:gs pos="100000">
                <a:srgbClr val="2FA46B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V"/>
          <p:cNvSpPr/>
          <p:nvPr/>
        </p:nvSpPr>
        <p:spPr>
          <a:xfrm>
            <a:off x="10527792" y="2916936"/>
            <a:ext cx="9692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80" b="1" dirty="0">
                <a:solidFill>
                  <a:srgbClr val="1E7A4D"/>
                </a:solidFill>
                <a:latin typeface="Calibri"/>
                <a:cs typeface="Calibri"/>
              </a:rPr>
              <a:t>+1.58</a:t>
            </a:r>
          </a:p>
        </p:txBody>
      </p:sp>
      <p:sp>
        <p:nvSpPr>
          <p:cNvPr id="41" name="HL"/>
          <p:cNvSpPr/>
          <p:nvPr/>
        </p:nvSpPr>
        <p:spPr>
          <a:xfrm>
            <a:off x="4901184" y="3300984"/>
            <a:ext cx="6687312" cy="429768"/>
          </a:xfrm>
          <a:prstGeom prst="rect">
            <a:avLst/>
          </a:prstGeom>
          <a:solidFill>
            <a:srgbClr val="FAF1D8"/>
          </a:solidFill>
          <a:ln w="762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2" name="Lab"/>
          <p:cNvSpPr/>
          <p:nvPr/>
        </p:nvSpPr>
        <p:spPr>
          <a:xfrm>
            <a:off x="4956048" y="34015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5E0B15"/>
                </a:solidFill>
                <a:latin typeface="Georgia"/>
                <a:cs typeface="Georgia"/>
              </a:rPr>
              <a:t>11%</a:t>
            </a:r>
          </a:p>
        </p:txBody>
      </p:sp>
      <p:sp>
        <p:nvSpPr>
          <p:cNvPr id="43" name="Bar-"/>
          <p:cNvSpPr/>
          <p:nvPr/>
        </p:nvSpPr>
        <p:spPr>
          <a:xfrm>
            <a:off x="6663182" y="3429000"/>
            <a:ext cx="505714" cy="237744"/>
          </a:xfrm>
          <a:prstGeom prst="rect">
            <a:avLst/>
          </a:prstGeom>
          <a:gradFill flip="none" rotWithShape="1">
            <a:gsLst>
              <a:gs pos="0">
                <a:srgbClr val="9E1B32"/>
              </a:gs>
              <a:gs pos="100000">
                <a:srgbClr val="5E0B15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4" name="V"/>
          <p:cNvSpPr/>
          <p:nvPr/>
        </p:nvSpPr>
        <p:spPr>
          <a:xfrm>
            <a:off x="10527792" y="3401568"/>
            <a:ext cx="9692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80" b="1" dirty="0">
                <a:solidFill>
                  <a:srgbClr val="9E1B32"/>
                </a:solidFill>
                <a:latin typeface="Calibri"/>
                <a:cs typeface="Calibri"/>
              </a:rPr>
              <a:t>–32.92</a:t>
            </a:r>
          </a:p>
        </p:txBody>
      </p:sp>
      <p:sp>
        <p:nvSpPr>
          <p:cNvPr id="45" name="Lab"/>
          <p:cNvSpPr/>
          <p:nvPr/>
        </p:nvSpPr>
        <p:spPr>
          <a:xfrm>
            <a:off x="4956048" y="388620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22222A"/>
                </a:solidFill>
                <a:latin typeface="Georgia"/>
                <a:cs typeface="Georgia"/>
              </a:rPr>
              <a:t>12%</a:t>
            </a:r>
          </a:p>
        </p:txBody>
      </p:sp>
      <p:sp>
        <p:nvSpPr>
          <p:cNvPr id="46" name="Bar-"/>
          <p:cNvSpPr/>
          <p:nvPr/>
        </p:nvSpPr>
        <p:spPr>
          <a:xfrm>
            <a:off x="6155778" y="3913632"/>
            <a:ext cx="1013118" cy="237744"/>
          </a:xfrm>
          <a:prstGeom prst="rect">
            <a:avLst/>
          </a:prstGeom>
          <a:gradFill flip="none" rotWithShape="1">
            <a:gsLst>
              <a:gs pos="0">
                <a:srgbClr val="9E1B32"/>
              </a:gs>
              <a:gs pos="100000">
                <a:srgbClr val="5E0B15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7" name="V"/>
          <p:cNvSpPr/>
          <p:nvPr/>
        </p:nvSpPr>
        <p:spPr>
          <a:xfrm>
            <a:off x="10527792" y="3886200"/>
            <a:ext cx="9692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80" b="1" dirty="0">
                <a:solidFill>
                  <a:srgbClr val="9E1B32"/>
                </a:solidFill>
                <a:latin typeface="Calibri"/>
                <a:cs typeface="Calibri"/>
              </a:rPr>
              <a:t>–65.95</a:t>
            </a:r>
          </a:p>
        </p:txBody>
      </p:sp>
      <p:sp>
        <p:nvSpPr>
          <p:cNvPr id="48" name="Lab"/>
          <p:cNvSpPr/>
          <p:nvPr/>
        </p:nvSpPr>
        <p:spPr>
          <a:xfrm>
            <a:off x="4956048" y="4370832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22222A"/>
                </a:solidFill>
                <a:latin typeface="Georgia"/>
                <a:cs typeface="Georgia"/>
              </a:rPr>
              <a:t>13%</a:t>
            </a:r>
          </a:p>
        </p:txBody>
      </p:sp>
      <p:sp>
        <p:nvSpPr>
          <p:cNvPr id="49" name="Bar-"/>
          <p:cNvSpPr/>
          <p:nvPr/>
        </p:nvSpPr>
        <p:spPr>
          <a:xfrm>
            <a:off x="5669727" y="4398264"/>
            <a:ext cx="1499169" cy="237744"/>
          </a:xfrm>
          <a:prstGeom prst="rect">
            <a:avLst/>
          </a:prstGeom>
          <a:gradFill flip="none" rotWithShape="1">
            <a:gsLst>
              <a:gs pos="0">
                <a:srgbClr val="9E1B32"/>
              </a:gs>
              <a:gs pos="100000">
                <a:srgbClr val="5E0B15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0" name="V"/>
          <p:cNvSpPr/>
          <p:nvPr/>
        </p:nvSpPr>
        <p:spPr>
          <a:xfrm>
            <a:off x="10527792" y="4370832"/>
            <a:ext cx="9692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80" b="1" dirty="0">
                <a:solidFill>
                  <a:srgbClr val="9E1B32"/>
                </a:solidFill>
                <a:latin typeface="Calibri"/>
                <a:cs typeface="Calibri"/>
              </a:rPr>
              <a:t>–97.59</a:t>
            </a:r>
          </a:p>
        </p:txBody>
      </p:sp>
      <p:sp>
        <p:nvSpPr>
          <p:cNvPr id="51" name="Card"/>
          <p:cNvSpPr/>
          <p:nvPr/>
        </p:nvSpPr>
        <p:spPr>
          <a:xfrm>
            <a:off x="4901184" y="5102352"/>
            <a:ext cx="6687312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2" name="Accent"/>
          <p:cNvSpPr/>
          <p:nvPr/>
        </p:nvSpPr>
        <p:spPr>
          <a:xfrm>
            <a:off x="4901184" y="5102352"/>
            <a:ext cx="45720" cy="822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3" name="Note"/>
          <p:cNvSpPr/>
          <p:nvPr/>
        </p:nvSpPr>
        <p:spPr>
          <a:xfrm>
            <a:off x="5138928" y="5202936"/>
            <a:ext cx="62118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IN" sz="1060" b="1" dirty="0">
                <a:solidFill>
                  <a:srgbClr val="5E0B15"/>
                </a:solidFill>
                <a:latin typeface="Calibri"/>
                <a:cs typeface="Calibri"/>
              </a:rPr>
              <a:t>The profile crosses zero at 10.04%. </a:t>
            </a: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Because the hurdle rate of 11% sits to the right of that crossover, NPV is negative and IRR fails — the two rules agree, as they must for a conventional single-sign-change cash-flow pattern.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QUESTION 1 (C)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Payback &amp; Discounted Payback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The same project judged on nominal recovery and then on time-value recovery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08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H1"/>
          <p:cNvSpPr/>
          <p:nvPr/>
        </p:nvSpPr>
        <p:spPr>
          <a:xfrm>
            <a:off x="603504" y="1517904"/>
            <a:ext cx="53096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70" dirty="0">
                <a:solidFill>
                  <a:srgbClr val="9E1B32"/>
                </a:solidFill>
                <a:latin typeface="Calibri"/>
                <a:cs typeface="Calibri"/>
              </a:rPr>
              <a:t>A.  NOMINAL PAYBACK PERIOD</a:t>
            </a:r>
          </a:p>
        </p:txBody>
      </p:sp>
      <p:graphicFrame>
        <p:nvGraphicFramePr>
          <p:cNvPr id="22" name="Table"/>
          <p:cNvGraphicFramePr>
            <a:graphicFrameLocks noGrp="1"/>
          </p:cNvGraphicFramePr>
          <p:nvPr/>
        </p:nvGraphicFramePr>
        <p:xfrm>
          <a:off x="603504" y="1792224"/>
          <a:ext cx="4279392" cy="1860804"/>
        </p:xfrm>
        <a:graphic>
          <a:graphicData uri="http://schemas.openxmlformats.org/drawingml/2006/table">
            <a:tbl>
              <a:tblPr/>
              <a:tblGrid>
                <a:gridCol w="603504"/>
                <a:gridCol w="1115568"/>
                <a:gridCol w="1188720"/>
                <a:gridCol w="1371600"/>
              </a:tblGrid>
              <a:tr h="32918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Cash flow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Cumulative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Unrecovered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980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260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480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720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300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780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420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340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1,120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80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380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1,500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Recovered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Card"/>
          <p:cNvSpPr/>
          <p:nvPr/>
        </p:nvSpPr>
        <p:spPr>
          <a:xfrm>
            <a:off x="603504" y="3657600"/>
            <a:ext cx="5309616" cy="1060704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4" name="PB"/>
          <p:cNvSpPr/>
          <p:nvPr/>
        </p:nvSpPr>
        <p:spPr>
          <a:xfrm>
            <a:off x="841248" y="3776472"/>
            <a:ext cx="483412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40" b="1" dirty="0">
                <a:solidFill>
                  <a:srgbClr val="E3C567"/>
                </a:solidFill>
                <a:latin typeface="Calibri"/>
                <a:cs typeface="Calibri"/>
              </a:rPr>
              <a:t>PAYBACK  =  4 years  +  (80 ÷ 380)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2600" b="1" dirty="0">
                <a:solidFill>
                  <a:srgbClr val="FFFFFF"/>
                </a:solidFill>
                <a:latin typeface="Georgia"/>
                <a:cs typeface="Georgia"/>
              </a:rPr>
              <a:t>4.21 years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940" dirty="0">
                <a:solidFill>
                  <a:srgbClr val="E0CBBE"/>
                </a:solidFill>
                <a:latin typeface="Calibri"/>
                <a:cs typeface="Calibri"/>
              </a:rPr>
              <a:t>4.15 years if the ₹150 cr salvage is counted in Year 5</a:t>
            </a:r>
          </a:p>
        </p:txBody>
      </p:sp>
      <p:sp>
        <p:nvSpPr>
          <p:cNvPr id="25" name="Card"/>
          <p:cNvSpPr/>
          <p:nvPr/>
        </p:nvSpPr>
        <p:spPr>
          <a:xfrm>
            <a:off x="603504" y="4864608"/>
            <a:ext cx="5309616" cy="1042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Accent"/>
          <p:cNvSpPr/>
          <p:nvPr/>
        </p:nvSpPr>
        <p:spPr>
          <a:xfrm>
            <a:off x="603504" y="4864608"/>
            <a:ext cx="45720" cy="10424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PBnote"/>
          <p:cNvSpPr/>
          <p:nvPr/>
        </p:nvSpPr>
        <p:spPr>
          <a:xfrm>
            <a:off x="841248" y="4983480"/>
            <a:ext cx="483412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70" dirty="0">
                <a:solidFill>
                  <a:srgbClr val="7A7A85"/>
                </a:solidFill>
                <a:latin typeface="Calibri"/>
                <a:cs typeface="Calibri"/>
              </a:rPr>
              <a:t>AGAINST A 4-YEAR BENCHMARK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Marginally outside the norm. On this measure alone the project would look broadly acceptable — which is exactly the weakness of payback: it ignores the time value of money.</a:t>
            </a:r>
          </a:p>
        </p:txBody>
      </p:sp>
      <p:sp>
        <p:nvSpPr>
          <p:cNvPr id="28" name="H2"/>
          <p:cNvSpPr/>
          <p:nvPr/>
        </p:nvSpPr>
        <p:spPr>
          <a:xfrm>
            <a:off x="6278880" y="1517904"/>
            <a:ext cx="53096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70" dirty="0">
                <a:solidFill>
                  <a:srgbClr val="9E1B32"/>
                </a:solidFill>
                <a:latin typeface="Calibri"/>
                <a:cs typeface="Calibri"/>
              </a:rPr>
              <a:t>B.  DISCOUNTED PAYBACK PERIOD</a:t>
            </a:r>
          </a:p>
        </p:txBody>
      </p:sp>
      <p:graphicFrame>
        <p:nvGraphicFramePr>
          <p:cNvPr id="29" name="Table"/>
          <p:cNvGraphicFramePr>
            <a:graphicFrameLocks noGrp="1"/>
          </p:cNvGraphicFramePr>
          <p:nvPr/>
        </p:nvGraphicFramePr>
        <p:xfrm>
          <a:off x="6278880" y="1792224"/>
          <a:ext cx="4279392" cy="1860804"/>
        </p:xfrm>
        <a:graphic>
          <a:graphicData uri="http://schemas.openxmlformats.org/drawingml/2006/table">
            <a:tbl>
              <a:tblPr/>
              <a:tblGrid>
                <a:gridCol w="566928"/>
                <a:gridCol w="1097280"/>
                <a:gridCol w="1298448"/>
                <a:gridCol w="1316736"/>
              </a:tblGrid>
              <a:tr h="32918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PV of flow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Cumulative PV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Still unrecovered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198.20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198.20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1,001.80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211.02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409.22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790.78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219.36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628.58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571.42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223.97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852.55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dirty="0">
                          <a:solidFill>
                            <a:srgbClr val="4A4A55"/>
                          </a:solidFill>
                          <a:latin typeface="Calibri"/>
                          <a:cs typeface="Calibri"/>
                        </a:rPr>
                        <a:t>347.45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314.53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1,167.08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32.92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6E7EA"/>
                    </a:solidFill>
                  </a:tcPr>
                </a:tc>
              </a:tr>
            </a:tbl>
          </a:graphicData>
        </a:graphic>
      </p:graphicFrame>
      <p:sp>
        <p:nvSpPr>
          <p:cNvPr id="30" name="Card"/>
          <p:cNvSpPr/>
          <p:nvPr/>
        </p:nvSpPr>
        <p:spPr>
          <a:xfrm>
            <a:off x="6278880" y="3657600"/>
            <a:ext cx="5309616" cy="1060704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9E1B32"/>
              </a:gs>
              <a:gs pos="100000">
                <a:srgbClr val="5E0B15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DPB"/>
          <p:cNvSpPr/>
          <p:nvPr/>
        </p:nvSpPr>
        <p:spPr>
          <a:xfrm>
            <a:off x="6516624" y="3776472"/>
            <a:ext cx="483412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90" dirty="0">
                <a:solidFill>
                  <a:srgbClr val="E3C567"/>
                </a:solidFill>
                <a:latin typeface="Calibri"/>
                <a:cs typeface="Calibri"/>
              </a:rPr>
              <a:t>DISCOUNTED PAYBACK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900" b="1" dirty="0">
                <a:solidFill>
                  <a:srgbClr val="FFFFFF"/>
                </a:solidFill>
                <a:latin typeface="Georgia"/>
                <a:cs typeface="Georgia"/>
              </a:rPr>
              <a:t>Not achieved within 5 years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60" dirty="0">
                <a:solidFill>
                  <a:srgbClr val="F2DDE1"/>
                </a:solidFill>
                <a:latin typeface="Calibri"/>
                <a:cs typeface="Calibri"/>
              </a:rPr>
              <a:t>₹32.92 crore of capital remains unrecovered at the end of Year 5</a:t>
            </a:r>
          </a:p>
        </p:txBody>
      </p:sp>
      <p:sp>
        <p:nvSpPr>
          <p:cNvPr id="32" name="Card"/>
          <p:cNvSpPr/>
          <p:nvPr/>
        </p:nvSpPr>
        <p:spPr>
          <a:xfrm>
            <a:off x="6278880" y="4864608"/>
            <a:ext cx="5309616" cy="1042416"/>
          </a:xfrm>
          <a:prstGeom prst="roundRect">
            <a:avLst>
              <a:gd name="adj" fmla="val 4000"/>
            </a:avLst>
          </a:prstGeom>
          <a:solidFill>
            <a:srgbClr val="F6E7EA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Accent"/>
          <p:cNvSpPr/>
          <p:nvPr/>
        </p:nvSpPr>
        <p:spPr>
          <a:xfrm>
            <a:off x="6278880" y="4864608"/>
            <a:ext cx="45720" cy="1042416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Cmp"/>
          <p:cNvSpPr/>
          <p:nvPr/>
        </p:nvSpPr>
        <p:spPr>
          <a:xfrm>
            <a:off x="6516624" y="4983480"/>
            <a:ext cx="483412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70" dirty="0">
                <a:solidFill>
                  <a:srgbClr val="9E1B32"/>
                </a:solidFill>
                <a:latin typeface="Calibri"/>
                <a:cs typeface="Calibri"/>
              </a:rPr>
              <a:t>THE DECISIVE COMPARISON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Nominal payback says 4.21 years; discounted payback says never. The gap is the cost of capital. This is why NPV, not payback, must drive the decision.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QUESTION 1 — SUMMARY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Decision Dashboard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Four independent criteria, evaluated against their decision rules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09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2513076" cy="20665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Top"/>
          <p:cNvSpPr/>
          <p:nvPr/>
        </p:nvSpPr>
        <p:spPr>
          <a:xfrm>
            <a:off x="603504" y="1572768"/>
            <a:ext cx="2513076" cy="54864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K"/>
          <p:cNvSpPr/>
          <p:nvPr/>
        </p:nvSpPr>
        <p:spPr>
          <a:xfrm>
            <a:off x="786384" y="1773936"/>
            <a:ext cx="214731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NET PRESENT VALUE</a:t>
            </a:r>
          </a:p>
          <a:p>
            <a:pPr algn="ctr">
              <a:spcBef>
                <a:spcPts val="600"/>
              </a:spcBef>
              <a:buNone/>
            </a:pPr>
            <a:r>
              <a:rPr lang="en-IN" sz="2700" b="1" spc="-15" dirty="0">
                <a:solidFill>
                  <a:srgbClr val="5E0B15"/>
                </a:solidFill>
                <a:latin typeface="Georgia"/>
                <a:cs typeface="Georgia"/>
              </a:rPr>
              <a:t>– ₹32.92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crore</a:t>
            </a:r>
          </a:p>
          <a:p>
            <a:pPr algn="ctr">
              <a:spcBef>
                <a:spcPts val="7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NPV &gt; 0 required</a:t>
            </a:r>
          </a:p>
        </p:txBody>
      </p:sp>
      <p:sp>
        <p:nvSpPr>
          <p:cNvPr id="24" name="Verdict"/>
          <p:cNvSpPr/>
          <p:nvPr/>
        </p:nvSpPr>
        <p:spPr>
          <a:xfrm>
            <a:off x="877824" y="3145536"/>
            <a:ext cx="1964436" cy="347472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00" b="1" spc="140" dirty="0">
                <a:solidFill>
                  <a:srgbClr val="FFFFFF"/>
                </a:solidFill>
                <a:latin typeface="Calibri"/>
                <a:cs typeface="Calibri"/>
              </a:rPr>
              <a:t>REJECT</a:t>
            </a:r>
          </a:p>
        </p:txBody>
      </p:sp>
      <p:sp>
        <p:nvSpPr>
          <p:cNvPr id="25" name="Card"/>
          <p:cNvSpPr/>
          <p:nvPr/>
        </p:nvSpPr>
        <p:spPr>
          <a:xfrm>
            <a:off x="3427476" y="1572768"/>
            <a:ext cx="2513076" cy="20665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Top"/>
          <p:cNvSpPr/>
          <p:nvPr/>
        </p:nvSpPr>
        <p:spPr>
          <a:xfrm>
            <a:off x="3427476" y="1572768"/>
            <a:ext cx="2513076" cy="54864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K"/>
          <p:cNvSpPr/>
          <p:nvPr/>
        </p:nvSpPr>
        <p:spPr>
          <a:xfrm>
            <a:off x="3610356" y="1773936"/>
            <a:ext cx="214731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INTERNAL RATE OF RETURN</a:t>
            </a:r>
          </a:p>
          <a:p>
            <a:pPr algn="ctr">
              <a:spcBef>
                <a:spcPts val="600"/>
              </a:spcBef>
              <a:buNone/>
            </a:pPr>
            <a:r>
              <a:rPr lang="en-IN" sz="2700" b="1" spc="-15" dirty="0">
                <a:solidFill>
                  <a:srgbClr val="5E0B15"/>
                </a:solidFill>
                <a:latin typeface="Georgia"/>
                <a:cs typeface="Georgia"/>
              </a:rPr>
              <a:t>10.04%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vs 11% WACC</a:t>
            </a:r>
          </a:p>
          <a:p>
            <a:pPr algn="ctr">
              <a:spcBef>
                <a:spcPts val="7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IRR &gt; 11% required</a:t>
            </a:r>
          </a:p>
        </p:txBody>
      </p:sp>
      <p:sp>
        <p:nvSpPr>
          <p:cNvPr id="28" name="Verdict"/>
          <p:cNvSpPr/>
          <p:nvPr/>
        </p:nvSpPr>
        <p:spPr>
          <a:xfrm>
            <a:off x="3701796" y="3145536"/>
            <a:ext cx="1964436" cy="347472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00" b="1" spc="140" dirty="0">
                <a:solidFill>
                  <a:srgbClr val="FFFFFF"/>
                </a:solidFill>
                <a:latin typeface="Calibri"/>
                <a:cs typeface="Calibri"/>
              </a:rPr>
              <a:t>REJECT</a:t>
            </a:r>
          </a:p>
        </p:txBody>
      </p:sp>
      <p:sp>
        <p:nvSpPr>
          <p:cNvPr id="29" name="Card"/>
          <p:cNvSpPr/>
          <p:nvPr/>
        </p:nvSpPr>
        <p:spPr>
          <a:xfrm>
            <a:off x="6251448" y="1572768"/>
            <a:ext cx="2513076" cy="20665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Top"/>
          <p:cNvSpPr/>
          <p:nvPr/>
        </p:nvSpPr>
        <p:spPr>
          <a:xfrm>
            <a:off x="6251448" y="1572768"/>
            <a:ext cx="2513076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K"/>
          <p:cNvSpPr/>
          <p:nvPr/>
        </p:nvSpPr>
        <p:spPr>
          <a:xfrm>
            <a:off x="6434328" y="1773936"/>
            <a:ext cx="214731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PAYBACK PERIOD</a:t>
            </a:r>
          </a:p>
          <a:p>
            <a:pPr algn="ctr">
              <a:spcBef>
                <a:spcPts val="600"/>
              </a:spcBef>
              <a:buNone/>
            </a:pPr>
            <a:r>
              <a:rPr lang="en-IN" sz="2700" b="1" spc="-15" dirty="0">
                <a:solidFill>
                  <a:srgbClr val="5E0B15"/>
                </a:solidFill>
                <a:latin typeface="Georgia"/>
                <a:cs typeface="Georgia"/>
              </a:rPr>
              <a:t>4.21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years</a:t>
            </a:r>
          </a:p>
          <a:p>
            <a:pPr algn="ctr">
              <a:spcBef>
                <a:spcPts val="7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Benchmark: 4 years</a:t>
            </a:r>
          </a:p>
        </p:txBody>
      </p:sp>
      <p:sp>
        <p:nvSpPr>
          <p:cNvPr id="32" name="Verdict"/>
          <p:cNvSpPr/>
          <p:nvPr/>
        </p:nvSpPr>
        <p:spPr>
          <a:xfrm>
            <a:off x="6525768" y="3145536"/>
            <a:ext cx="1964436" cy="34747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00" b="1" spc="140" dirty="0">
                <a:solidFill>
                  <a:srgbClr val="FFFFFF"/>
                </a:solidFill>
                <a:latin typeface="Calibri"/>
                <a:cs typeface="Calibri"/>
              </a:rPr>
              <a:t>MARGINAL</a:t>
            </a:r>
          </a:p>
        </p:txBody>
      </p:sp>
      <p:sp>
        <p:nvSpPr>
          <p:cNvPr id="33" name="Card"/>
          <p:cNvSpPr/>
          <p:nvPr/>
        </p:nvSpPr>
        <p:spPr>
          <a:xfrm>
            <a:off x="9075420" y="1572768"/>
            <a:ext cx="2513076" cy="20665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Top"/>
          <p:cNvSpPr/>
          <p:nvPr/>
        </p:nvSpPr>
        <p:spPr>
          <a:xfrm>
            <a:off x="9075420" y="1572768"/>
            <a:ext cx="2513076" cy="54864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5" name="K"/>
          <p:cNvSpPr/>
          <p:nvPr/>
        </p:nvSpPr>
        <p:spPr>
          <a:xfrm>
            <a:off x="9258300" y="1773936"/>
            <a:ext cx="214731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DISCOUNTED PAYBACK</a:t>
            </a:r>
          </a:p>
          <a:p>
            <a:pPr algn="ctr">
              <a:spcBef>
                <a:spcPts val="600"/>
              </a:spcBef>
              <a:buNone/>
            </a:pPr>
            <a:r>
              <a:rPr lang="en-IN" sz="2700" b="1" spc="-15" dirty="0">
                <a:solidFill>
                  <a:srgbClr val="5E0B15"/>
                </a:solidFill>
                <a:latin typeface="Georgia"/>
                <a:cs typeface="Georgia"/>
              </a:rPr>
              <a:t>&gt; 5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years</a:t>
            </a:r>
          </a:p>
          <a:p>
            <a:pPr algn="ctr">
              <a:spcBef>
                <a:spcPts val="7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Within horizon required</a:t>
            </a:r>
          </a:p>
        </p:txBody>
      </p:sp>
      <p:sp>
        <p:nvSpPr>
          <p:cNvPr id="36" name="Verdict"/>
          <p:cNvSpPr/>
          <p:nvPr/>
        </p:nvSpPr>
        <p:spPr>
          <a:xfrm>
            <a:off x="9349740" y="3145536"/>
            <a:ext cx="1964436" cy="347472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00" b="1" spc="140" dirty="0">
                <a:solidFill>
                  <a:srgbClr val="FFFFFF"/>
                </a:solidFill>
                <a:latin typeface="Calibri"/>
                <a:cs typeface="Calibri"/>
              </a:rPr>
              <a:t>REJECT</a:t>
            </a:r>
          </a:p>
        </p:txBody>
      </p:sp>
      <p:sp>
        <p:nvSpPr>
          <p:cNvPr id="37" name="Card"/>
          <p:cNvSpPr/>
          <p:nvPr/>
        </p:nvSpPr>
        <p:spPr>
          <a:xfrm>
            <a:off x="603504" y="3822192"/>
            <a:ext cx="1098499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PI"/>
          <p:cNvSpPr/>
          <p:nvPr/>
        </p:nvSpPr>
        <p:spPr>
          <a:xfrm>
            <a:off x="859536" y="3950208"/>
            <a:ext cx="10472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00" b="1" spc="150" dirty="0">
                <a:solidFill>
                  <a:srgbClr val="C9A227"/>
                </a:solidFill>
                <a:latin typeface="Calibri"/>
                <a:cs typeface="Calibri"/>
              </a:rPr>
              <a:t>SUPPORTING MEASURE  —  </a:t>
            </a: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Profitability Index 0.973</a:t>
            </a: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   •   the project returns ₹0.97 of present value per ₹1 invested   •   confirms rejection on a per-rupee-of-capital basis</a:t>
            </a:r>
          </a:p>
        </p:txBody>
      </p:sp>
      <p:sp>
        <p:nvSpPr>
          <p:cNvPr id="39" name="Card"/>
          <p:cNvSpPr/>
          <p:nvPr/>
        </p:nvSpPr>
        <p:spPr>
          <a:xfrm>
            <a:off x="603504" y="4553712"/>
            <a:ext cx="10984992" cy="1335024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Bar"/>
          <p:cNvSpPr/>
          <p:nvPr/>
        </p:nvSpPr>
        <p:spPr>
          <a:xfrm>
            <a:off x="603504" y="4553712"/>
            <a:ext cx="54864" cy="133502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1" name="Verdict"/>
          <p:cNvSpPr/>
          <p:nvPr/>
        </p:nvSpPr>
        <p:spPr>
          <a:xfrm>
            <a:off x="914400" y="4700016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200" dirty="0">
                <a:solidFill>
                  <a:srgbClr val="E3C567"/>
                </a:solidFill>
                <a:latin typeface="Calibri"/>
                <a:cs typeface="Calibri"/>
              </a:rPr>
              <a:t>OVERALL VERDICT</a:t>
            </a:r>
          </a:p>
          <a:p>
            <a:pPr algn="l">
              <a:spcBef>
                <a:spcPts val="500"/>
              </a:spcBef>
              <a:buNone/>
            </a:pPr>
            <a:r>
              <a:rPr lang="en-IN" sz="2200" b="1" dirty="0">
                <a:solidFill>
                  <a:srgbClr val="FFFFFF"/>
                </a:solidFill>
                <a:latin typeface="Georgia"/>
                <a:cs typeface="Georgia"/>
              </a:rPr>
              <a:t>Do not proceed in its current form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buNone/>
            </a:pPr>
            <a:r>
              <a:rPr lang="en-IN" sz="1060" dirty="0">
                <a:solidFill>
                  <a:srgbClr val="EFDCDF"/>
                </a:solidFill>
                <a:latin typeface="Calibri"/>
                <a:cs typeface="Calibri"/>
              </a:rPr>
              <a:t>Three of four criteria reject the project, and the only criterion that looks acceptable is the one that ignores the cost of capital.</a:t>
            </a:r>
          </a:p>
        </p:txBody>
      </p:sp>
      <p:sp>
        <p:nvSpPr>
          <p:cNvPr id="42" name="Note"/>
          <p:cNvSpPr/>
          <p:nvPr/>
        </p:nvSpPr>
        <p:spPr>
          <a:xfrm>
            <a:off x="7278624" y="4754880"/>
            <a:ext cx="4035552" cy="932688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0160" cap="flat" cmpd="sng" algn="ctr">
            <a:solidFill>
              <a:srgbClr val="E3C567">
                <a:alpha val="60000"/>
              </a:srgbClr>
            </a:solidFill>
            <a:prstDash val="solid"/>
            <a:round/>
          </a:ln>
        </p:spPr>
        <p:txBody>
          <a:bodyPr wrap="square" lIns="201168" tIns="109728" rIns="201168" bIns="91440" anchor="t" anchorCtr="0">
            <a:noAutofit/>
          </a:bodyPr>
          <a:lstStyle/>
          <a:p>
            <a:pPr algn="l">
              <a:buNone/>
            </a:pPr>
            <a:r>
              <a:rPr lang="en-IN" sz="840" b="1" spc="170" dirty="0">
                <a:solidFill>
                  <a:srgbClr val="E3C567"/>
                </a:solidFill>
                <a:latin typeface="Calibri"/>
                <a:cs typeface="Calibri"/>
              </a:rPr>
              <a:t>BUT NOTE THE MAGNITUDE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buNone/>
            </a:pPr>
            <a:r>
              <a:rPr lang="en-IN" sz="1080" b="1" dirty="0">
                <a:solidFill>
                  <a:srgbClr val="FFFFFF"/>
                </a:solidFill>
                <a:latin typeface="Calibri"/>
                <a:cs typeface="Calibri"/>
              </a:rPr>
              <a:t>The shortfall is only 2.7% of the outlay. This project is redeemable, not dead.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QUESTION 2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Recommendation &amp; Justification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Should ABFRL undertake the project?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10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10984992" cy="786384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B"/>
          <p:cNvSpPr/>
          <p:nvPr/>
        </p:nvSpPr>
        <p:spPr>
          <a:xfrm>
            <a:off x="603504" y="1572768"/>
            <a:ext cx="50292" cy="7863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Rec"/>
          <p:cNvSpPr/>
          <p:nvPr/>
        </p:nvSpPr>
        <p:spPr>
          <a:xfrm>
            <a:off x="896112" y="1691640"/>
            <a:ext cx="1039977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>
              <a:buNone/>
            </a:pPr>
            <a:r>
              <a:rPr lang="en-IN" sz="1040" b="1" spc="170" dirty="0">
                <a:solidFill>
                  <a:srgbClr val="E3C567"/>
                </a:solidFill>
                <a:latin typeface="Calibri"/>
                <a:cs typeface="Calibri"/>
              </a:rPr>
              <a:t>RECOMMENDATION:   </a:t>
            </a:r>
            <a:r>
              <a:rPr lang="en-IN" sz="1640" b="1" dirty="0">
                <a:solidFill>
                  <a:srgbClr val="FFFFFF"/>
                </a:solidFill>
                <a:latin typeface="Georgia"/>
                <a:cs typeface="Georgia"/>
              </a:rPr>
              <a:t>Reject the proposal as structured — approve only against a value-closure plan</a:t>
            </a:r>
          </a:p>
        </p:txBody>
      </p:sp>
      <p:sp>
        <p:nvSpPr>
          <p:cNvPr id="24" name="H1"/>
          <p:cNvSpPr/>
          <p:nvPr/>
        </p:nvSpPr>
        <p:spPr>
          <a:xfrm>
            <a:off x="603504" y="2505456"/>
            <a:ext cx="6263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70" dirty="0">
                <a:solidFill>
                  <a:srgbClr val="9E1B32"/>
                </a:solidFill>
                <a:latin typeface="Calibri"/>
                <a:cs typeface="Calibri"/>
              </a:rPr>
              <a:t>WHY — THE FINANCIAL CASE FAILS</a:t>
            </a:r>
          </a:p>
        </p:txBody>
      </p:sp>
      <p:sp>
        <p:nvSpPr>
          <p:cNvPr id="25" name="Card"/>
          <p:cNvSpPr/>
          <p:nvPr/>
        </p:nvSpPr>
        <p:spPr>
          <a:xfrm>
            <a:off x="603504" y="2761488"/>
            <a:ext cx="6263640" cy="7589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Accent"/>
          <p:cNvSpPr/>
          <p:nvPr/>
        </p:nvSpPr>
        <p:spPr>
          <a:xfrm>
            <a:off x="603504" y="2761488"/>
            <a:ext cx="41148" cy="75895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N"/>
          <p:cNvSpPr/>
          <p:nvPr/>
        </p:nvSpPr>
        <p:spPr>
          <a:xfrm>
            <a:off x="786384" y="28986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700" b="1" dirty="0">
                <a:solidFill>
                  <a:srgbClr val="C9A227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28" name="P"/>
          <p:cNvSpPr/>
          <p:nvPr/>
        </p:nvSpPr>
        <p:spPr>
          <a:xfrm>
            <a:off x="1225296" y="2862072"/>
            <a:ext cx="544068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NPV is the governing rule and it is negative.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50" dirty="0">
                <a:solidFill>
                  <a:srgbClr val="4A4A55"/>
                </a:solidFill>
                <a:latin typeface="Calibri"/>
                <a:cs typeface="Calibri"/>
              </a:rPr>
              <a:t>At –₹32.92 crore the project destroys shareholder value. PI of 0.973 says the same thing per rupee of capital.</a:t>
            </a:r>
          </a:p>
        </p:txBody>
      </p:sp>
      <p:sp>
        <p:nvSpPr>
          <p:cNvPr id="29" name="Card"/>
          <p:cNvSpPr/>
          <p:nvPr/>
        </p:nvSpPr>
        <p:spPr>
          <a:xfrm>
            <a:off x="603504" y="3584448"/>
            <a:ext cx="6263640" cy="7589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Accent"/>
          <p:cNvSpPr/>
          <p:nvPr/>
        </p:nvSpPr>
        <p:spPr>
          <a:xfrm>
            <a:off x="603504" y="3584448"/>
            <a:ext cx="41148" cy="75895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N"/>
          <p:cNvSpPr/>
          <p:nvPr/>
        </p:nvSpPr>
        <p:spPr>
          <a:xfrm>
            <a:off x="786384" y="372160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700" b="1" dirty="0">
                <a:solidFill>
                  <a:srgbClr val="C9A227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32" name="P"/>
          <p:cNvSpPr/>
          <p:nvPr/>
        </p:nvSpPr>
        <p:spPr>
          <a:xfrm>
            <a:off x="1225296" y="3685032"/>
            <a:ext cx="544068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The project earns less than the money costs.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50" dirty="0">
                <a:solidFill>
                  <a:srgbClr val="4A4A55"/>
                </a:solidFill>
                <a:latin typeface="Calibri"/>
                <a:cs typeface="Calibri"/>
              </a:rPr>
              <a:t>IRR of 10.04% against an 11% WACC means ABFRL would be funding an asset that cannot service the return its investors require.</a:t>
            </a:r>
          </a:p>
        </p:txBody>
      </p:sp>
      <p:sp>
        <p:nvSpPr>
          <p:cNvPr id="33" name="Card"/>
          <p:cNvSpPr/>
          <p:nvPr/>
        </p:nvSpPr>
        <p:spPr>
          <a:xfrm>
            <a:off x="603504" y="4407408"/>
            <a:ext cx="6263640" cy="7589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Accent"/>
          <p:cNvSpPr/>
          <p:nvPr/>
        </p:nvSpPr>
        <p:spPr>
          <a:xfrm>
            <a:off x="603504" y="4407408"/>
            <a:ext cx="41148" cy="75895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5" name="N"/>
          <p:cNvSpPr/>
          <p:nvPr/>
        </p:nvSpPr>
        <p:spPr>
          <a:xfrm>
            <a:off x="786384" y="454456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700" b="1" dirty="0">
                <a:solidFill>
                  <a:srgbClr val="C9A227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36" name="P"/>
          <p:cNvSpPr/>
          <p:nvPr/>
        </p:nvSpPr>
        <p:spPr>
          <a:xfrm>
            <a:off x="1225296" y="4507992"/>
            <a:ext cx="544068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Capital is never recovered on a time-value basis.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50" dirty="0">
                <a:solidFill>
                  <a:srgbClr val="4A4A55"/>
                </a:solidFill>
                <a:latin typeface="Calibri"/>
                <a:cs typeface="Calibri"/>
              </a:rPr>
              <a:t>Discounted payback exceeds the five-year horizon, leaving ₹32.92 crore outstanding even after the salvage receipt.</a:t>
            </a:r>
          </a:p>
        </p:txBody>
      </p:sp>
      <p:sp>
        <p:nvSpPr>
          <p:cNvPr id="37" name="Card"/>
          <p:cNvSpPr/>
          <p:nvPr/>
        </p:nvSpPr>
        <p:spPr>
          <a:xfrm>
            <a:off x="603504" y="5230368"/>
            <a:ext cx="6263640" cy="7589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Accent"/>
          <p:cNvSpPr/>
          <p:nvPr/>
        </p:nvSpPr>
        <p:spPr>
          <a:xfrm>
            <a:off x="603504" y="5230368"/>
            <a:ext cx="41148" cy="75895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9" name="N"/>
          <p:cNvSpPr/>
          <p:nvPr/>
        </p:nvSpPr>
        <p:spPr>
          <a:xfrm>
            <a:off x="786384" y="536752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700" b="1" dirty="0">
                <a:solidFill>
                  <a:srgbClr val="C9A227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40" name="P"/>
          <p:cNvSpPr/>
          <p:nvPr/>
        </p:nvSpPr>
        <p:spPr>
          <a:xfrm>
            <a:off x="1225296" y="5330952"/>
            <a:ext cx="544068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The return depends heavily on a low-quality cash flow.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50" dirty="0">
                <a:solidFill>
                  <a:srgbClr val="4A4A55"/>
                </a:solidFill>
                <a:latin typeface="Calibri"/>
                <a:cs typeface="Calibri"/>
              </a:rPr>
              <a:t>₹89 crore of present value — 28% of Year 5's PV — is salvage. Excluding it, IRR falls to 7.22%.</a:t>
            </a:r>
          </a:p>
        </p:txBody>
      </p:sp>
      <p:sp>
        <p:nvSpPr>
          <p:cNvPr id="41" name="H2"/>
          <p:cNvSpPr/>
          <p:nvPr/>
        </p:nvSpPr>
        <p:spPr>
          <a:xfrm>
            <a:off x="7178040" y="2505456"/>
            <a:ext cx="44104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70" dirty="0">
                <a:solidFill>
                  <a:srgbClr val="C9A227"/>
                </a:solidFill>
                <a:latin typeface="Calibri"/>
                <a:cs typeface="Calibri"/>
              </a:rPr>
              <a:t>BUT — WHY NOT ABANDON IT</a:t>
            </a:r>
          </a:p>
        </p:txBody>
      </p:sp>
      <p:sp>
        <p:nvSpPr>
          <p:cNvPr id="42" name="Card"/>
          <p:cNvSpPr/>
          <p:nvPr/>
        </p:nvSpPr>
        <p:spPr>
          <a:xfrm>
            <a:off x="7178040" y="2761488"/>
            <a:ext cx="4410456" cy="1517904"/>
          </a:xfrm>
          <a:prstGeom prst="roundRect">
            <a:avLst>
              <a:gd name="adj" fmla="val 4000"/>
            </a:avLst>
          </a:prstGeom>
          <a:solidFill>
            <a:srgbClr val="FAF1D8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3" name="Accent"/>
          <p:cNvSpPr/>
          <p:nvPr/>
        </p:nvSpPr>
        <p:spPr>
          <a:xfrm>
            <a:off x="7178040" y="2761488"/>
            <a:ext cx="45720" cy="15179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4" name="Gap"/>
          <p:cNvSpPr/>
          <p:nvPr/>
        </p:nvSpPr>
        <p:spPr>
          <a:xfrm>
            <a:off x="7415784" y="2889504"/>
            <a:ext cx="393496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IN" sz="1140" b="1" dirty="0">
                <a:solidFill>
                  <a:srgbClr val="5E0B15"/>
                </a:solidFill>
                <a:latin typeface="Calibri"/>
                <a:cs typeface="Calibri"/>
              </a:rPr>
              <a:t>The gap is ₹32.92 crore — 2.7% of the outlay.</a:t>
            </a:r>
          </a:p>
          <a:p>
            <a:pPr algn="l">
              <a:spcBef>
                <a:spcPts val="500"/>
              </a:spcBef>
              <a:buNone/>
            </a:pPr>
            <a:r>
              <a:rPr lang="en-IN" sz="980" i="1" dirty="0">
                <a:solidFill>
                  <a:srgbClr val="4A4A55"/>
                </a:solidFill>
                <a:latin typeface="Calibri"/>
                <a:cs typeface="Calibri"/>
              </a:rPr>
              <a:t>Any one of the following closes it:</a:t>
            </a:r>
          </a:p>
          <a:p>
            <a:pPr marL="182880" indent="-182880" algn="l">
              <a:spcBef>
                <a:spcPts val="500"/>
              </a:spcBef>
              <a:buClr>
                <a:srgbClr val="9E1B32"/>
              </a:buClr>
              <a:buFont typeface="Arial" pitchFamily="34" charset="0"/>
              <a:buChar char="▪"/>
            </a:pPr>
            <a:r>
              <a:rPr lang="en-IN" sz="980" dirty="0">
                <a:solidFill>
                  <a:srgbClr val="22222A"/>
                </a:solidFill>
                <a:latin typeface="Calibri"/>
                <a:cs typeface="Calibri"/>
              </a:rPr>
              <a:t>Capex negotiated down to ₹1,167 cr</a:t>
            </a:r>
          </a:p>
          <a:p>
            <a:pPr marL="182880" indent="-182880" algn="l">
              <a:spcBef>
                <a:spcPts val="300"/>
              </a:spcBef>
              <a:buClr>
                <a:srgbClr val="9E1B32"/>
              </a:buClr>
              <a:buFont typeface="Arial" pitchFamily="34" charset="0"/>
              <a:buChar char="▪"/>
            </a:pPr>
            <a:r>
              <a:rPr lang="en-IN" sz="980" dirty="0">
                <a:solidFill>
                  <a:srgbClr val="22222A"/>
                </a:solidFill>
                <a:latin typeface="Calibri"/>
                <a:cs typeface="Calibri"/>
              </a:rPr>
              <a:t>Operating cash flows just 3.05% higher</a:t>
            </a:r>
          </a:p>
          <a:p>
            <a:pPr marL="182880" indent="-182880" algn="l">
              <a:spcBef>
                <a:spcPts val="300"/>
              </a:spcBef>
              <a:buClr>
                <a:srgbClr val="9E1B32"/>
              </a:buClr>
              <a:buFont typeface="Arial" pitchFamily="34" charset="0"/>
              <a:buChar char="▪"/>
            </a:pPr>
            <a:r>
              <a:rPr lang="en-IN" sz="980" dirty="0">
                <a:solidFill>
                  <a:srgbClr val="22222A"/>
                </a:solidFill>
                <a:latin typeface="Calibri"/>
                <a:cs typeface="Calibri"/>
              </a:rPr>
              <a:t>Salvage realised at ₹205 cr or above</a:t>
            </a:r>
          </a:p>
        </p:txBody>
      </p:sp>
      <p:sp>
        <p:nvSpPr>
          <p:cNvPr id="45" name="Card"/>
          <p:cNvSpPr/>
          <p:nvPr/>
        </p:nvSpPr>
        <p:spPr>
          <a:xfrm>
            <a:off x="7178040" y="4443984"/>
            <a:ext cx="4410456" cy="14447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6" name="Accent"/>
          <p:cNvSpPr/>
          <p:nvPr/>
        </p:nvSpPr>
        <p:spPr>
          <a:xfrm>
            <a:off x="7178040" y="4443984"/>
            <a:ext cx="41148" cy="144475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7" name="Strat"/>
          <p:cNvSpPr/>
          <p:nvPr/>
        </p:nvSpPr>
        <p:spPr>
          <a:xfrm>
            <a:off x="7415784" y="4572000"/>
            <a:ext cx="3934968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60" dirty="0">
                <a:solidFill>
                  <a:srgbClr val="7A7A85"/>
                </a:solidFill>
                <a:latin typeface="Calibri"/>
                <a:cs typeface="Calibri"/>
              </a:rPr>
              <a:t>STRATEGIC VALUE NOT IN THE MODEL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IN" sz="1000" dirty="0">
                <a:solidFill>
                  <a:srgbClr val="4A4A55"/>
                </a:solidFill>
                <a:latin typeface="Calibri"/>
                <a:cs typeface="Calibri"/>
              </a:rPr>
              <a:t>Quality and lead-time control for premium brands; reduced vendor dependence; and the option value of building in phases — none of which the DCF captures.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buNone/>
            </a:pPr>
            <a:r>
              <a:rPr lang="en-IN" sz="980" b="1" dirty="0">
                <a:solidFill>
                  <a:srgbClr val="9E1B32"/>
                </a:solidFill>
                <a:latin typeface="Calibri"/>
                <a:cs typeface="Calibri"/>
              </a:rPr>
              <a:t>These justify restructuring the proposal, not overriding a negative NPV.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SUPPORTING ANALYSIS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Sensitivity &amp; Breakeven Analysis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How robust is the rejection, and what would have to change to reverse it?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11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graphicFrame>
        <p:nvGraphicFramePr>
          <p:cNvPr id="21" name="Table"/>
          <p:cNvGraphicFramePr>
            <a:graphicFrameLocks noGrp="1"/>
          </p:cNvGraphicFramePr>
          <p:nvPr/>
        </p:nvGraphicFramePr>
        <p:xfrm>
          <a:off x="603504" y="1572768"/>
          <a:ext cx="6446520" cy="2962656"/>
        </p:xfrm>
        <a:graphic>
          <a:graphicData uri="http://schemas.openxmlformats.org/drawingml/2006/table">
            <a:tbl>
              <a:tblPr/>
              <a:tblGrid>
                <a:gridCol w="3703320"/>
                <a:gridCol w="1417320"/>
                <a:gridCol w="1325880"/>
              </a:tblGrid>
              <a:tr h="365760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920" b="1" spc="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NPV (₹ CR)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20" b="1" spc="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0B15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b="1" dirty="0">
                          <a:solidFill>
                            <a:srgbClr val="5E0B15"/>
                          </a:solidFill>
                          <a:latin typeface="Calibri"/>
                          <a:cs typeface="Calibri"/>
                        </a:rPr>
                        <a:t>Base case (as given)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– 32.92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Reject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AF1D8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Operating cash flows +10%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1E7A4D"/>
                          </a:solidFill>
                          <a:latin typeface="Calibri"/>
                          <a:cs typeface="Calibri"/>
                        </a:rPr>
                        <a:t>+ 74.88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1E7A4D"/>
                          </a:solidFill>
                          <a:latin typeface="Calibri"/>
                          <a:cs typeface="Calibri"/>
                        </a:rPr>
                        <a:t>Accept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Operating cash flows –10%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– 140.73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Reject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Capital cost overrun +10%  (₹1,320 cr)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– 152.92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Reject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Salvage value realised at nil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– 121.94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Reject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Salvage value realised at ₹300 cr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1E7A4D"/>
                          </a:solidFill>
                          <a:latin typeface="Calibri"/>
                          <a:cs typeface="Calibri"/>
                        </a:rPr>
                        <a:t>+ 56.09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1E7A4D"/>
                          </a:solidFill>
                          <a:latin typeface="Calibri"/>
                          <a:cs typeface="Calibri"/>
                        </a:rPr>
                        <a:t>Accept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Cost of capital falls to 10%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8A6E10"/>
                          </a:solidFill>
                          <a:latin typeface="Calibri"/>
                          <a:cs typeface="Calibri"/>
                        </a:rPr>
                        <a:t>+ 1.58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8A6E10"/>
                          </a:solidFill>
                          <a:latin typeface="Calibri"/>
                          <a:cs typeface="Calibri"/>
                        </a:rPr>
                        <a:t>Marginal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CFAF6"/>
                    </a:solidFill>
                  </a:tcPr>
                </a:tc>
              </a:tr>
              <a:tr h="324612"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lang="en-IN" sz="1020" dirty="0">
                          <a:solidFill>
                            <a:srgbClr val="22222A"/>
                          </a:solidFill>
                          <a:latin typeface="Calibri"/>
                          <a:cs typeface="Calibri"/>
                        </a:rPr>
                        <a:t>Cost of capital rises to 12%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1060" b="1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– 65.95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 anchorCtr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en-IN" sz="960" b="1" spc="60" dirty="0">
                          <a:solidFill>
                            <a:srgbClr val="9E1B32"/>
                          </a:solidFill>
                          <a:latin typeface="Calibri"/>
                          <a:cs typeface="Calibri"/>
                        </a:rPr>
                        <a:t>Reject</a:t>
                      </a:r>
                    </a:p>
                  </a:txBody>
                  <a:tcPr marL="64008" marR="64008" marT="32004" marB="32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6E2DA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Card"/>
          <p:cNvSpPr/>
          <p:nvPr/>
        </p:nvSpPr>
        <p:spPr>
          <a:xfrm>
            <a:off x="603504" y="4626864"/>
            <a:ext cx="6446520" cy="1261872"/>
          </a:xfrm>
          <a:prstGeom prst="roundRect">
            <a:avLst>
              <a:gd name="adj" fmla="val 4000"/>
            </a:avLst>
          </a:prstGeom>
          <a:solidFill>
            <a:srgbClr val="F6E7EA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Accent"/>
          <p:cNvSpPr/>
          <p:nvPr/>
        </p:nvSpPr>
        <p:spPr>
          <a:xfrm>
            <a:off x="603504" y="4626864"/>
            <a:ext cx="45720" cy="126187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4" name="Asym"/>
          <p:cNvSpPr/>
          <p:nvPr/>
        </p:nvSpPr>
        <p:spPr>
          <a:xfrm>
            <a:off x="859536" y="4754880"/>
            <a:ext cx="593445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70" dirty="0">
                <a:solidFill>
                  <a:srgbClr val="9E1B32"/>
                </a:solidFill>
                <a:latin typeface="Calibri"/>
                <a:cs typeface="Calibri"/>
              </a:rPr>
              <a:t>THE ASYMMETRY IS THE REAL FINDING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en-IN" sz="1040" dirty="0">
                <a:solidFill>
                  <a:srgbClr val="4A4A55"/>
                </a:solidFill>
                <a:latin typeface="Calibri"/>
                <a:cs typeface="Calibri"/>
              </a:rPr>
              <a:t>A 10% capital overrun costs –₹153 crore, while a 10% uplift in cash flows earns only +₹75 crore. Downside risk is roughly twice the upside, and the two variables ABFRL controls least — construction cost and terminal value — are the two that move NPV most.</a:t>
            </a:r>
          </a:p>
        </p:txBody>
      </p:sp>
      <p:sp>
        <p:nvSpPr>
          <p:cNvPr id="25" name="H"/>
          <p:cNvSpPr/>
          <p:nvPr/>
        </p:nvSpPr>
        <p:spPr>
          <a:xfrm>
            <a:off x="7360920" y="1517904"/>
            <a:ext cx="42275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40" dirty="0">
                <a:solidFill>
                  <a:srgbClr val="9E1B32"/>
                </a:solidFill>
                <a:latin typeface="Calibri"/>
                <a:cs typeface="Calibri"/>
              </a:rPr>
              <a:t>BREAKEVEN TRIGGERS  (NPV = 0)</a:t>
            </a:r>
          </a:p>
        </p:txBody>
      </p:sp>
      <p:sp>
        <p:nvSpPr>
          <p:cNvPr id="26" name="Card"/>
          <p:cNvSpPr/>
          <p:nvPr/>
        </p:nvSpPr>
        <p:spPr>
          <a:xfrm>
            <a:off x="7360920" y="1792224"/>
            <a:ext cx="4227576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Accent"/>
          <p:cNvSpPr/>
          <p:nvPr/>
        </p:nvSpPr>
        <p:spPr>
          <a:xfrm>
            <a:off x="7360920" y="1792224"/>
            <a:ext cx="41148" cy="9692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T"/>
          <p:cNvSpPr/>
          <p:nvPr/>
        </p:nvSpPr>
        <p:spPr>
          <a:xfrm>
            <a:off x="7580376" y="1901952"/>
            <a:ext cx="3788664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MAXIMUM CAPEX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800" b="1" dirty="0">
                <a:solidFill>
                  <a:srgbClr val="5E0B15"/>
                </a:solidFill>
                <a:latin typeface="Georgia"/>
                <a:cs typeface="Georgia"/>
              </a:rPr>
              <a:t>₹1,167 cr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₹1,200 cr budgeted</a:t>
            </a:r>
          </a:p>
        </p:txBody>
      </p:sp>
      <p:sp>
        <p:nvSpPr>
          <p:cNvPr id="29" name="Card"/>
          <p:cNvSpPr/>
          <p:nvPr/>
        </p:nvSpPr>
        <p:spPr>
          <a:xfrm>
            <a:off x="7360920" y="2834640"/>
            <a:ext cx="4227576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Accent"/>
          <p:cNvSpPr/>
          <p:nvPr/>
        </p:nvSpPr>
        <p:spPr>
          <a:xfrm>
            <a:off x="7360920" y="2834640"/>
            <a:ext cx="41148" cy="9692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T"/>
          <p:cNvSpPr/>
          <p:nvPr/>
        </p:nvSpPr>
        <p:spPr>
          <a:xfrm>
            <a:off x="7580376" y="2944368"/>
            <a:ext cx="3788664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REQUIRED UPLIFT IN CASH FLOWS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800" b="1" dirty="0">
                <a:solidFill>
                  <a:srgbClr val="5E0B15"/>
                </a:solidFill>
                <a:latin typeface="Georgia"/>
                <a:cs typeface="Georgia"/>
              </a:rPr>
              <a:t>+3.05%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across all five years</a:t>
            </a:r>
          </a:p>
        </p:txBody>
      </p:sp>
      <p:sp>
        <p:nvSpPr>
          <p:cNvPr id="32" name="Card"/>
          <p:cNvSpPr/>
          <p:nvPr/>
        </p:nvSpPr>
        <p:spPr>
          <a:xfrm>
            <a:off x="7360920" y="3877056"/>
            <a:ext cx="4227576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Accent"/>
          <p:cNvSpPr/>
          <p:nvPr/>
        </p:nvSpPr>
        <p:spPr>
          <a:xfrm>
            <a:off x="7360920" y="3877056"/>
            <a:ext cx="41148" cy="9692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T"/>
          <p:cNvSpPr/>
          <p:nvPr/>
        </p:nvSpPr>
        <p:spPr>
          <a:xfrm>
            <a:off x="7580376" y="3986784"/>
            <a:ext cx="3788664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MINIMUM SALVAGE VALUE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800" b="1" dirty="0">
                <a:solidFill>
                  <a:srgbClr val="5E0B15"/>
                </a:solidFill>
                <a:latin typeface="Georgia"/>
                <a:cs typeface="Georgia"/>
              </a:rPr>
              <a:t>₹205 cr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₹150 cr assumed</a:t>
            </a:r>
          </a:p>
        </p:txBody>
      </p:sp>
      <p:sp>
        <p:nvSpPr>
          <p:cNvPr id="35" name="Card"/>
          <p:cNvSpPr/>
          <p:nvPr/>
        </p:nvSpPr>
        <p:spPr>
          <a:xfrm>
            <a:off x="7360920" y="4919472"/>
            <a:ext cx="4227576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6" name="Accent"/>
          <p:cNvSpPr/>
          <p:nvPr/>
        </p:nvSpPr>
        <p:spPr>
          <a:xfrm>
            <a:off x="7360920" y="4919472"/>
            <a:ext cx="41148" cy="9692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T"/>
          <p:cNvSpPr/>
          <p:nvPr/>
        </p:nvSpPr>
        <p:spPr>
          <a:xfrm>
            <a:off x="7580376" y="5029200"/>
            <a:ext cx="3788664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40" dirty="0">
                <a:solidFill>
                  <a:srgbClr val="7A7A85"/>
                </a:solidFill>
                <a:latin typeface="Calibri"/>
                <a:cs typeface="Calibri"/>
              </a:rPr>
              <a:t>MAXIMUM COST OF CAPITAL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800" b="1" dirty="0">
                <a:solidFill>
                  <a:srgbClr val="5E0B15"/>
                </a:solidFill>
                <a:latin typeface="Georgia"/>
                <a:cs typeface="Georgia"/>
              </a:rPr>
              <a:t>10.04%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11.00% actual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QUESTION 3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Three Strategic Risks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Each risk is quantified against the model, so its impact is measurable rather than rhetorical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12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34544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Top"/>
          <p:cNvSpPr/>
          <p:nvPr/>
        </p:nvSpPr>
        <p:spPr>
          <a:xfrm>
            <a:off x="603504" y="1572768"/>
            <a:ext cx="3454400" cy="54864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Num"/>
          <p:cNvSpPr/>
          <p:nvPr/>
        </p:nvSpPr>
        <p:spPr>
          <a:xfrm>
            <a:off x="822960" y="1792224"/>
            <a:ext cx="530352" cy="530352"/>
          </a:xfrm>
          <a:prstGeom prst="ellipse">
            <a:avLst/>
          </a:pr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350" b="1" dirty="0">
                <a:solidFill>
                  <a:srgbClr val="E3C567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24" name="Tag"/>
          <p:cNvSpPr/>
          <p:nvPr/>
        </p:nvSpPr>
        <p:spPr>
          <a:xfrm>
            <a:off x="2485136" y="1883664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740" b="1" spc="110" dirty="0">
                <a:solidFill>
                  <a:srgbClr val="8A6E10"/>
                </a:solidFill>
                <a:latin typeface="Calibri"/>
                <a:cs typeface="Calibri"/>
              </a:rPr>
              <a:t>REVENUE RISK</a:t>
            </a:r>
          </a:p>
        </p:txBody>
      </p:sp>
      <p:sp>
        <p:nvSpPr>
          <p:cNvPr id="25" name="T"/>
          <p:cNvSpPr/>
          <p:nvPr/>
        </p:nvSpPr>
        <p:spPr>
          <a:xfrm>
            <a:off x="822960" y="2487168"/>
            <a:ext cx="301548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dirty="0">
                <a:solidFill>
                  <a:srgbClr val="5E0B15"/>
                </a:solidFill>
                <a:latin typeface="Georgia"/>
                <a:cs typeface="Georgia"/>
              </a:rPr>
              <a:t>Demand &amp; Fashion-Cycle Risk</a:t>
            </a:r>
          </a:p>
        </p:txBody>
      </p:sp>
      <p:sp>
        <p:nvSpPr>
          <p:cNvPr id="26" name="R"/>
          <p:cNvSpPr/>
          <p:nvPr/>
        </p:nvSpPr>
        <p:spPr>
          <a:xfrm>
            <a:off x="822960" y="3145536"/>
            <a:ext cx="566928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B"/>
          <p:cNvSpPr/>
          <p:nvPr/>
        </p:nvSpPr>
        <p:spPr>
          <a:xfrm>
            <a:off x="822960" y="3310128"/>
            <a:ext cx="3015488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The forecast assumes uninterrupted growth of 12–18% a year for five years. Premium apparel is discretionary and trend-led, exposed to consumption slowdowns, fast-fashion disruption and shifting consumer preference.</a:t>
            </a:r>
          </a:p>
        </p:txBody>
      </p:sp>
      <p:sp>
        <p:nvSpPr>
          <p:cNvPr id="28" name="Q"/>
          <p:cNvSpPr/>
          <p:nvPr/>
        </p:nvSpPr>
        <p:spPr>
          <a:xfrm>
            <a:off x="786384" y="4828032"/>
            <a:ext cx="3088640" cy="603504"/>
          </a:xfrm>
          <a:prstGeom prst="roundRect">
            <a:avLst>
              <a:gd name="adj" fmla="val 7000"/>
            </a:avLst>
          </a:prstGeom>
          <a:solidFill>
            <a:srgbClr val="F6E7EA"/>
          </a:solidFill>
          <a:ln w="8890" cap="flat" cmpd="sng" algn="ctr">
            <a:solidFill>
              <a:srgbClr val="9E1B32"/>
            </a:solidFill>
            <a:prstDash val="solid"/>
            <a:round/>
          </a:ln>
        </p:spPr>
        <p:txBody>
          <a:bodyPr wrap="square" lIns="146304" tIns="82296" rIns="146304" bIns="54864" anchor="t" anchorCtr="0">
            <a:noAutofit/>
          </a:bodyPr>
          <a:lstStyle/>
          <a:p>
            <a:pPr algn="l">
              <a:buNone/>
            </a:pPr>
            <a:r>
              <a:rPr lang="en-IN" sz="740" b="1" spc="150" dirty="0">
                <a:solidFill>
                  <a:srgbClr val="9E1B32"/>
                </a:solidFill>
                <a:latin typeface="Calibri"/>
                <a:cs typeface="Calibri"/>
              </a:rPr>
              <a:t>QUANTIFIED IMPACT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40" b="1" dirty="0">
                <a:solidFill>
                  <a:srgbClr val="5E0B15"/>
                </a:solidFill>
                <a:latin typeface="Calibri"/>
                <a:cs typeface="Calibri"/>
              </a:rPr>
              <a:t>A 10% shortfall in operating cash flows drives NPV to –₹140.73 crore.</a:t>
            </a:r>
          </a:p>
        </p:txBody>
      </p:sp>
      <p:sp>
        <p:nvSpPr>
          <p:cNvPr id="29" name="Card"/>
          <p:cNvSpPr/>
          <p:nvPr/>
        </p:nvSpPr>
        <p:spPr>
          <a:xfrm>
            <a:off x="4368800" y="1572768"/>
            <a:ext cx="34544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Top"/>
          <p:cNvSpPr/>
          <p:nvPr/>
        </p:nvSpPr>
        <p:spPr>
          <a:xfrm>
            <a:off x="4368800" y="1572768"/>
            <a:ext cx="34544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Num"/>
          <p:cNvSpPr/>
          <p:nvPr/>
        </p:nvSpPr>
        <p:spPr>
          <a:xfrm>
            <a:off x="4588256" y="1792224"/>
            <a:ext cx="530352" cy="530352"/>
          </a:xfrm>
          <a:prstGeom prst="ellipse">
            <a:avLst/>
          </a:pr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350" b="1" dirty="0">
                <a:solidFill>
                  <a:srgbClr val="E3C567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32" name="Tag"/>
          <p:cNvSpPr/>
          <p:nvPr/>
        </p:nvSpPr>
        <p:spPr>
          <a:xfrm>
            <a:off x="6250432" y="1883664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740" b="1" spc="110" dirty="0">
                <a:solidFill>
                  <a:srgbClr val="8A6E10"/>
                </a:solidFill>
                <a:latin typeface="Calibri"/>
                <a:cs typeface="Calibri"/>
              </a:rPr>
              <a:t>COST / TIME RISK</a:t>
            </a:r>
          </a:p>
        </p:txBody>
      </p:sp>
      <p:sp>
        <p:nvSpPr>
          <p:cNvPr id="33" name="T"/>
          <p:cNvSpPr/>
          <p:nvPr/>
        </p:nvSpPr>
        <p:spPr>
          <a:xfrm>
            <a:off x="4588256" y="2487168"/>
            <a:ext cx="301548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dirty="0">
                <a:solidFill>
                  <a:srgbClr val="5E0B15"/>
                </a:solidFill>
                <a:latin typeface="Georgia"/>
                <a:cs typeface="Georgia"/>
              </a:rPr>
              <a:t>Capital Overrun &amp; Execution Risk</a:t>
            </a:r>
          </a:p>
        </p:txBody>
      </p:sp>
      <p:sp>
        <p:nvSpPr>
          <p:cNvPr id="34" name="R"/>
          <p:cNvSpPr/>
          <p:nvPr/>
        </p:nvSpPr>
        <p:spPr>
          <a:xfrm>
            <a:off x="4588256" y="3145536"/>
            <a:ext cx="566928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5" name="B"/>
          <p:cNvSpPr/>
          <p:nvPr/>
        </p:nvSpPr>
        <p:spPr>
          <a:xfrm>
            <a:off x="4588256" y="3310128"/>
            <a:ext cx="3015488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Integrated manufacturing means land, imported equipment, long commissioning and a multi-year gestation. Breakeven capex is ₹1,167 crore — the project has effectively zero tolerance for overrun, and delay pushes every inflow one more year of discounting.</a:t>
            </a:r>
          </a:p>
        </p:txBody>
      </p:sp>
      <p:sp>
        <p:nvSpPr>
          <p:cNvPr id="36" name="Q"/>
          <p:cNvSpPr/>
          <p:nvPr/>
        </p:nvSpPr>
        <p:spPr>
          <a:xfrm>
            <a:off x="4551680" y="4828032"/>
            <a:ext cx="3088640" cy="603504"/>
          </a:xfrm>
          <a:prstGeom prst="roundRect">
            <a:avLst>
              <a:gd name="adj" fmla="val 7000"/>
            </a:avLst>
          </a:prstGeom>
          <a:solidFill>
            <a:srgbClr val="F6E7EA"/>
          </a:solidFill>
          <a:ln w="8890" cap="flat" cmpd="sng" algn="ctr">
            <a:solidFill>
              <a:srgbClr val="9E1B32"/>
            </a:solidFill>
            <a:prstDash val="solid"/>
            <a:round/>
          </a:ln>
        </p:spPr>
        <p:txBody>
          <a:bodyPr wrap="square" lIns="146304" tIns="82296" rIns="146304" bIns="54864" anchor="t" anchorCtr="0">
            <a:noAutofit/>
          </a:bodyPr>
          <a:lstStyle/>
          <a:p>
            <a:pPr algn="l">
              <a:buNone/>
            </a:pPr>
            <a:r>
              <a:rPr lang="en-IN" sz="740" b="1" spc="150" dirty="0">
                <a:solidFill>
                  <a:srgbClr val="9E1B32"/>
                </a:solidFill>
                <a:latin typeface="Calibri"/>
                <a:cs typeface="Calibri"/>
              </a:rPr>
              <a:t>QUANTIFIED IMPACT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40" b="1" dirty="0">
                <a:solidFill>
                  <a:srgbClr val="5E0B15"/>
                </a:solidFill>
                <a:latin typeface="Calibri"/>
                <a:cs typeface="Calibri"/>
              </a:rPr>
              <a:t>A 10% overrun costs –₹152.92 crore of NPV.</a:t>
            </a:r>
          </a:p>
        </p:txBody>
      </p:sp>
      <p:sp>
        <p:nvSpPr>
          <p:cNvPr id="37" name="Card"/>
          <p:cNvSpPr/>
          <p:nvPr/>
        </p:nvSpPr>
        <p:spPr>
          <a:xfrm>
            <a:off x="8134096" y="1572768"/>
            <a:ext cx="34544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Top"/>
          <p:cNvSpPr/>
          <p:nvPr/>
        </p:nvSpPr>
        <p:spPr>
          <a:xfrm>
            <a:off x="8134096" y="1572768"/>
            <a:ext cx="3454400" cy="54864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9" name="Num"/>
          <p:cNvSpPr/>
          <p:nvPr/>
        </p:nvSpPr>
        <p:spPr>
          <a:xfrm>
            <a:off x="8353552" y="1792224"/>
            <a:ext cx="530352" cy="530352"/>
          </a:xfrm>
          <a:prstGeom prst="ellipse">
            <a:avLst/>
          </a:pr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350" b="1" dirty="0">
                <a:solidFill>
                  <a:srgbClr val="E3C567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40" name="Tag"/>
          <p:cNvSpPr/>
          <p:nvPr/>
        </p:nvSpPr>
        <p:spPr>
          <a:xfrm>
            <a:off x="10015728" y="1883664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740" b="1" spc="110" dirty="0">
                <a:solidFill>
                  <a:srgbClr val="8A6E10"/>
                </a:solidFill>
                <a:latin typeface="Calibri"/>
                <a:cs typeface="Calibri"/>
              </a:rPr>
              <a:t>TERMINAL-VALUE RISK</a:t>
            </a:r>
          </a:p>
        </p:txBody>
      </p:sp>
      <p:sp>
        <p:nvSpPr>
          <p:cNvPr id="41" name="T"/>
          <p:cNvSpPr/>
          <p:nvPr/>
        </p:nvSpPr>
        <p:spPr>
          <a:xfrm>
            <a:off x="8353552" y="2487168"/>
            <a:ext cx="301548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dirty="0">
                <a:solidFill>
                  <a:srgbClr val="5E0B15"/>
                </a:solidFill>
                <a:latin typeface="Georgia"/>
                <a:cs typeface="Georgia"/>
              </a:rPr>
              <a:t>Utilisation &amp; Obsolescence Risk</a:t>
            </a:r>
          </a:p>
        </p:txBody>
      </p:sp>
      <p:sp>
        <p:nvSpPr>
          <p:cNvPr id="42" name="R"/>
          <p:cNvSpPr/>
          <p:nvPr/>
        </p:nvSpPr>
        <p:spPr>
          <a:xfrm>
            <a:off x="8353552" y="3145536"/>
            <a:ext cx="566928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3" name="B"/>
          <p:cNvSpPr/>
          <p:nvPr/>
        </p:nvSpPr>
        <p:spPr>
          <a:xfrm>
            <a:off x="8353552" y="3310128"/>
            <a:ext cx="3015488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Apparel manufacturing assets are specialised. If utilisation is below plan, or if automation and digital printing reset the technology base, the ₹150 crore residual assumption will not hold.</a:t>
            </a:r>
          </a:p>
        </p:txBody>
      </p:sp>
      <p:sp>
        <p:nvSpPr>
          <p:cNvPr id="44" name="Q"/>
          <p:cNvSpPr/>
          <p:nvPr/>
        </p:nvSpPr>
        <p:spPr>
          <a:xfrm>
            <a:off x="8316976" y="4828032"/>
            <a:ext cx="3088640" cy="603504"/>
          </a:xfrm>
          <a:prstGeom prst="roundRect">
            <a:avLst>
              <a:gd name="adj" fmla="val 7000"/>
            </a:avLst>
          </a:prstGeom>
          <a:solidFill>
            <a:srgbClr val="F6E7EA"/>
          </a:solidFill>
          <a:ln w="8890" cap="flat" cmpd="sng" algn="ctr">
            <a:solidFill>
              <a:srgbClr val="9E1B32"/>
            </a:solidFill>
            <a:prstDash val="solid"/>
            <a:round/>
          </a:ln>
        </p:spPr>
        <p:txBody>
          <a:bodyPr wrap="square" lIns="146304" tIns="82296" rIns="146304" bIns="54864" anchor="t" anchorCtr="0">
            <a:noAutofit/>
          </a:bodyPr>
          <a:lstStyle/>
          <a:p>
            <a:pPr algn="l">
              <a:buNone/>
            </a:pPr>
            <a:r>
              <a:rPr lang="en-IN" sz="740" b="1" spc="150" dirty="0">
                <a:solidFill>
                  <a:srgbClr val="9E1B32"/>
                </a:solidFill>
                <a:latin typeface="Calibri"/>
                <a:cs typeface="Calibri"/>
              </a:rPr>
              <a:t>QUANTIFIED IMPACT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en-IN" sz="940" b="1" dirty="0">
                <a:solidFill>
                  <a:srgbClr val="5E0B15"/>
                </a:solidFill>
                <a:latin typeface="Calibri"/>
                <a:cs typeface="Calibri"/>
              </a:rPr>
              <a:t>If salvage proves worthless, NPV falls to –₹121.94 crore.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QUESTION 4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Managerial Actions to Mitigate the Risks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Each action is mapped to the risk it addresses and to the NPV lever it moves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13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3454400" cy="3218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Hdr"/>
          <p:cNvSpPr/>
          <p:nvPr/>
        </p:nvSpPr>
        <p:spPr>
          <a:xfrm>
            <a:off x="603504" y="1572768"/>
            <a:ext cx="3454400" cy="566928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H"/>
          <p:cNvSpPr/>
          <p:nvPr/>
        </p:nvSpPr>
        <p:spPr>
          <a:xfrm>
            <a:off x="804672" y="1664208"/>
            <a:ext cx="30520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760" b="1" spc="150" dirty="0">
                <a:solidFill>
                  <a:srgbClr val="E3C567"/>
                </a:solidFill>
                <a:latin typeface="Calibri"/>
                <a:cs typeface="Calibri"/>
              </a:rPr>
              <a:t>RISK 01  ·  MITIGATION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140" b="1" dirty="0">
                <a:solidFill>
                  <a:srgbClr val="FFFFFF"/>
                </a:solidFill>
                <a:latin typeface="Georgia"/>
                <a:cs typeface="Georgia"/>
              </a:rPr>
              <a:t>Demand &amp; Fashion-Cycle Risk</a:t>
            </a:r>
          </a:p>
        </p:txBody>
      </p:sp>
      <p:sp>
        <p:nvSpPr>
          <p:cNvPr id="24" name="A"/>
          <p:cNvSpPr/>
          <p:nvPr/>
        </p:nvSpPr>
        <p:spPr>
          <a:xfrm>
            <a:off x="822960" y="2267712"/>
            <a:ext cx="3015488" cy="2432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192024" indent="-192024" algn="l">
              <a:lnSpc>
                <a:spcPct val="118000"/>
              </a:lnSpc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Build in modular phases — commission Phase 1 at 50–60% of planned capacity and expand only on proven utilisation.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Secure internal off-take commitments from Louis Philippe, Van Heusen, Allen Solly and Peter England to anchor baseline volumes.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Sell surplus capacity as third-party contract manufacturing so fixed costs are not carried by own brands alone.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Retain a hybrid make-versus-buy model so external vendors continue to absorb peak and fashion-cycle volatility.</a:t>
            </a:r>
          </a:p>
        </p:txBody>
      </p:sp>
      <p:sp>
        <p:nvSpPr>
          <p:cNvPr id="25" name="Card"/>
          <p:cNvSpPr/>
          <p:nvPr/>
        </p:nvSpPr>
        <p:spPr>
          <a:xfrm>
            <a:off x="4368800" y="1572768"/>
            <a:ext cx="3454400" cy="3218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Hdr"/>
          <p:cNvSpPr/>
          <p:nvPr/>
        </p:nvSpPr>
        <p:spPr>
          <a:xfrm>
            <a:off x="4368800" y="1572768"/>
            <a:ext cx="3454400" cy="566928"/>
          </a:xfrm>
          <a:prstGeom prst="rect">
            <a:avLst/>
          </a:prstGeom>
          <a:gradFill flip="none" rotWithShape="1">
            <a:gsLst>
              <a:gs pos="0">
                <a:srgbClr val="8A6E10"/>
              </a:gs>
              <a:gs pos="100000">
                <a:srgbClr val="C9A227"/>
              </a:gs>
            </a:gsLst>
            <a:lin ang="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H"/>
          <p:cNvSpPr/>
          <p:nvPr/>
        </p:nvSpPr>
        <p:spPr>
          <a:xfrm>
            <a:off x="4569968" y="1664208"/>
            <a:ext cx="30520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760" b="1" spc="150" dirty="0">
                <a:solidFill>
                  <a:srgbClr val="FFF3D0"/>
                </a:solidFill>
                <a:latin typeface="Calibri"/>
                <a:cs typeface="Calibri"/>
              </a:rPr>
              <a:t>RISK 02  ·  MITIGATION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140" b="1" dirty="0">
                <a:solidFill>
                  <a:srgbClr val="FFFFFF"/>
                </a:solidFill>
                <a:latin typeface="Georgia"/>
                <a:cs typeface="Georgia"/>
              </a:rPr>
              <a:t>Capital Overrun &amp; Execution Risk</a:t>
            </a:r>
          </a:p>
        </p:txBody>
      </p:sp>
      <p:sp>
        <p:nvSpPr>
          <p:cNvPr id="28" name="A"/>
          <p:cNvSpPr/>
          <p:nvPr/>
        </p:nvSpPr>
        <p:spPr>
          <a:xfrm>
            <a:off x="4588256" y="2267712"/>
            <a:ext cx="3015488" cy="2432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192024" indent="-192024" algn="l">
              <a:lnSpc>
                <a:spcPct val="118000"/>
              </a:lnSpc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Award a fixed-price lump-sum turnkey EPC contract with liquidated-damages clauses for delay and cost escalation.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Release funds through stage gates tied to construction and commissioning milestones, not on a calendar schedule.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Re-tender and value-engineer to bring capex below the ₹1,167 crore breakeven; consider a brownfield site to cut land cost.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Hedge foreign-exchange exposure on imported machinery and ring-fence contingency inside the ₹1,200 crore, not on top of it.</a:t>
            </a:r>
          </a:p>
        </p:txBody>
      </p:sp>
      <p:sp>
        <p:nvSpPr>
          <p:cNvPr id="29" name="Card"/>
          <p:cNvSpPr/>
          <p:nvPr/>
        </p:nvSpPr>
        <p:spPr>
          <a:xfrm>
            <a:off x="8134096" y="1572768"/>
            <a:ext cx="3454400" cy="3218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Hdr"/>
          <p:cNvSpPr/>
          <p:nvPr/>
        </p:nvSpPr>
        <p:spPr>
          <a:xfrm>
            <a:off x="8134096" y="1572768"/>
            <a:ext cx="3454400" cy="566928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1" name="H"/>
          <p:cNvSpPr/>
          <p:nvPr/>
        </p:nvSpPr>
        <p:spPr>
          <a:xfrm>
            <a:off x="8335264" y="1664208"/>
            <a:ext cx="30520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760" b="1" spc="150" dirty="0">
                <a:solidFill>
                  <a:srgbClr val="E3C567"/>
                </a:solidFill>
                <a:latin typeface="Calibri"/>
                <a:cs typeface="Calibri"/>
              </a:rPr>
              <a:t>RISK 03  ·  MITIGATION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140" b="1" dirty="0">
                <a:solidFill>
                  <a:srgbClr val="FFFFFF"/>
                </a:solidFill>
                <a:latin typeface="Georgia"/>
                <a:cs typeface="Georgia"/>
              </a:rPr>
              <a:t>Utilisation &amp; Obsolescence Risk</a:t>
            </a:r>
          </a:p>
        </p:txBody>
      </p:sp>
      <p:sp>
        <p:nvSpPr>
          <p:cNvPr id="32" name="A"/>
          <p:cNvSpPr/>
          <p:nvPr/>
        </p:nvSpPr>
        <p:spPr>
          <a:xfrm>
            <a:off x="8353552" y="2267712"/>
            <a:ext cx="3015488" cy="2432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192024" indent="-192024" algn="l">
              <a:lnSpc>
                <a:spcPct val="118000"/>
              </a:lnSpc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Specify flexible, retrofittable equipment so the line can be re-tooled rather than replaced as technology moves.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Negotiate OEM buy-back or residual-value guarantees to convert the salvage assumption into a contractual floor.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Keep a sale-and-leaseback or asset-light route open for non-core lines to release capital if utilisation disappoints.</a:t>
            </a:r>
          </a:p>
          <a:p>
            <a:pPr marL="192024" indent="-192024" algn="l">
              <a:lnSpc>
                <a:spcPct val="118000"/>
              </a:lnSpc>
              <a:spcBef>
                <a:spcPts val="700"/>
              </a:spcBef>
              <a:buClr>
                <a:srgbClr val="C9A227"/>
              </a:buClr>
              <a:buFont typeface="Arial" pitchFamily="34" charset="0"/>
              <a:buChar char="▪"/>
            </a:pPr>
            <a:r>
              <a:rPr lang="en-IN" sz="970" dirty="0">
                <a:solidFill>
                  <a:srgbClr val="4A4A55"/>
                </a:solidFill>
                <a:latin typeface="Calibri"/>
                <a:cs typeface="Calibri"/>
              </a:rPr>
              <a:t>Run a formal post-completion audit at Year 3 and Year 5, with a defined abandonment option if performance lags.</a:t>
            </a:r>
          </a:p>
        </p:txBody>
      </p:sp>
      <p:sp>
        <p:nvSpPr>
          <p:cNvPr id="33" name="Card"/>
          <p:cNvSpPr/>
          <p:nvPr/>
        </p:nvSpPr>
        <p:spPr>
          <a:xfrm>
            <a:off x="603504" y="4956048"/>
            <a:ext cx="10984992" cy="932688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B"/>
          <p:cNvSpPr/>
          <p:nvPr/>
        </p:nvSpPr>
        <p:spPr>
          <a:xfrm>
            <a:off x="603504" y="4956048"/>
            <a:ext cx="50292" cy="9326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5" name="Cross"/>
          <p:cNvSpPr/>
          <p:nvPr/>
        </p:nvSpPr>
        <p:spPr>
          <a:xfrm>
            <a:off x="896112" y="5074920"/>
            <a:ext cx="1039977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90" dirty="0">
                <a:solidFill>
                  <a:srgbClr val="E3C567"/>
                </a:solidFill>
                <a:latin typeface="Calibri"/>
                <a:cs typeface="Calibri"/>
              </a:rPr>
              <a:t>CROSS-CUTTING FINANCIAL ACTIONS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IN" sz="1030" dirty="0">
                <a:solidFill>
                  <a:srgbClr val="EFDCDF"/>
                </a:solidFill>
                <a:latin typeface="Calibri"/>
                <a:cs typeface="Calibri"/>
              </a:rPr>
              <a:t>Lower the hurdle itself — cheaper debt or a sale-and-leaseback structure reduces WACC, and NPV turns positive at 10.04%.   •   Treat the investment as a real option: phasing creates the option to expand or abandon, which a single-shot DCF cannot value.   •   Re-appraise NPV at every gate using refreshed volume and cost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IMPLEMENTATION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A Stage-Gate Path to a Viable Project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Converting the recommendation into a governance process — capital is released only as uncertainty is resolved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14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Line"/>
          <p:cNvSpPr/>
          <p:nvPr/>
        </p:nvSpPr>
        <p:spPr>
          <a:xfrm>
            <a:off x="1614220" y="1975104"/>
            <a:ext cx="8963559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Node"/>
          <p:cNvSpPr/>
          <p:nvPr/>
        </p:nvSpPr>
        <p:spPr>
          <a:xfrm>
            <a:off x="1422196" y="1792224"/>
            <a:ext cx="384048" cy="384048"/>
          </a:xfrm>
          <a:prstGeom prst="ellipse">
            <a:avLst/>
          </a:prstGeom>
          <a:solidFill>
            <a:srgbClr val="5E0B15"/>
          </a:solidFill>
          <a:ln w="1524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E3C567"/>
                </a:solidFill>
                <a:latin typeface="Georgia"/>
                <a:cs typeface="Georgia"/>
              </a:rPr>
              <a:t>0</a:t>
            </a:r>
          </a:p>
        </p:txBody>
      </p:sp>
      <p:sp>
        <p:nvSpPr>
          <p:cNvPr id="23" name="Card"/>
          <p:cNvSpPr/>
          <p:nvPr/>
        </p:nvSpPr>
        <p:spPr>
          <a:xfrm>
            <a:off x="603504" y="2359152"/>
            <a:ext cx="2021433" cy="2487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4" name="Accent"/>
          <p:cNvSpPr/>
          <p:nvPr/>
        </p:nvSpPr>
        <p:spPr>
          <a:xfrm>
            <a:off x="603504" y="2359152"/>
            <a:ext cx="45720" cy="248716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5" name="G"/>
          <p:cNvSpPr/>
          <p:nvPr/>
        </p:nvSpPr>
        <p:spPr>
          <a:xfrm>
            <a:off x="804672" y="2487168"/>
            <a:ext cx="1619097" cy="1572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70" dirty="0">
                <a:solidFill>
                  <a:srgbClr val="C9A227"/>
                </a:solidFill>
                <a:latin typeface="Calibri"/>
                <a:cs typeface="Calibri"/>
              </a:rPr>
              <a:t>GATE 0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Re-underwrite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0–3 months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Re-tender capex, validate volume assumptions with brand teams, stress-test salvage.</a:t>
            </a:r>
          </a:p>
        </p:txBody>
      </p:sp>
      <p:sp>
        <p:nvSpPr>
          <p:cNvPr id="26" name="Test"/>
          <p:cNvSpPr/>
          <p:nvPr/>
        </p:nvSpPr>
        <p:spPr>
          <a:xfrm>
            <a:off x="768096" y="4187952"/>
            <a:ext cx="1692249" cy="493776"/>
          </a:xfrm>
          <a:prstGeom prst="roundRect">
            <a:avLst>
              <a:gd name="adj" fmla="val 8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128016" tIns="73152" rIns="109728" bIns="54864" anchor="ctr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880" b="1" dirty="0">
                <a:solidFill>
                  <a:srgbClr val="8A6E10"/>
                </a:solidFill>
                <a:latin typeface="Calibri"/>
                <a:cs typeface="Calibri"/>
              </a:rPr>
              <a:t>Target: capex ≤ ₹1,167 cr</a:t>
            </a:r>
          </a:p>
        </p:txBody>
      </p:sp>
      <p:sp>
        <p:nvSpPr>
          <p:cNvPr id="27" name="Node"/>
          <p:cNvSpPr/>
          <p:nvPr/>
        </p:nvSpPr>
        <p:spPr>
          <a:xfrm>
            <a:off x="3663085" y="1792224"/>
            <a:ext cx="384048" cy="384048"/>
          </a:xfrm>
          <a:prstGeom prst="ellipse">
            <a:avLst/>
          </a:prstGeom>
          <a:solidFill>
            <a:srgbClr val="5E0B15"/>
          </a:solidFill>
          <a:ln w="1524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E3C567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28" name="Card"/>
          <p:cNvSpPr/>
          <p:nvPr/>
        </p:nvSpPr>
        <p:spPr>
          <a:xfrm>
            <a:off x="2844393" y="2359152"/>
            <a:ext cx="2021433" cy="2487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9" name="Accent"/>
          <p:cNvSpPr/>
          <p:nvPr/>
        </p:nvSpPr>
        <p:spPr>
          <a:xfrm>
            <a:off x="2844393" y="2359152"/>
            <a:ext cx="45720" cy="24871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G"/>
          <p:cNvSpPr/>
          <p:nvPr/>
        </p:nvSpPr>
        <p:spPr>
          <a:xfrm>
            <a:off x="3045561" y="2487168"/>
            <a:ext cx="1619097" cy="1572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70" dirty="0">
                <a:solidFill>
                  <a:srgbClr val="C9A227"/>
                </a:solidFill>
                <a:latin typeface="Calibri"/>
                <a:cs typeface="Calibri"/>
              </a:rPr>
              <a:t>GATE 1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Sanction Phase 1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3–9 months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Approve 50–60% of capacity only. Fixed-price EPC award with liquidated damages.</a:t>
            </a:r>
          </a:p>
        </p:txBody>
      </p:sp>
      <p:sp>
        <p:nvSpPr>
          <p:cNvPr id="31" name="Test"/>
          <p:cNvSpPr/>
          <p:nvPr/>
        </p:nvSpPr>
        <p:spPr>
          <a:xfrm>
            <a:off x="3008985" y="4187952"/>
            <a:ext cx="1692249" cy="493776"/>
          </a:xfrm>
          <a:prstGeom prst="roundRect">
            <a:avLst>
              <a:gd name="adj" fmla="val 8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128016" tIns="73152" rIns="109728" bIns="54864" anchor="ctr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880" b="1" dirty="0">
                <a:solidFill>
                  <a:srgbClr val="8A6E10"/>
                </a:solidFill>
                <a:latin typeface="Calibri"/>
                <a:cs typeface="Calibri"/>
              </a:rPr>
              <a:t>Test: refreshed NPV &gt; 0</a:t>
            </a:r>
          </a:p>
        </p:txBody>
      </p:sp>
      <p:sp>
        <p:nvSpPr>
          <p:cNvPr id="32" name="Node"/>
          <p:cNvSpPr/>
          <p:nvPr/>
        </p:nvSpPr>
        <p:spPr>
          <a:xfrm>
            <a:off x="5903974" y="1792224"/>
            <a:ext cx="384048" cy="384048"/>
          </a:xfrm>
          <a:prstGeom prst="ellipse">
            <a:avLst/>
          </a:prstGeom>
          <a:solidFill>
            <a:srgbClr val="5E0B15"/>
          </a:solidFill>
          <a:ln w="1524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E3C567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33" name="Card"/>
          <p:cNvSpPr/>
          <p:nvPr/>
        </p:nvSpPr>
        <p:spPr>
          <a:xfrm>
            <a:off x="5085282" y="2359152"/>
            <a:ext cx="2021433" cy="2487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Accent"/>
          <p:cNvSpPr/>
          <p:nvPr/>
        </p:nvSpPr>
        <p:spPr>
          <a:xfrm>
            <a:off x="5085282" y="2359152"/>
            <a:ext cx="45720" cy="248716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5" name="G"/>
          <p:cNvSpPr/>
          <p:nvPr/>
        </p:nvSpPr>
        <p:spPr>
          <a:xfrm>
            <a:off x="5286450" y="2487168"/>
            <a:ext cx="1619097" cy="1572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70" dirty="0">
                <a:solidFill>
                  <a:srgbClr val="C9A227"/>
                </a:solidFill>
                <a:latin typeface="Calibri"/>
                <a:cs typeface="Calibri"/>
              </a:rPr>
              <a:t>GATE 2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Build &amp; commission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9–24 months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Milestone-linked drawdown, forex hedges executed, off-take agreements signed.</a:t>
            </a:r>
          </a:p>
        </p:txBody>
      </p:sp>
      <p:sp>
        <p:nvSpPr>
          <p:cNvPr id="36" name="Test"/>
          <p:cNvSpPr/>
          <p:nvPr/>
        </p:nvSpPr>
        <p:spPr>
          <a:xfrm>
            <a:off x="5249874" y="4187952"/>
            <a:ext cx="1692249" cy="493776"/>
          </a:xfrm>
          <a:prstGeom prst="roundRect">
            <a:avLst>
              <a:gd name="adj" fmla="val 8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128016" tIns="73152" rIns="109728" bIns="54864" anchor="ctr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880" b="1" dirty="0">
                <a:solidFill>
                  <a:srgbClr val="8A6E10"/>
                </a:solidFill>
                <a:latin typeface="Calibri"/>
                <a:cs typeface="Calibri"/>
              </a:rPr>
              <a:t>Test: on budget, on schedule</a:t>
            </a:r>
          </a:p>
        </p:txBody>
      </p:sp>
      <p:sp>
        <p:nvSpPr>
          <p:cNvPr id="37" name="Node"/>
          <p:cNvSpPr/>
          <p:nvPr/>
        </p:nvSpPr>
        <p:spPr>
          <a:xfrm>
            <a:off x="8144863" y="1792224"/>
            <a:ext cx="384048" cy="384048"/>
          </a:xfrm>
          <a:prstGeom prst="ellipse">
            <a:avLst/>
          </a:prstGeom>
          <a:solidFill>
            <a:srgbClr val="5E0B15"/>
          </a:solidFill>
          <a:ln w="1524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E3C567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38" name="Card"/>
          <p:cNvSpPr/>
          <p:nvPr/>
        </p:nvSpPr>
        <p:spPr>
          <a:xfrm>
            <a:off x="7326171" y="2359152"/>
            <a:ext cx="2021433" cy="2487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9" name="Accent"/>
          <p:cNvSpPr/>
          <p:nvPr/>
        </p:nvSpPr>
        <p:spPr>
          <a:xfrm>
            <a:off x="7326171" y="2359152"/>
            <a:ext cx="45720" cy="24871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G"/>
          <p:cNvSpPr/>
          <p:nvPr/>
        </p:nvSpPr>
        <p:spPr>
          <a:xfrm>
            <a:off x="7527339" y="2487168"/>
            <a:ext cx="1619097" cy="1572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70" dirty="0">
                <a:solidFill>
                  <a:srgbClr val="C9A227"/>
                </a:solidFill>
                <a:latin typeface="Calibri"/>
                <a:cs typeface="Calibri"/>
              </a:rPr>
              <a:t>GATE 3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Phase 2 expansion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Year 3 onward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Expand only if Phase 1 utilisation and realised margins confirm the business case.</a:t>
            </a:r>
          </a:p>
        </p:txBody>
      </p:sp>
      <p:sp>
        <p:nvSpPr>
          <p:cNvPr id="41" name="Test"/>
          <p:cNvSpPr/>
          <p:nvPr/>
        </p:nvSpPr>
        <p:spPr>
          <a:xfrm>
            <a:off x="7490763" y="4187952"/>
            <a:ext cx="1692249" cy="493776"/>
          </a:xfrm>
          <a:prstGeom prst="roundRect">
            <a:avLst>
              <a:gd name="adj" fmla="val 8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128016" tIns="73152" rIns="109728" bIns="54864" anchor="ctr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880" b="1" dirty="0">
                <a:solidFill>
                  <a:srgbClr val="8A6E10"/>
                </a:solidFill>
                <a:latin typeface="Calibri"/>
                <a:cs typeface="Calibri"/>
              </a:rPr>
              <a:t>Test: utilisation ≥ plan</a:t>
            </a:r>
          </a:p>
        </p:txBody>
      </p:sp>
      <p:sp>
        <p:nvSpPr>
          <p:cNvPr id="42" name="Node"/>
          <p:cNvSpPr/>
          <p:nvPr/>
        </p:nvSpPr>
        <p:spPr>
          <a:xfrm>
            <a:off x="10385752" y="1792224"/>
            <a:ext cx="384048" cy="384048"/>
          </a:xfrm>
          <a:prstGeom prst="ellipse">
            <a:avLst/>
          </a:prstGeom>
          <a:solidFill>
            <a:srgbClr val="5E0B15"/>
          </a:solidFill>
          <a:ln w="1524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00" b="1" dirty="0">
                <a:solidFill>
                  <a:srgbClr val="E3C567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43" name="Card"/>
          <p:cNvSpPr/>
          <p:nvPr/>
        </p:nvSpPr>
        <p:spPr>
          <a:xfrm>
            <a:off x="9567060" y="2359152"/>
            <a:ext cx="2021433" cy="2487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4" name="Accent"/>
          <p:cNvSpPr/>
          <p:nvPr/>
        </p:nvSpPr>
        <p:spPr>
          <a:xfrm>
            <a:off x="9567060" y="2359152"/>
            <a:ext cx="45720" cy="248716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5" name="G"/>
          <p:cNvSpPr/>
          <p:nvPr/>
        </p:nvSpPr>
        <p:spPr>
          <a:xfrm>
            <a:off x="9768228" y="2487168"/>
            <a:ext cx="1619097" cy="1572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70" dirty="0">
                <a:solidFill>
                  <a:srgbClr val="C9A227"/>
                </a:solidFill>
                <a:latin typeface="Calibri"/>
                <a:cs typeface="Calibri"/>
              </a:rPr>
              <a:t>GATE 4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IN" sz="1300" b="1" dirty="0">
                <a:solidFill>
                  <a:srgbClr val="5E0B15"/>
                </a:solidFill>
                <a:latin typeface="Georgia"/>
                <a:cs typeface="Georgia"/>
              </a:rPr>
              <a:t>Post-completion audit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880" i="1" dirty="0">
                <a:solidFill>
                  <a:srgbClr val="7A7A85"/>
                </a:solidFill>
                <a:latin typeface="Calibri"/>
                <a:cs typeface="Calibri"/>
              </a:rPr>
              <a:t>Year 5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Compare actuals against this appraisal; exercise leaseback or exit if performance lags.</a:t>
            </a:r>
          </a:p>
        </p:txBody>
      </p:sp>
      <p:sp>
        <p:nvSpPr>
          <p:cNvPr id="46" name="Test"/>
          <p:cNvSpPr/>
          <p:nvPr/>
        </p:nvSpPr>
        <p:spPr>
          <a:xfrm>
            <a:off x="9731652" y="4187952"/>
            <a:ext cx="1692249" cy="493776"/>
          </a:xfrm>
          <a:prstGeom prst="roundRect">
            <a:avLst>
              <a:gd name="adj" fmla="val 8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128016" tIns="73152" rIns="109728" bIns="54864" anchor="ctr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880" b="1" dirty="0">
                <a:solidFill>
                  <a:srgbClr val="8A6E10"/>
                </a:solidFill>
                <a:latin typeface="Calibri"/>
                <a:cs typeface="Calibri"/>
              </a:rPr>
              <a:t>Test: residual value verified</a:t>
            </a:r>
          </a:p>
        </p:txBody>
      </p:sp>
      <p:sp>
        <p:nvSpPr>
          <p:cNvPr id="47" name="Card"/>
          <p:cNvSpPr/>
          <p:nvPr/>
        </p:nvSpPr>
        <p:spPr>
          <a:xfrm>
            <a:off x="603504" y="5029200"/>
            <a:ext cx="10984992" cy="731520"/>
          </a:xfrm>
          <a:prstGeom prst="roundRect">
            <a:avLst>
              <a:gd name="adj" fmla="val 4000"/>
            </a:avLst>
          </a:prstGeom>
          <a:solidFill>
            <a:srgbClr val="F6E7EA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8" name="Accent"/>
          <p:cNvSpPr/>
          <p:nvPr/>
        </p:nvSpPr>
        <p:spPr>
          <a:xfrm>
            <a:off x="603504" y="5029200"/>
            <a:ext cx="45720" cy="73152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9" name="Rule"/>
          <p:cNvSpPr/>
          <p:nvPr/>
        </p:nvSpPr>
        <p:spPr>
          <a:xfrm>
            <a:off x="877824" y="5239512"/>
            <a:ext cx="10436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140" dirty="0">
                <a:solidFill>
                  <a:srgbClr val="9E1B32"/>
                </a:solidFill>
                <a:latin typeface="Calibri"/>
                <a:cs typeface="Calibri"/>
              </a:rPr>
              <a:t>GOVERNING RULE AT EVERY GATE:  </a:t>
            </a: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proceed only if the NPV recalculated on current data is positive — sunk cost from an earlier gate is never a reason to fund the next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Conclusion &amp; Key Takeaways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88720"/>
            <a:ext cx="979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Bringing the four questions back to a single, defensible position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Lingesh K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OSI2509030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15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16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2021433" cy="786384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Met"/>
          <p:cNvSpPr/>
          <p:nvPr/>
        </p:nvSpPr>
        <p:spPr>
          <a:xfrm>
            <a:off x="603504" y="1682496"/>
            <a:ext cx="202143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00" b="1" spc="150" dirty="0">
                <a:solidFill>
                  <a:srgbClr val="E3C567"/>
                </a:solidFill>
                <a:latin typeface="Calibri"/>
                <a:cs typeface="Calibri"/>
              </a:rPr>
              <a:t>NPV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50" b="1" dirty="0">
                <a:solidFill>
                  <a:srgbClr val="FFFFFF"/>
                </a:solidFill>
                <a:latin typeface="Georgia"/>
                <a:cs typeface="Georgia"/>
              </a:rPr>
              <a:t>–₹32.92 cr</a:t>
            </a:r>
          </a:p>
        </p:txBody>
      </p:sp>
      <p:sp>
        <p:nvSpPr>
          <p:cNvPr id="23" name="Card"/>
          <p:cNvSpPr/>
          <p:nvPr/>
        </p:nvSpPr>
        <p:spPr>
          <a:xfrm>
            <a:off x="2844393" y="1572768"/>
            <a:ext cx="2021433" cy="786384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4" name="Met"/>
          <p:cNvSpPr/>
          <p:nvPr/>
        </p:nvSpPr>
        <p:spPr>
          <a:xfrm>
            <a:off x="2844393" y="1682496"/>
            <a:ext cx="202143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00" b="1" spc="150" dirty="0">
                <a:solidFill>
                  <a:srgbClr val="E3C567"/>
                </a:solidFill>
                <a:latin typeface="Calibri"/>
                <a:cs typeface="Calibri"/>
              </a:rPr>
              <a:t>IRR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50" b="1" dirty="0">
                <a:solidFill>
                  <a:srgbClr val="FFFFFF"/>
                </a:solidFill>
                <a:latin typeface="Georgia"/>
                <a:cs typeface="Georgia"/>
              </a:rPr>
              <a:t>10.04%</a:t>
            </a:r>
          </a:p>
        </p:txBody>
      </p:sp>
      <p:sp>
        <p:nvSpPr>
          <p:cNvPr id="25" name="Card"/>
          <p:cNvSpPr/>
          <p:nvPr/>
        </p:nvSpPr>
        <p:spPr>
          <a:xfrm>
            <a:off x="5085282" y="1572768"/>
            <a:ext cx="2021433" cy="786384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Met"/>
          <p:cNvSpPr/>
          <p:nvPr/>
        </p:nvSpPr>
        <p:spPr>
          <a:xfrm>
            <a:off x="5085282" y="1682496"/>
            <a:ext cx="202143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00" b="1" spc="150" dirty="0">
                <a:solidFill>
                  <a:srgbClr val="E3C567"/>
                </a:solidFill>
                <a:latin typeface="Calibri"/>
                <a:cs typeface="Calibri"/>
              </a:rPr>
              <a:t>PAYBACK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50" b="1" dirty="0">
                <a:solidFill>
                  <a:srgbClr val="FFFFFF"/>
                </a:solidFill>
                <a:latin typeface="Georgia"/>
                <a:cs typeface="Georgia"/>
              </a:rPr>
              <a:t>4.21 yrs</a:t>
            </a:r>
          </a:p>
        </p:txBody>
      </p:sp>
      <p:sp>
        <p:nvSpPr>
          <p:cNvPr id="27" name="Card"/>
          <p:cNvSpPr/>
          <p:nvPr/>
        </p:nvSpPr>
        <p:spPr>
          <a:xfrm>
            <a:off x="7326171" y="1572768"/>
            <a:ext cx="2021433" cy="786384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Met"/>
          <p:cNvSpPr/>
          <p:nvPr/>
        </p:nvSpPr>
        <p:spPr>
          <a:xfrm>
            <a:off x="7326171" y="1682496"/>
            <a:ext cx="202143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00" b="1" spc="150" dirty="0">
                <a:solidFill>
                  <a:srgbClr val="E3C567"/>
                </a:solidFill>
                <a:latin typeface="Calibri"/>
                <a:cs typeface="Calibri"/>
              </a:rPr>
              <a:t>DISC. PAYBACK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50" b="1" dirty="0">
                <a:solidFill>
                  <a:srgbClr val="FFFFFF"/>
                </a:solidFill>
                <a:latin typeface="Georgia"/>
                <a:cs typeface="Georgia"/>
              </a:rPr>
              <a:t>&gt; 5 yrs</a:t>
            </a:r>
          </a:p>
        </p:txBody>
      </p:sp>
      <p:sp>
        <p:nvSpPr>
          <p:cNvPr id="29" name="Card"/>
          <p:cNvSpPr/>
          <p:nvPr/>
        </p:nvSpPr>
        <p:spPr>
          <a:xfrm>
            <a:off x="9567060" y="1572768"/>
            <a:ext cx="2021433" cy="786384"/>
          </a:xfrm>
          <a:prstGeom prst="roundRect">
            <a:avLst>
              <a:gd name="adj" fmla="val 4000"/>
            </a:avLst>
          </a:prstGeom>
          <a:solidFill>
            <a:srgbClr val="5E0B15"/>
          </a:soli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Met"/>
          <p:cNvSpPr/>
          <p:nvPr/>
        </p:nvSpPr>
        <p:spPr>
          <a:xfrm>
            <a:off x="9567060" y="1682496"/>
            <a:ext cx="202143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00" b="1" spc="150" dirty="0">
                <a:solidFill>
                  <a:srgbClr val="E3C567"/>
                </a:solidFill>
                <a:latin typeface="Calibri"/>
                <a:cs typeface="Calibri"/>
              </a:rPr>
              <a:t>PI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50" b="1" dirty="0">
                <a:solidFill>
                  <a:srgbClr val="FFFFFF"/>
                </a:solidFill>
                <a:latin typeface="Georgia"/>
                <a:cs typeface="Georgia"/>
              </a:rPr>
              <a:t>0.973</a:t>
            </a:r>
          </a:p>
        </p:txBody>
      </p:sp>
      <p:sp>
        <p:nvSpPr>
          <p:cNvPr id="31" name="H1"/>
          <p:cNvSpPr/>
          <p:nvPr/>
        </p:nvSpPr>
        <p:spPr>
          <a:xfrm>
            <a:off x="603504" y="2542032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70" dirty="0">
                <a:solidFill>
                  <a:srgbClr val="9E1B32"/>
                </a:solidFill>
                <a:latin typeface="Calibri"/>
                <a:cs typeface="Calibri"/>
              </a:rPr>
              <a:t>WHAT THE ANALYSIS ESTABLISHED</a:t>
            </a:r>
          </a:p>
        </p:txBody>
      </p:sp>
      <p:sp>
        <p:nvSpPr>
          <p:cNvPr id="32" name="Card"/>
          <p:cNvSpPr/>
          <p:nvPr/>
        </p:nvSpPr>
        <p:spPr>
          <a:xfrm>
            <a:off x="603504" y="2798064"/>
            <a:ext cx="61264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Accent"/>
          <p:cNvSpPr/>
          <p:nvPr/>
        </p:nvSpPr>
        <p:spPr>
          <a:xfrm>
            <a:off x="603504" y="2798064"/>
            <a:ext cx="41148" cy="73152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Dot"/>
          <p:cNvSpPr/>
          <p:nvPr/>
        </p:nvSpPr>
        <p:spPr>
          <a:xfrm>
            <a:off x="786384" y="3017520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35" name="T"/>
          <p:cNvSpPr/>
          <p:nvPr/>
        </p:nvSpPr>
        <p:spPr>
          <a:xfrm>
            <a:off x="1170432" y="2889504"/>
            <a:ext cx="535838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20" b="1" dirty="0">
                <a:solidFill>
                  <a:srgbClr val="5E0B15"/>
                </a:solidFill>
                <a:latin typeface="Calibri"/>
                <a:cs typeface="Calibri"/>
              </a:rPr>
              <a:t>The project fails on every time-value measure.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NPV, IRR, discounted payback and PI all reject it. Only nominal payback looks acceptable, and that measure ignores the cost of capital entirely.</a:t>
            </a:r>
          </a:p>
        </p:txBody>
      </p:sp>
      <p:sp>
        <p:nvSpPr>
          <p:cNvPr id="36" name="Card"/>
          <p:cNvSpPr/>
          <p:nvPr/>
        </p:nvSpPr>
        <p:spPr>
          <a:xfrm>
            <a:off x="603504" y="3593592"/>
            <a:ext cx="61264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Accent"/>
          <p:cNvSpPr/>
          <p:nvPr/>
        </p:nvSpPr>
        <p:spPr>
          <a:xfrm>
            <a:off x="603504" y="3593592"/>
            <a:ext cx="41148" cy="73152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Dot"/>
          <p:cNvSpPr/>
          <p:nvPr/>
        </p:nvSpPr>
        <p:spPr>
          <a:xfrm>
            <a:off x="786384" y="3813048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39" name="T"/>
          <p:cNvSpPr/>
          <p:nvPr/>
        </p:nvSpPr>
        <p:spPr>
          <a:xfrm>
            <a:off x="1170432" y="3685032"/>
            <a:ext cx="535838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20" b="1" dirty="0">
                <a:solidFill>
                  <a:srgbClr val="5E0B15"/>
                </a:solidFill>
                <a:latin typeface="Calibri"/>
                <a:cs typeface="Calibri"/>
              </a:rPr>
              <a:t>It fails narrowly, not fundamentally.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₹32.92 crore is 2.7% of the outlay. This is a pricing, negotiation and phasing problem — not evidence that backward integration is the wrong strategy.</a:t>
            </a:r>
          </a:p>
        </p:txBody>
      </p:sp>
      <p:sp>
        <p:nvSpPr>
          <p:cNvPr id="40" name="Card"/>
          <p:cNvSpPr/>
          <p:nvPr/>
        </p:nvSpPr>
        <p:spPr>
          <a:xfrm>
            <a:off x="603504" y="4389120"/>
            <a:ext cx="61264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1" name="Accent"/>
          <p:cNvSpPr/>
          <p:nvPr/>
        </p:nvSpPr>
        <p:spPr>
          <a:xfrm>
            <a:off x="603504" y="4389120"/>
            <a:ext cx="41148" cy="73152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2" name="Dot"/>
          <p:cNvSpPr/>
          <p:nvPr/>
        </p:nvSpPr>
        <p:spPr>
          <a:xfrm>
            <a:off x="786384" y="4608576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43" name="T"/>
          <p:cNvSpPr/>
          <p:nvPr/>
        </p:nvSpPr>
        <p:spPr>
          <a:xfrm>
            <a:off x="1170432" y="4480560"/>
            <a:ext cx="535838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20" b="1" dirty="0">
                <a:solidFill>
                  <a:srgbClr val="5E0B15"/>
                </a:solidFill>
                <a:latin typeface="Calibri"/>
                <a:cs typeface="Calibri"/>
              </a:rPr>
              <a:t>The risk profile is asymmetric.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Downside from a capital overrun is roughly twice the upside from stronger demand, and 28% of Year 5's present value rests on a single salvage estimate.</a:t>
            </a:r>
          </a:p>
        </p:txBody>
      </p:sp>
      <p:sp>
        <p:nvSpPr>
          <p:cNvPr id="44" name="Card"/>
          <p:cNvSpPr/>
          <p:nvPr/>
        </p:nvSpPr>
        <p:spPr>
          <a:xfrm>
            <a:off x="603504" y="5184648"/>
            <a:ext cx="61264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5" name="Accent"/>
          <p:cNvSpPr/>
          <p:nvPr/>
        </p:nvSpPr>
        <p:spPr>
          <a:xfrm>
            <a:off x="603504" y="5184648"/>
            <a:ext cx="41148" cy="73152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6" name="Dot"/>
          <p:cNvSpPr/>
          <p:nvPr/>
        </p:nvSpPr>
        <p:spPr>
          <a:xfrm>
            <a:off x="786384" y="5404104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47" name="T"/>
          <p:cNvSpPr/>
          <p:nvPr/>
        </p:nvSpPr>
        <p:spPr>
          <a:xfrm>
            <a:off x="1170432" y="5276088"/>
            <a:ext cx="535838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20" b="1" dirty="0">
                <a:solidFill>
                  <a:srgbClr val="5E0B15"/>
                </a:solidFill>
                <a:latin typeface="Calibri"/>
                <a:cs typeface="Calibri"/>
              </a:rPr>
              <a:t>NPV must outrank IRR and payback.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en-IN" sz="940" dirty="0">
                <a:solidFill>
                  <a:srgbClr val="4A4A55"/>
                </a:solidFill>
                <a:latin typeface="Calibri"/>
                <a:cs typeface="Calibri"/>
              </a:rPr>
              <a:t>The case is a clean demonstration of why: payback would have waved this project through, and it destroys value.</a:t>
            </a:r>
          </a:p>
        </p:txBody>
      </p:sp>
      <p:sp>
        <p:nvSpPr>
          <p:cNvPr id="48" name="H2"/>
          <p:cNvSpPr/>
          <p:nvPr/>
        </p:nvSpPr>
        <p:spPr>
          <a:xfrm>
            <a:off x="7040880" y="2542032"/>
            <a:ext cx="45476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70" dirty="0">
                <a:solidFill>
                  <a:srgbClr val="C9A227"/>
                </a:solidFill>
                <a:latin typeface="Calibri"/>
                <a:cs typeface="Calibri"/>
              </a:rPr>
              <a:t>FINAL POSITION</a:t>
            </a:r>
          </a:p>
        </p:txBody>
      </p:sp>
      <p:sp>
        <p:nvSpPr>
          <p:cNvPr id="49" name="Card"/>
          <p:cNvSpPr/>
          <p:nvPr/>
        </p:nvSpPr>
        <p:spPr>
          <a:xfrm>
            <a:off x="7040880" y="2798064"/>
            <a:ext cx="4547616" cy="192024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0" name="B"/>
          <p:cNvSpPr/>
          <p:nvPr/>
        </p:nvSpPr>
        <p:spPr>
          <a:xfrm>
            <a:off x="7040880" y="2798064"/>
            <a:ext cx="50292" cy="1920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1" name="Final"/>
          <p:cNvSpPr/>
          <p:nvPr/>
        </p:nvSpPr>
        <p:spPr>
          <a:xfrm>
            <a:off x="7315200" y="2944368"/>
            <a:ext cx="399897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IN" sz="1900" b="1" dirty="0">
                <a:solidFill>
                  <a:srgbClr val="FFFFFF"/>
                </a:solidFill>
                <a:latin typeface="Georgia"/>
                <a:cs typeface="Georgia"/>
              </a:rPr>
              <a:t>Defer and restructure.</a:t>
            </a:r>
          </a:p>
          <a:p>
            <a:pPr algn="l">
              <a:lnSpc>
                <a:spcPct val="124000"/>
              </a:lnSpc>
              <a:spcBef>
                <a:spcPts val="800"/>
              </a:spcBef>
              <a:buNone/>
            </a:pPr>
            <a:r>
              <a:rPr lang="en-IN" sz="1060" dirty="0">
                <a:solidFill>
                  <a:srgbClr val="EFDCDF"/>
                </a:solidFill>
                <a:latin typeface="Calibri"/>
                <a:cs typeface="Calibri"/>
              </a:rPr>
              <a:t>Do not sanction ₹1,200 crore on these numbers. Re-tender the capital cost, re-underwrite the volumes, contract a residual-value floor, and bring back a phased proposal that clears NPV &gt; 0 with salvage stress-tested to zero.</a:t>
            </a:r>
          </a:p>
        </p:txBody>
      </p:sp>
      <p:sp>
        <p:nvSpPr>
          <p:cNvPr id="52" name="Card"/>
          <p:cNvSpPr/>
          <p:nvPr/>
        </p:nvSpPr>
        <p:spPr>
          <a:xfrm>
            <a:off x="7040880" y="4864608"/>
            <a:ext cx="4547616" cy="1024128"/>
          </a:xfrm>
          <a:prstGeom prst="roundRect">
            <a:avLst>
              <a:gd name="adj" fmla="val 4000"/>
            </a:avLst>
          </a:prstGeom>
          <a:solidFill>
            <a:srgbClr val="FAF1D8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3" name="Accent"/>
          <p:cNvSpPr/>
          <p:nvPr/>
        </p:nvSpPr>
        <p:spPr>
          <a:xfrm>
            <a:off x="7040880" y="4864608"/>
            <a:ext cx="45720" cy="10241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4" name="Take"/>
          <p:cNvSpPr/>
          <p:nvPr/>
        </p:nvSpPr>
        <p:spPr>
          <a:xfrm>
            <a:off x="7296912" y="4992624"/>
            <a:ext cx="403555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70" dirty="0">
                <a:solidFill>
                  <a:srgbClr val="8A6E10"/>
                </a:solidFill>
                <a:latin typeface="Calibri"/>
                <a:cs typeface="Calibri"/>
              </a:rPr>
              <a:t>ACADEMIC TAKEAWAY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IN" sz="1040" b="1" dirty="0">
                <a:solidFill>
                  <a:srgbClr val="5E0B15"/>
                </a:solidFill>
                <a:latin typeface="Calibri"/>
                <a:cs typeface="Calibri"/>
              </a:rPr>
              <a:t>A negative NPV is not always a rejection of the strategy — sometimes it is a rejection of the price being paid for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0B15"/>
            </a:gs>
            <a:gs pos="55000">
              <a:srgbClr val="9E1B32"/>
            </a:gs>
            <a:gs pos="100000">
              <a:srgbClr val="3C060E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55000">
                <a:srgbClr val="9E1B32"/>
              </a:gs>
              <a:gs pos="100000">
                <a:srgbClr val="3C060E"/>
              </a:gs>
            </a:gsLst>
            <a:lin ang="27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Arc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noFill/>
          <a:ln w="12700" cap="flat" cmpd="sng" algn="ctr">
            <a:solidFill>
              <a:srgbClr val="C9A227">
                <a:alpha val="22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Arc2"/>
          <p:cNvSpPr/>
          <p:nvPr/>
        </p:nvSpPr>
        <p:spPr>
          <a:xfrm>
            <a:off x="-1280160" y="3291840"/>
            <a:ext cx="4572000" cy="4572000"/>
          </a:xfrm>
          <a:prstGeom prst="ellipse">
            <a:avLst/>
          </a:prstGeom>
          <a:noFill/>
          <a:ln w="11430" cap="flat" cmpd="sng" algn="ctr">
            <a:solidFill>
              <a:srgbClr val="C9A227">
                <a:alpha val="15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Edge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ISSM Crest"/>
          <p:cNvSpPr/>
          <p:nvPr/>
        </p:nvSpPr>
        <p:spPr>
          <a:xfrm>
            <a:off x="603504" y="566928"/>
            <a:ext cx="677863" cy="786384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2032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Crest Inner"/>
          <p:cNvSpPr/>
          <p:nvPr/>
        </p:nvSpPr>
        <p:spPr>
          <a:xfrm>
            <a:off x="654343" y="610179"/>
            <a:ext cx="576185" cy="695949"/>
          </a:xfrm>
          <a:custGeom>
            <a:avLst/>
            <a:gdLst/>
            <a:ahLst/>
            <a:cxnLst/>
            <a:rect l="0" t="0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Flame"/>
          <p:cNvSpPr/>
          <p:nvPr/>
        </p:nvSpPr>
        <p:spPr>
          <a:xfrm>
            <a:off x="900915" y="673089"/>
            <a:ext cx="83041" cy="125821"/>
          </a:xfrm>
          <a:custGeom>
            <a:avLst/>
            <a:gdLst/>
            <a:ahLst/>
            <a:cxnLst/>
            <a:rect l="0" t="0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Stem"/>
          <p:cNvSpPr/>
          <p:nvPr/>
        </p:nvSpPr>
        <p:spPr>
          <a:xfrm>
            <a:off x="928200" y="798911"/>
            <a:ext cx="28470" cy="114025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Collar"/>
          <p:cNvSpPr/>
          <p:nvPr/>
        </p:nvSpPr>
        <p:spPr>
          <a:xfrm>
            <a:off x="898374" y="901141"/>
            <a:ext cx="88122" cy="173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Page L"/>
          <p:cNvSpPr/>
          <p:nvPr/>
        </p:nvSpPr>
        <p:spPr>
          <a:xfrm>
            <a:off x="766191" y="940460"/>
            <a:ext cx="167431" cy="148044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Page R"/>
          <p:cNvSpPr/>
          <p:nvPr/>
        </p:nvSpPr>
        <p:spPr>
          <a:xfrm flipH="1">
            <a:off x="951248" y="940460"/>
            <a:ext cx="167431" cy="148044"/>
          </a:xfrm>
          <a:custGeom>
            <a:avLst/>
            <a:gdLst/>
            <a:ahLst/>
            <a:cxnLst/>
            <a:rect l="0" t="0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Spine"/>
          <p:cNvSpPr/>
          <p:nvPr/>
        </p:nvSpPr>
        <p:spPr>
          <a:xfrm>
            <a:off x="933622" y="992991"/>
            <a:ext cx="17626" cy="76409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4" name="Ribbon"/>
          <p:cNvSpPr/>
          <p:nvPr/>
        </p:nvSpPr>
        <p:spPr>
          <a:xfrm>
            <a:off x="752634" y="1113464"/>
            <a:ext cx="379603" cy="39319"/>
          </a:xfrm>
          <a:custGeom>
            <a:avLst/>
            <a:gdLst/>
            <a:ahLst/>
            <a:cxnLst/>
            <a:rect l="0" t="0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5" name="ISSM Wordmark"/>
          <p:cNvSpPr/>
          <p:nvPr/>
        </p:nvSpPr>
        <p:spPr>
          <a:xfrm>
            <a:off x="1407188" y="610179"/>
            <a:ext cx="2752344" cy="786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236" b="1" spc="60" dirty="0">
                <a:solidFill>
                  <a:srgbClr val="FFFFFF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998" b="1" spc="170" dirty="0">
                <a:solidFill>
                  <a:srgbClr val="E3C567"/>
                </a:solidFill>
                <a:latin typeface="Calibri"/>
                <a:cs typeface="Calibri"/>
              </a:rPr>
              <a:t>BUSINESS SCHOOL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688" b="1" spc="130" dirty="0">
                <a:solidFill>
                  <a:srgbClr val="D8CFC0"/>
                </a:solidFill>
                <a:latin typeface="Calibri"/>
                <a:cs typeface="Calibri"/>
              </a:rPr>
              <a:t>CHENNAI  |  HYDERABAD</a:t>
            </a:r>
          </a:p>
        </p:txBody>
      </p:sp>
      <p:sp>
        <p:nvSpPr>
          <p:cNvPr id="16" name="TY"/>
          <p:cNvSpPr/>
          <p:nvPr/>
        </p:nvSpPr>
        <p:spPr>
          <a:xfrm>
            <a:off x="603504" y="2121408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en-IN" sz="5400" b="1" spc="40" dirty="0">
                <a:solidFill>
                  <a:srgbClr val="FFFFFF"/>
                </a:solidFill>
                <a:latin typeface="Georgia"/>
                <a:cs typeface="Georgia"/>
              </a:rPr>
              <a:t>THANK YOU</a:t>
            </a:r>
          </a:p>
          <a:p>
            <a:pPr algn="l">
              <a:spcBef>
                <a:spcPts val="1000"/>
              </a:spcBef>
              <a:buNone/>
            </a:pPr>
            <a:r>
              <a:rPr lang="en-IN" sz="1400" dirty="0">
                <a:solidFill>
                  <a:srgbClr val="E3C567"/>
                </a:solidFill>
                <a:latin typeface="Calibri"/>
                <a:cs typeface="Calibri"/>
              </a:rPr>
              <a:t>Questions and discussion are welcome.</a:t>
            </a:r>
          </a:p>
        </p:txBody>
      </p:sp>
      <p:sp>
        <p:nvSpPr>
          <p:cNvPr id="17" name="Rule"/>
          <p:cNvSpPr/>
          <p:nvPr/>
        </p:nvSpPr>
        <p:spPr>
          <a:xfrm>
            <a:off x="603504" y="3986784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8" name="C"/>
          <p:cNvSpPr/>
          <p:nvPr/>
        </p:nvSpPr>
        <p:spPr>
          <a:xfrm>
            <a:off x="603504" y="4443984"/>
            <a:ext cx="2554224" cy="85953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0160" cap="flat" cmpd="sng" algn="ctr">
            <a:solidFill>
              <a:srgbClr val="E3C567">
                <a:alpha val="45000"/>
              </a:srgbClr>
            </a:solidFill>
            <a:prstDash val="solid"/>
            <a:round/>
          </a:ln>
        </p:spPr>
        <p:txBody>
          <a:bodyPr wrap="square" lIns="219456" tIns="128016" rIns="164592" bIns="91440" anchor="t" anchorCtr="0">
            <a:noAutofit/>
          </a:bodyPr>
          <a:lstStyle/>
          <a:p>
            <a:pPr algn="l">
              <a:buNone/>
            </a:pPr>
            <a:r>
              <a:rPr lang="en-IN" sz="780" b="1" spc="160" dirty="0">
                <a:solidFill>
                  <a:srgbClr val="E3C567"/>
                </a:solidFill>
                <a:latin typeface="Calibri"/>
                <a:cs typeface="Calibri"/>
              </a:rPr>
              <a:t>PRESENTED BY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300" b="1" dirty="0">
                <a:solidFill>
                  <a:srgbClr val="FFFFFF"/>
                </a:solidFill>
                <a:latin typeface="Georgia"/>
                <a:cs typeface="Georgia"/>
              </a:rPr>
              <a:t>Lingesh K</a:t>
            </a:r>
          </a:p>
        </p:txBody>
      </p:sp>
      <p:sp>
        <p:nvSpPr>
          <p:cNvPr id="19" name="C"/>
          <p:cNvSpPr/>
          <p:nvPr/>
        </p:nvSpPr>
        <p:spPr>
          <a:xfrm>
            <a:off x="3413760" y="4443984"/>
            <a:ext cx="2554224" cy="85953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0160" cap="flat" cmpd="sng" algn="ctr">
            <a:solidFill>
              <a:srgbClr val="E3C567">
                <a:alpha val="45000"/>
              </a:srgbClr>
            </a:solidFill>
            <a:prstDash val="solid"/>
            <a:round/>
          </a:ln>
        </p:spPr>
        <p:txBody>
          <a:bodyPr wrap="square" lIns="219456" tIns="128016" rIns="164592" bIns="91440" anchor="t" anchorCtr="0">
            <a:noAutofit/>
          </a:bodyPr>
          <a:lstStyle/>
          <a:p>
            <a:pPr algn="l">
              <a:buNone/>
            </a:pPr>
            <a:r>
              <a:rPr lang="en-IN" sz="780" b="1" spc="160" dirty="0">
                <a:solidFill>
                  <a:srgbClr val="E3C567"/>
                </a:solidFill>
                <a:latin typeface="Calibri"/>
                <a:cs typeface="Calibri"/>
              </a:rPr>
              <a:t>REGISTER NUMBER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300" b="1" dirty="0">
                <a:solidFill>
                  <a:srgbClr val="FFFFFF"/>
                </a:solidFill>
                <a:latin typeface="Georgia"/>
                <a:cs typeface="Georgia"/>
              </a:rPr>
              <a:t>OSI2509030</a:t>
            </a:r>
          </a:p>
        </p:txBody>
      </p:sp>
      <p:sp>
        <p:nvSpPr>
          <p:cNvPr id="20" name="C"/>
          <p:cNvSpPr/>
          <p:nvPr/>
        </p:nvSpPr>
        <p:spPr>
          <a:xfrm>
            <a:off x="6224016" y="4443984"/>
            <a:ext cx="2554224" cy="85953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0160" cap="flat" cmpd="sng" algn="ctr">
            <a:solidFill>
              <a:srgbClr val="E3C567">
                <a:alpha val="45000"/>
              </a:srgbClr>
            </a:solidFill>
            <a:prstDash val="solid"/>
            <a:round/>
          </a:ln>
        </p:spPr>
        <p:txBody>
          <a:bodyPr wrap="square" lIns="219456" tIns="128016" rIns="164592" bIns="91440" anchor="t" anchorCtr="0">
            <a:noAutofit/>
          </a:bodyPr>
          <a:lstStyle/>
          <a:p>
            <a:pPr algn="l">
              <a:buNone/>
            </a:pPr>
            <a:r>
              <a:rPr lang="en-IN" sz="780" b="1" spc="160" dirty="0">
                <a:solidFill>
                  <a:srgbClr val="E3C567"/>
                </a:solidFill>
                <a:latin typeface="Calibri"/>
                <a:cs typeface="Calibri"/>
              </a:rPr>
              <a:t>PROGRAMME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300" b="1" dirty="0">
                <a:solidFill>
                  <a:srgbClr val="FFFFFF"/>
                </a:solidFill>
                <a:latin typeface="Georgia"/>
                <a:cs typeface="Georgia"/>
              </a:rPr>
              <a:t>MBA — Finance</a:t>
            </a:r>
          </a:p>
        </p:txBody>
      </p:sp>
      <p:sp>
        <p:nvSpPr>
          <p:cNvPr id="21" name="C"/>
          <p:cNvSpPr/>
          <p:nvPr/>
        </p:nvSpPr>
        <p:spPr>
          <a:xfrm>
            <a:off x="9034272" y="4443984"/>
            <a:ext cx="2554224" cy="85953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0160" cap="flat" cmpd="sng" algn="ctr">
            <a:solidFill>
              <a:srgbClr val="E3C567">
                <a:alpha val="45000"/>
              </a:srgbClr>
            </a:solidFill>
            <a:prstDash val="solid"/>
            <a:round/>
          </a:ln>
        </p:spPr>
        <p:txBody>
          <a:bodyPr wrap="square" lIns="219456" tIns="128016" rIns="164592" bIns="91440" anchor="t" anchorCtr="0">
            <a:noAutofit/>
          </a:bodyPr>
          <a:lstStyle/>
          <a:p>
            <a:pPr algn="l">
              <a:buNone/>
            </a:pPr>
            <a:r>
              <a:rPr lang="en-IN" sz="780" b="1" spc="160" dirty="0">
                <a:solidFill>
                  <a:srgbClr val="E3C567"/>
                </a:solidFill>
                <a:latin typeface="Calibri"/>
                <a:cs typeface="Calibri"/>
              </a:rPr>
              <a:t>INSTITUTION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300" b="1" dirty="0">
                <a:solidFill>
                  <a:srgbClr val="FFFFFF"/>
                </a:solidFill>
                <a:latin typeface="Georgia"/>
                <a:cs typeface="Georgia"/>
              </a:rPr>
              <a:t>ISSM Business School</a:t>
            </a:r>
          </a:p>
        </p:txBody>
      </p:sp>
      <p:sp>
        <p:nvSpPr>
          <p:cNvPr id="22" name="Foot"/>
          <p:cNvSpPr/>
          <p:nvPr/>
        </p:nvSpPr>
        <p:spPr>
          <a:xfrm>
            <a:off x="603504" y="5669280"/>
            <a:ext cx="10984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960" spc="40" dirty="0">
                <a:solidFill>
                  <a:srgbClr val="C9B4A6"/>
                </a:solidFill>
                <a:latin typeface="Calibri"/>
                <a:cs typeface="Calibri"/>
              </a:rPr>
              <a:t>Case Study 2  ·  Aditya Birla Fashion &amp; Retail Ltd.  ·  Capital Budgeting Appraisal of a ₹1,200 Crore Manufacturing Facility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SM Crimson Gold">
  <a:themeElements>
    <a:clrScheme name="ISSM">
      <a:dk1>
        <a:srgbClr val="22222A"/>
      </a:dk1>
      <a:lt1>
        <a:srgbClr val="FFFFFF"/>
      </a:lt1>
      <a:dk2>
        <a:srgbClr val="5E0B15"/>
      </a:dk2>
      <a:lt2>
        <a:srgbClr val="FCFAF6"/>
      </a:lt2>
      <a:accent1>
        <a:srgbClr val="9E1B32"/>
      </a:accent1>
      <a:accent2>
        <a:srgbClr val="C9A227"/>
      </a:accent2>
      <a:accent3>
        <a:srgbClr val="B02338"/>
      </a:accent3>
      <a:accent4>
        <a:srgbClr val="E3C567"/>
      </a:accent4>
      <a:accent5>
        <a:srgbClr val="7A7A85"/>
      </a:accent5>
      <a:accent6>
        <a:srgbClr val="1E7A4D"/>
      </a:accent6>
      <a:hlink>
        <a:srgbClr val="9E1B32"/>
      </a:hlink>
      <a:folHlink>
        <a:srgbClr val="C9A227"/>
      </a:folHlink>
    </a:clrScheme>
    <a:fontScheme name="ISS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ISSM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ISSM Business School</Company>
  <Slides>16</Slides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2 - Aditya Birla Fashion &amp; Retail Ltd. | Capital Budgeting Appraisal</dc:title>
  <dc:creator>Lingesh K</dc:creator>
  <cp:lastModifiedBy>Lingesh K</cp:lastModifiedBy>
  <dcterms:created xsi:type="dcterms:W3CDTF">2026-08-10T09:00:00Z</dcterms:created>
  <dcterms:modified xsi:type="dcterms:W3CDTF">2026-08-10T09:00:00Z</dcterms:modified>
</cp:coreProperties>
</file>