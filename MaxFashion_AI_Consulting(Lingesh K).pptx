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image" Target="../media/image-10-2.png"/><Relationship Id="rId7" Type="http://schemas.openxmlformats.org/officeDocument/2006/relationships/image" Target="../media/image-10-2.png"/><Relationship Id="rId8" Type="http://schemas.openxmlformats.org/officeDocument/2006/relationships/image" Target="../media/image-10-2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719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377440"/>
            <a:ext cx="6583680" cy="6583680"/>
          </a:xfrm>
          <a:prstGeom prst="ellipse">
            <a:avLst/>
          </a:prstGeom>
          <a:solidFill>
            <a:srgbClr val="9E1319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05840"/>
            <a:ext cx="4206240" cy="4206240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914400" y="4160520"/>
            <a:ext cx="5943600" cy="5943600"/>
          </a:xfrm>
          <a:prstGeom prst="rect">
            <a:avLst/>
          </a:prstGeom>
          <a:solidFill>
            <a:srgbClr val="9E1319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32520" y="3383280"/>
            <a:ext cx="3246120" cy="3246120"/>
          </a:xfrm>
          <a:prstGeom prst="ellipse">
            <a:avLst/>
          </a:prstGeom>
          <a:solidFill>
            <a:srgbClr val="9E1319">
              <a:alpha val="70000"/>
            </a:srgbClr>
          </a:solidFill>
          <a:ln w="12700">
            <a:solidFill>
              <a:srgbClr val="C9A227">
                <a:alpha val="45000"/>
              </a:srgbClr>
            </a:solidFill>
            <a:prstDash val="solid"/>
          </a:ln>
        </p:spPr>
      </p:sp>
      <p:pic>
        <p:nvPicPr>
          <p:cNvPr id="6" name="Image 0" descr="/home/claude/maxfashion_ppt/icons/bag_white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646920" y="4297680"/>
            <a:ext cx="1417320" cy="1417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70871" y="36576"/>
            <a:ext cx="1664208" cy="764120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1" descr="/home/claude/maxfashion_ppt/logo/iss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BUSINESS CONSULTING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1965960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FASHION</a:t>
            </a:r>
            <a:endParaRPr lang="en-US" sz="6000" dirty="0"/>
          </a:p>
        </p:txBody>
      </p:sp>
      <p:sp>
        <p:nvSpPr>
          <p:cNvPr id="11" name="Shape 7"/>
          <p:cNvSpPr/>
          <p:nvPr/>
        </p:nvSpPr>
        <p:spPr>
          <a:xfrm>
            <a:off x="841248" y="3200400"/>
            <a:ext cx="100584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33101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5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 Challenge  –  Retail Industry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22960" y="416052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4315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097280" y="4553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Lingesh K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10972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OSI2509030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9728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Finance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5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F0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D71920"/>
          </a:solidFill>
          <a:ln/>
          <a:effectLst>
            <a:outerShdw sx="100000" sy="100000" kx="0" ky="0" algn="bl" rotWithShape="0" blurRad="76200" dist="25400" dir="5400000">
              <a:srgbClr val="9E1319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0392" y="1161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Max Fashion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1148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93852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Fashion is one of India's leading value fashion retail brands, offering affordable clothing, footwear, accessories, and lifestyle products for men, women, and children.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" y="2779776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2004, Max Fashion operates hundreds of stores across India and serves millions of customers through both physical stores and online platforms.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02920" y="3630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FOCUSES 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2064" y="4023360"/>
            <a:ext cx="457200" cy="457200"/>
          </a:xfrm>
          <a:prstGeom prst="ellipse">
            <a:avLst/>
          </a:prstGeom>
          <a:solidFill>
            <a:srgbClr val="FBE9EA"/>
          </a:solidFill>
          <a:ln w="19050">
            <a:solidFill>
              <a:srgbClr val="D71920"/>
            </a:solidFill>
            <a:prstDash val="solid"/>
          </a:ln>
        </p:spPr>
      </p:sp>
      <p:pic>
        <p:nvPicPr>
          <p:cNvPr id="11" name="Image 1" descr="/home/claude/maxfashion_ppt/icons/tags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1330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33272" y="39684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Fashion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078224" y="4023360"/>
            <a:ext cx="457200" cy="457200"/>
          </a:xfrm>
          <a:prstGeom prst="ellipse">
            <a:avLst/>
          </a:prstGeom>
          <a:solidFill>
            <a:srgbClr val="FBE9EA"/>
          </a:solidFill>
          <a:ln w="19050">
            <a:solidFill>
              <a:srgbClr val="D71920"/>
            </a:solidFill>
            <a:prstDash val="solid"/>
          </a:ln>
        </p:spPr>
      </p:sp>
      <p:pic>
        <p:nvPicPr>
          <p:cNvPr id="14" name="Image 2" descr="/home/claude/maxfashion_ppt/icons/smile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41330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9432" y="39684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12064" y="4718304"/>
            <a:ext cx="457200" cy="457200"/>
          </a:xfrm>
          <a:prstGeom prst="ellipse">
            <a:avLst/>
          </a:prstGeom>
          <a:solidFill>
            <a:srgbClr val="FBE9EA"/>
          </a:solidFill>
          <a:ln w="19050">
            <a:solidFill>
              <a:srgbClr val="D71920"/>
            </a:solidFill>
            <a:prstDash val="solid"/>
          </a:ln>
        </p:spPr>
      </p:sp>
      <p:pic>
        <p:nvPicPr>
          <p:cNvPr id="17" name="Image 3" descr="/home/claude/maxfashion_ppt/icons/layers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82803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33272" y="46634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Shopping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078224" y="4718304"/>
            <a:ext cx="457200" cy="457200"/>
          </a:xfrm>
          <a:prstGeom prst="ellipse">
            <a:avLst/>
          </a:prstGeom>
          <a:solidFill>
            <a:srgbClr val="FBE9EA"/>
          </a:solidFill>
          <a:ln w="19050">
            <a:solidFill>
              <a:srgbClr val="D71920"/>
            </a:solidFill>
            <a:prstDash val="solid"/>
          </a:ln>
        </p:spPr>
      </p:sp>
      <p:pic>
        <p:nvPicPr>
          <p:cNvPr id="20" name="Image 4" descr="/home/claude/maxfashion_ppt/icons/calendar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4828032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99432" y="46634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Collections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12064" y="5413248"/>
            <a:ext cx="457200" cy="457200"/>
          </a:xfrm>
          <a:prstGeom prst="ellipse">
            <a:avLst/>
          </a:prstGeom>
          <a:solidFill>
            <a:srgbClr val="FBE9EA"/>
          </a:solidFill>
          <a:ln w="19050">
            <a:solidFill>
              <a:srgbClr val="D71920"/>
            </a:solidFill>
            <a:prstDash val="solid"/>
          </a:ln>
        </p:spPr>
      </p:sp>
      <p:pic>
        <p:nvPicPr>
          <p:cNvPr id="23" name="Image 5" descr="/home/claude/maxfashion_ppt/icons/refresh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52297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33272" y="535838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Inventory Movement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863840" y="1938528"/>
            <a:ext cx="3824935" cy="4160520"/>
          </a:xfrm>
          <a:prstGeom prst="roundRect">
            <a:avLst>
              <a:gd name="adj" fmla="val 2391"/>
            </a:avLst>
          </a:prstGeom>
          <a:solidFill>
            <a:srgbClr val="FCF5E2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138160" y="2139696"/>
            <a:ext cx="3276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TIMELINE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8430768" y="2715768"/>
            <a:ext cx="0" cy="306324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220456" y="2505456"/>
            <a:ext cx="420624" cy="420624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29" name="Image 6" descr="/home/claude/maxfashion_ppt/icons/stor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096" y="2600096"/>
            <a:ext cx="231343" cy="23134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723376" y="2459736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8723376" y="2706624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Fashion founded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8220456" y="3282696"/>
            <a:ext cx="420624" cy="420624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33" name="Image 7" descr="/home/claude/maxfashion_ppt/icons/trendu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5096" y="3377336"/>
            <a:ext cx="231343" cy="23134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723376" y="3236976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350" dirty="0"/>
          </a:p>
        </p:txBody>
      </p:sp>
      <p:sp>
        <p:nvSpPr>
          <p:cNvPr id="35" name="Text 25"/>
          <p:cNvSpPr/>
          <p:nvPr/>
        </p:nvSpPr>
        <p:spPr>
          <a:xfrm>
            <a:off x="8723376" y="3483864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nationwide growth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8220456" y="4059936"/>
            <a:ext cx="420624" cy="420624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37" name="Image 8" descr="/home/claude/maxfashion_ppt/icons/networ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096" y="4154576"/>
            <a:ext cx="231343" cy="231343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723376" y="4014216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Omni-channel</a:t>
            </a:r>
            <a:endParaRPr lang="en-US" sz="1350" dirty="0"/>
          </a:p>
        </p:txBody>
      </p:sp>
      <p:sp>
        <p:nvSpPr>
          <p:cNvPr id="39" name="Text 28"/>
          <p:cNvSpPr/>
          <p:nvPr/>
        </p:nvSpPr>
        <p:spPr>
          <a:xfrm>
            <a:off x="8723376" y="4261104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+ online unified</a:t>
            </a:r>
            <a:endParaRPr lang="en-US" sz="1050" dirty="0"/>
          </a:p>
        </p:txBody>
      </p:sp>
      <p:sp>
        <p:nvSpPr>
          <p:cNvPr id="40" name="Shape 29"/>
          <p:cNvSpPr/>
          <p:nvPr/>
        </p:nvSpPr>
        <p:spPr>
          <a:xfrm>
            <a:off x="8220456" y="4837176"/>
            <a:ext cx="420624" cy="420624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41" name="Image 9" descr="/home/claude/maxfashion_ppt/icons/sparkles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096" y="4931816"/>
            <a:ext cx="231343" cy="231343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8723376" y="4791456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Ready Retail</a:t>
            </a:r>
            <a:endParaRPr lang="en-US" sz="1350" dirty="0"/>
          </a:p>
        </p:txBody>
      </p:sp>
      <p:sp>
        <p:nvSpPr>
          <p:cNvPr id="43" name="Text 31"/>
          <p:cNvSpPr/>
          <p:nvPr/>
        </p:nvSpPr>
        <p:spPr>
          <a:xfrm>
            <a:off x="8723376" y="5038344"/>
            <a:ext cx="2819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next chapter</a:t>
            </a:r>
            <a:endParaRPr lang="en-US" sz="1050" dirty="0"/>
          </a:p>
        </p:txBody>
      </p:sp>
      <p:sp>
        <p:nvSpPr>
          <p:cNvPr id="44" name="Text 32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D71920"/>
          </a:solidFill>
          <a:ln/>
          <a:effectLst>
            <a:outerShdw sx="100000" sy="100000" kx="0" ky="0" algn="bl" rotWithShape="0" blurRad="76200" dist="25400" dir="5400000">
              <a:srgbClr val="9E1319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GROWTH IS BEING HELD BACK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0392" y="1161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Business Challenges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1148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993392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BE9EA"/>
          </a:solidFill>
          <a:ln w="12700">
            <a:solidFill>
              <a:srgbClr val="F0C7C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993392"/>
            <a:ext cx="3520440" cy="82296"/>
          </a:xfrm>
          <a:prstGeom prst="roundRect">
            <a:avLst/>
          </a:prstGeom>
          <a:solidFill>
            <a:srgbClr val="D71920"/>
          </a:solidFill>
          <a:ln/>
        </p:spPr>
      </p:sp>
      <p:sp>
        <p:nvSpPr>
          <p:cNvPr id="9" name="Shape 6"/>
          <p:cNvSpPr/>
          <p:nvPr/>
        </p:nvSpPr>
        <p:spPr>
          <a:xfrm>
            <a:off x="1874520" y="2290572"/>
            <a:ext cx="777240" cy="777240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10" name="Image 1" descr="/home/claude/maxfashion_ppt/icons/trenddow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830" y="2484882"/>
            <a:ext cx="388620" cy="3886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A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58952" y="322783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95528" y="3776472"/>
            <a:ext cx="2935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prediction of customer demand causes overstocking and stock shortages.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224528" y="1993392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BE9EA"/>
          </a:solidFill>
          <a:ln w="12700">
            <a:solidFill>
              <a:srgbClr val="F0C7C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24528" y="1993392"/>
            <a:ext cx="3520440" cy="82296"/>
          </a:xfrm>
          <a:prstGeom prst="roundRect">
            <a:avLst/>
          </a:prstGeom>
          <a:solidFill>
            <a:srgbClr val="D71920"/>
          </a:solidFill>
          <a:ln/>
        </p:spPr>
      </p:sp>
      <p:sp>
        <p:nvSpPr>
          <p:cNvPr id="16" name="Shape 12"/>
          <p:cNvSpPr/>
          <p:nvPr/>
        </p:nvSpPr>
        <p:spPr>
          <a:xfrm>
            <a:off x="5596128" y="2290572"/>
            <a:ext cx="777240" cy="777240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17" name="Image 2" descr="/home/claude/maxfashion_ppt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438" y="2484882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50608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A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480560" y="322783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Personalization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517136" y="3776472"/>
            <a:ext cx="2935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customers have different fashion preferences, but recommendations remain generic.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946136" y="1993392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BE9EA"/>
          </a:solidFill>
          <a:ln w="12700">
            <a:solidFill>
              <a:srgbClr val="F0C7C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946136" y="1993392"/>
            <a:ext cx="3520440" cy="82296"/>
          </a:xfrm>
          <a:prstGeom prst="roundRect">
            <a:avLst/>
          </a:prstGeom>
          <a:solidFill>
            <a:srgbClr val="D71920"/>
          </a:solidFill>
          <a:ln/>
        </p:spPr>
      </p:sp>
      <p:sp>
        <p:nvSpPr>
          <p:cNvPr id="23" name="Shape 18"/>
          <p:cNvSpPr/>
          <p:nvPr/>
        </p:nvSpPr>
        <p:spPr>
          <a:xfrm>
            <a:off x="9317736" y="2290572"/>
            <a:ext cx="777240" cy="777240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24" name="Image 3" descr="/home/claude/maxfashion_ppt/icons/packa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046" y="2484882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72216" y="21579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A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202168" y="322783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238744" y="3776472"/>
            <a:ext cx="2935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thousands of products across stores becomes difficult, leading to slow-moving inventory.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02920" y="534924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pic>
        <p:nvPicPr>
          <p:cNvPr id="29" name="Image 4" descr="/home/claude/maxfashion_ppt/icons/quot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550408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534924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success depends on delivering the right product to the right customer at the right time.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D71920"/>
          </a:solidFill>
          <a:ln/>
          <a:effectLst>
            <a:outerShdw sx="100000" sy="100000" kx="0" ky="0" algn="bl" rotWithShape="0" blurRad="76200" dist="25400" dir="5400000">
              <a:srgbClr val="9E1319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AI-BASED SOLUTIONS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0392" y="1161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Solutions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1148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2148840"/>
            <a:ext cx="32461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74520" y="1696212"/>
            <a:ext cx="868680" cy="8686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1" descr="/home/claude/maxfashion_ppt/icons/chartcomb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690" y="1913382"/>
            <a:ext cx="434340" cy="4343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7157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 AI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978408" y="3291840"/>
            <a:ext cx="2660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product demand using historical sales, seasonal trends, and customer buying behavior.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005072" y="3488436"/>
            <a:ext cx="356616" cy="292608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3" name="Shape 9"/>
          <p:cNvSpPr/>
          <p:nvPr/>
        </p:nvSpPr>
        <p:spPr>
          <a:xfrm>
            <a:off x="4434840" y="2148840"/>
            <a:ext cx="32461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23560" y="1696212"/>
            <a:ext cx="868680" cy="8686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2" descr="/home/claude/maxfashion_ppt/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730" y="1913382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27157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727448" y="3291840"/>
            <a:ext cx="2660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personalized clothing recommendations based on browsing history and previous purchases.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754112" y="3488436"/>
            <a:ext cx="356616" cy="292608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19" name="Shape 14"/>
          <p:cNvSpPr/>
          <p:nvPr/>
        </p:nvSpPr>
        <p:spPr>
          <a:xfrm>
            <a:off x="8183880" y="2148840"/>
            <a:ext cx="32461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72600" y="1696212"/>
            <a:ext cx="868680" cy="8686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/home/claude/maxfashion_ppt/icons/refre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770" y="1913382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0" y="27157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 AI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476488" y="3291840"/>
            <a:ext cx="2660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monitor inventory and suggest replenishment between stores.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D71920"/>
          </a:solidFill>
          <a:ln/>
          <a:effectLst>
            <a:outerShdw sx="100000" sy="100000" kx="0" ky="0" algn="bl" rotWithShape="0" blurRad="76200" dist="25400" dir="5400000">
              <a:srgbClr val="9E1319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SHORTLIST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0392" y="1161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AI Tools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1148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965960"/>
            <a:ext cx="11185855" cy="502920"/>
          </a:xfrm>
          <a:prstGeom prst="rect">
            <a:avLst/>
          </a:prstGeom>
          <a:solidFill>
            <a:srgbClr val="D71920"/>
          </a:solidFill>
          <a:ln/>
        </p:spPr>
      </p:sp>
      <p:sp>
        <p:nvSpPr>
          <p:cNvPr id="8" name="Text 5"/>
          <p:cNvSpPr/>
          <p:nvPr/>
        </p:nvSpPr>
        <p:spPr>
          <a:xfrm>
            <a:off x="141732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95848" y="1965960"/>
            <a:ext cx="522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4944" y="260604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1" name="Image 1" descr="/home/claude/maxfashion_ppt/icons/cloud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682850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4688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AI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095848" y="2468880"/>
            <a:ext cx="522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demand and automate analytics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127248"/>
            <a:ext cx="11185855" cy="0"/>
          </a:xfrm>
          <a:prstGeom prst="line">
            <a:avLst/>
          </a:prstGeom>
          <a:noFill/>
          <a:ln w="9525">
            <a:solidFill>
              <a:srgbClr val="E7C9C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127248"/>
            <a:ext cx="11185855" cy="658368"/>
          </a:xfrm>
          <a:prstGeom prst="rect">
            <a:avLst/>
          </a:prstGeom>
          <a:solidFill>
            <a:srgbClr val="FBE9EA"/>
          </a:solidFill>
          <a:ln/>
        </p:spPr>
      </p:sp>
      <p:sp>
        <p:nvSpPr>
          <p:cNvPr id="16" name="Shape 12"/>
          <p:cNvSpPr/>
          <p:nvPr/>
        </p:nvSpPr>
        <p:spPr>
          <a:xfrm>
            <a:off x="694944" y="326440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7" name="Image 2" descr="/home/claude/maxfashion_ppt/icons/brain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3341218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12724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Vertex AI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095848" y="3127248"/>
            <a:ext cx="522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prediction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02920" y="3785616"/>
            <a:ext cx="11185855" cy="0"/>
          </a:xfrm>
          <a:prstGeom prst="line">
            <a:avLst/>
          </a:prstGeom>
          <a:noFill/>
          <a:ln w="9525">
            <a:solidFill>
              <a:srgbClr val="E7C9C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4944" y="3922776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2" name="Image 3" descr="/home/claude/maxfashion_ppt/icons/ms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3999586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78561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095848" y="3785616"/>
            <a:ext cx="522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chatbot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02920" y="4443984"/>
            <a:ext cx="11185855" cy="0"/>
          </a:xfrm>
          <a:prstGeom prst="line">
            <a:avLst/>
          </a:prstGeom>
          <a:noFill/>
          <a:ln w="9525">
            <a:solidFill>
              <a:srgbClr val="E7C9C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02920" y="4443984"/>
            <a:ext cx="11185855" cy="658368"/>
          </a:xfrm>
          <a:prstGeom prst="rect">
            <a:avLst/>
          </a:prstGeom>
          <a:solidFill>
            <a:srgbClr val="FBE9EA"/>
          </a:solidFill>
          <a:ln/>
        </p:spPr>
      </p:sp>
      <p:sp>
        <p:nvSpPr>
          <p:cNvPr id="27" name="Shape 21"/>
          <p:cNvSpPr/>
          <p:nvPr/>
        </p:nvSpPr>
        <p:spPr>
          <a:xfrm>
            <a:off x="694944" y="45811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8" name="Image 4" descr="/home/claude/maxfashion_ppt/icons/bulb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4657954"/>
            <a:ext cx="230429" cy="23042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17320" y="444398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Einstein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095848" y="4443984"/>
            <a:ext cx="522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502920" y="5102352"/>
            <a:ext cx="11185855" cy="0"/>
          </a:xfrm>
          <a:prstGeom prst="line">
            <a:avLst/>
          </a:prstGeom>
          <a:noFill/>
          <a:ln w="9525">
            <a:solidFill>
              <a:srgbClr val="E7C9C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94944" y="523951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33" name="Image 5" descr="/home/claude/maxfashion_ppt/icons/chartbar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4" y="5316322"/>
            <a:ext cx="230429" cy="23042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417320" y="51023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AI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6095848" y="5102352"/>
            <a:ext cx="522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retail dashboards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502920" y="5760720"/>
            <a:ext cx="11185855" cy="0"/>
          </a:xfrm>
          <a:prstGeom prst="line">
            <a:avLst/>
          </a:prstGeom>
          <a:noFill/>
          <a:ln w="9525">
            <a:solidFill>
              <a:srgbClr val="E7C9CA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867248" y="1965960"/>
            <a:ext cx="0" cy="379476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02920" y="601675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improves operational efficiency while enhancing customer experience.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D71920"/>
          </a:solidFill>
          <a:ln/>
          <a:effectLst>
            <a:outerShdw sx="100000" sy="100000" kx="0" ky="0" algn="bl" rotWithShape="0" blurRad="76200" dist="25400" dir="5400000">
              <a:srgbClr val="9E1319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TECHNOLOGY TO IMPACT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0392" y="1161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These AI Tools Help Max Fashion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1148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956816"/>
            <a:ext cx="11185855" cy="731520"/>
          </a:xfrm>
          <a:prstGeom prst="roundRect">
            <a:avLst>
              <a:gd name="adj" fmla="val 11250"/>
            </a:avLst>
          </a:prstGeom>
          <a:solidFill>
            <a:srgbClr val="FBE9EA"/>
          </a:solidFill>
          <a:ln/>
        </p:spPr>
      </p:sp>
      <p:sp>
        <p:nvSpPr>
          <p:cNvPr id="8" name="Shape 5"/>
          <p:cNvSpPr/>
          <p:nvPr/>
        </p:nvSpPr>
        <p:spPr>
          <a:xfrm>
            <a:off x="813816" y="2066544"/>
            <a:ext cx="512064" cy="512064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9" name="Image 1" descr="/home/claude/maxfashion_ppt/icons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19456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AI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166360" y="1956816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sales demand accurately.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2816352"/>
            <a:ext cx="11185855" cy="731520"/>
          </a:xfrm>
          <a:prstGeom prst="roundRect">
            <a:avLst>
              <a:gd name="adj" fmla="val 11250"/>
            </a:avLst>
          </a:prstGeom>
          <a:solidFill>
            <a:srgbClr val="FCF5E2"/>
          </a:solidFill>
          <a:ln/>
        </p:spPr>
      </p:sp>
      <p:sp>
        <p:nvSpPr>
          <p:cNvPr id="13" name="Shape 9"/>
          <p:cNvSpPr/>
          <p:nvPr/>
        </p:nvSpPr>
        <p:spPr>
          <a:xfrm>
            <a:off x="813816" y="2926080"/>
            <a:ext cx="512064" cy="512064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14" name="Image 2" descr="/home/claude/maxfashion_ppt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05409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28163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Vertex AI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166360" y="2816352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customer buying patterns.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02920" y="3675888"/>
            <a:ext cx="11185855" cy="731520"/>
          </a:xfrm>
          <a:prstGeom prst="roundRect">
            <a:avLst>
              <a:gd name="adj" fmla="val 11250"/>
            </a:avLst>
          </a:prstGeom>
          <a:solidFill>
            <a:srgbClr val="FBE9EA"/>
          </a:solidFill>
          <a:ln/>
        </p:spPr>
      </p:sp>
      <p:sp>
        <p:nvSpPr>
          <p:cNvPr id="18" name="Shape 13"/>
          <p:cNvSpPr/>
          <p:nvPr/>
        </p:nvSpPr>
        <p:spPr>
          <a:xfrm>
            <a:off x="813816" y="3785616"/>
            <a:ext cx="512064" cy="512064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19" name="Image 3" descr="/home/claude/maxfashion_ppt/icons/ms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91363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166360" y="3675888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24/7 AI customer support.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02920" y="4535424"/>
            <a:ext cx="11185855" cy="731520"/>
          </a:xfrm>
          <a:prstGeom prst="roundRect">
            <a:avLst>
              <a:gd name="adj" fmla="val 11250"/>
            </a:avLst>
          </a:prstGeom>
          <a:solidFill>
            <a:srgbClr val="FCF5E2"/>
          </a:solidFill>
          <a:ln/>
        </p:spPr>
      </p:sp>
      <p:sp>
        <p:nvSpPr>
          <p:cNvPr id="23" name="Shape 17"/>
          <p:cNvSpPr/>
          <p:nvPr/>
        </p:nvSpPr>
        <p:spPr>
          <a:xfrm>
            <a:off x="813816" y="4645152"/>
            <a:ext cx="512064" cy="512064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24" name="Image 4" descr="/home/claude/maxfashion_ppt/icons/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773168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4535424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Einstein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5166360" y="4535424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personalized fashion products.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02920" y="5394960"/>
            <a:ext cx="11185855" cy="731520"/>
          </a:xfrm>
          <a:prstGeom prst="roundRect">
            <a:avLst>
              <a:gd name="adj" fmla="val 11250"/>
            </a:avLst>
          </a:prstGeom>
          <a:solidFill>
            <a:srgbClr val="FBE9EA"/>
          </a:solidFill>
          <a:ln/>
        </p:spPr>
      </p:sp>
      <p:sp>
        <p:nvSpPr>
          <p:cNvPr id="28" name="Shape 21"/>
          <p:cNvSpPr/>
          <p:nvPr/>
        </p:nvSpPr>
        <p:spPr>
          <a:xfrm>
            <a:off x="813816" y="5504688"/>
            <a:ext cx="512064" cy="512064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29" name="Image 5" descr="/home/claude/maxfashion_ppt/icons/chartb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632704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08760" y="5394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AI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5166360" y="5394960"/>
            <a:ext cx="6248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interactive dashboards for management decisions.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D71920"/>
          </a:solidFill>
          <a:ln/>
          <a:effectLst>
            <a:outerShdw sx="100000" sy="100000" kx="0" ky="0" algn="bl" rotWithShape="0" blurRad="76200" dist="25400" dir="5400000">
              <a:srgbClr val="9E1319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5-MONTH ROLLOUT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0392" y="1161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Implementation Plan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1148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34440" y="3246120"/>
            <a:ext cx="9722815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23544" y="2935224"/>
            <a:ext cx="621792" cy="621792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9" name="Image 1" descr="/home/claude/maxfashion_ppt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090672"/>
            <a:ext cx="310896" cy="3108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88720" y="320040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8288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BE9EA"/>
          </a:solidFill>
          <a:ln w="12700">
            <a:solidFill>
              <a:srgbClr val="F0C7C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20040" y="21579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234440" y="2697480"/>
            <a:ext cx="0" cy="237744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3354248" y="2935224"/>
            <a:ext cx="621792" cy="621792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16" name="Image 2" descr="/home/claude/maxfashion_ppt/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696" y="3090672"/>
            <a:ext cx="310896" cy="310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619424" y="320040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Shape 13"/>
          <p:cNvSpPr/>
          <p:nvPr/>
        </p:nvSpPr>
        <p:spPr>
          <a:xfrm>
            <a:off x="2705024" y="37490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BE9EA"/>
          </a:solidFill>
          <a:ln w="12700">
            <a:solidFill>
              <a:srgbClr val="F0C7C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750744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2750744" y="40782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Development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665144" y="3557016"/>
            <a:ext cx="0" cy="192024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5784952" y="2935224"/>
            <a:ext cx="621792" cy="621792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23" name="Image 3" descr="/home/claude/maxfashion_ppt/icons/flas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400" y="3090672"/>
            <a:ext cx="310896" cy="31089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050128" y="320040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Shape 19"/>
          <p:cNvSpPr/>
          <p:nvPr/>
        </p:nvSpPr>
        <p:spPr>
          <a:xfrm>
            <a:off x="5135728" y="18288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BE9EA"/>
          </a:solidFill>
          <a:ln w="12700">
            <a:solidFill>
              <a:srgbClr val="F0C7C9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181448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181448" y="21579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095848" y="2697480"/>
            <a:ext cx="0" cy="237744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8215655" y="2935224"/>
            <a:ext cx="621792" cy="621792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30" name="Image 4" descr="/home/claude/maxfashion_ppt/icons/gradc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103" y="3090672"/>
            <a:ext cx="310896" cy="31089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480831" y="320040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2" name="Shape 25"/>
          <p:cNvSpPr/>
          <p:nvPr/>
        </p:nvSpPr>
        <p:spPr>
          <a:xfrm>
            <a:off x="7566431" y="37490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BE9EA"/>
          </a:solidFill>
          <a:ln w="12700">
            <a:solidFill>
              <a:srgbClr val="F0C7C9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612151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7612151" y="40782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Training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526551" y="3557016"/>
            <a:ext cx="0" cy="192024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36" name="Shape 29"/>
          <p:cNvSpPr/>
          <p:nvPr/>
        </p:nvSpPr>
        <p:spPr>
          <a:xfrm>
            <a:off x="10646359" y="2935224"/>
            <a:ext cx="621792" cy="621792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37" name="Image 5" descr="/home/claude/maxfashion_ppt/icons/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1807" y="3090672"/>
            <a:ext cx="310896" cy="310896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10911535" y="320040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9" name="Shape 31"/>
          <p:cNvSpPr/>
          <p:nvPr/>
        </p:nvSpPr>
        <p:spPr>
          <a:xfrm>
            <a:off x="9997135" y="18288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BE9EA"/>
          </a:solidFill>
          <a:ln w="12700">
            <a:solidFill>
              <a:srgbClr val="F0C7C9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10042855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5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10042855" y="21579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10957255" y="2697480"/>
            <a:ext cx="0" cy="237744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43" name="Shape 35"/>
          <p:cNvSpPr/>
          <p:nvPr/>
        </p:nvSpPr>
        <p:spPr>
          <a:xfrm>
            <a:off x="502920" y="5257800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</p:sp>
      <p:sp>
        <p:nvSpPr>
          <p:cNvPr id="44" name="Text 36"/>
          <p:cNvSpPr/>
          <p:nvPr/>
        </p:nvSpPr>
        <p:spPr>
          <a:xfrm>
            <a:off x="502920" y="52578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and optimization ensure long-term AI success.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D71920"/>
          </a:solidFill>
          <a:ln/>
          <a:effectLst>
            <a:outerShdw sx="100000" sy="100000" kx="0" ky="0" algn="bl" rotWithShape="0" blurRad="76200" dist="25400" dir="5400000">
              <a:srgbClr val="9E1319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0392" y="1161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Ethical Issues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1148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920240"/>
            <a:ext cx="3520440" cy="2084832"/>
          </a:xfrm>
          <a:prstGeom prst="roundRect">
            <a:avLst>
              <a:gd name="adj" fmla="val 4386"/>
            </a:avLst>
          </a:prstGeom>
          <a:solidFill>
            <a:srgbClr val="FCF5E2"/>
          </a:solidFill>
          <a:ln w="12700">
            <a:solidFill>
              <a:srgbClr val="E7D89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" y="2176272"/>
            <a:ext cx="731520" cy="731520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9" name="Image 1" descr="/home/claude/maxfashion_ppt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7" y="2351837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3054096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40156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customer personal information.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24528" y="1920240"/>
            <a:ext cx="3520440" cy="2084832"/>
          </a:xfrm>
          <a:prstGeom prst="roundRect">
            <a:avLst>
              <a:gd name="adj" fmla="val 4386"/>
            </a:avLst>
          </a:prstGeom>
          <a:solidFill>
            <a:srgbClr val="FCF5E2"/>
          </a:solidFill>
          <a:ln w="12700">
            <a:solidFill>
              <a:srgbClr val="E7D89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80560" y="2176272"/>
            <a:ext cx="731520" cy="731520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14" name="Image 2" descr="/home/claude/maxfashion_ppt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125" y="2351837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3054096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480560" y="340156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unauthorized access to retail systems.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946136" y="1920240"/>
            <a:ext cx="3520440" cy="2084832"/>
          </a:xfrm>
          <a:prstGeom prst="roundRect">
            <a:avLst>
              <a:gd name="adj" fmla="val 4386"/>
            </a:avLst>
          </a:prstGeom>
          <a:solidFill>
            <a:srgbClr val="FCF5E2"/>
          </a:solidFill>
          <a:ln w="12700">
            <a:solidFill>
              <a:srgbClr val="E7D89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02168" y="2176272"/>
            <a:ext cx="731520" cy="731520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19" name="Image 3" descr="/home/claude/maxfashion_ppt/icons/sca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733" y="2351837"/>
            <a:ext cx="380390" cy="3803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02168" y="3054096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Bias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202168" y="340156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fair product recommendations.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2363724" y="4297680"/>
            <a:ext cx="3520440" cy="2084832"/>
          </a:xfrm>
          <a:prstGeom prst="roundRect">
            <a:avLst>
              <a:gd name="adj" fmla="val 4386"/>
            </a:avLst>
          </a:prstGeom>
          <a:solidFill>
            <a:srgbClr val="FCF5E2"/>
          </a:solidFill>
          <a:ln w="12700">
            <a:solidFill>
              <a:srgbClr val="E7D89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619756" y="4553712"/>
            <a:ext cx="731520" cy="731520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24" name="Image 4" descr="/home/claude/maxfashion_ppt/icons/users_white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5321" y="4729277"/>
            <a:ext cx="380390" cy="38039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619756" y="5431536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Adaptation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2619756" y="577900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employees to work alongside AI systems.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085332" y="4297680"/>
            <a:ext cx="3520440" cy="2084832"/>
          </a:xfrm>
          <a:prstGeom prst="roundRect">
            <a:avLst>
              <a:gd name="adj" fmla="val 4386"/>
            </a:avLst>
          </a:prstGeom>
          <a:solidFill>
            <a:srgbClr val="FCF5E2"/>
          </a:solidFill>
          <a:ln w="12700">
            <a:solidFill>
              <a:srgbClr val="E7D89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341364" y="4553712"/>
            <a:ext cx="731520" cy="731520"/>
          </a:xfrm>
          <a:prstGeom prst="ellipse">
            <a:avLst/>
          </a:prstGeom>
          <a:solidFill>
            <a:srgbClr val="D71920"/>
          </a:solidFill>
          <a:ln/>
        </p:spPr>
      </p:sp>
      <p:pic>
        <p:nvPicPr>
          <p:cNvPr id="29" name="Image 5" descr="/home/claude/maxfashion_ppt/icons/doll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929" y="4729277"/>
            <a:ext cx="380390" cy="38039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341364" y="5431536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Initial Cost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6341364" y="577900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required before realizing benefits.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D71920"/>
          </a:solidFill>
          <a:ln/>
          <a:effectLst>
            <a:outerShdw sx="100000" sy="100000" kx="0" ky="0" algn="bl" rotWithShape="0" blurRad="76200" dist="25400" dir="5400000">
              <a:srgbClr val="9E1319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WHAT MATTERS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0392" y="1161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(KPIs)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1148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21488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2148840"/>
            <a:ext cx="208483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Shape 6"/>
          <p:cNvSpPr/>
          <p:nvPr/>
        </p:nvSpPr>
        <p:spPr>
          <a:xfrm>
            <a:off x="1234440" y="2459736"/>
            <a:ext cx="621792" cy="621792"/>
          </a:xfrm>
          <a:prstGeom prst="ellipse">
            <a:avLst/>
          </a:prstGeom>
          <a:solidFill>
            <a:srgbClr val="FBE9EA"/>
          </a:solidFill>
          <a:ln w="19050">
            <a:solidFill>
              <a:srgbClr val="D71920"/>
            </a:solidFill>
            <a:prstDash val="solid"/>
          </a:ln>
        </p:spPr>
      </p:sp>
      <p:pic>
        <p:nvPicPr>
          <p:cNvPr id="10" name="Image 1" descr="/home/claude/maxfashion_ppt/icons/trendup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70" y="2608966"/>
            <a:ext cx="323332" cy="3233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32461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594360" y="399592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52344" y="21488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52344" y="2148840"/>
            <a:ext cx="208483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1"/>
          <p:cNvSpPr/>
          <p:nvPr/>
        </p:nvSpPr>
        <p:spPr>
          <a:xfrm>
            <a:off x="3483864" y="2459736"/>
            <a:ext cx="621792" cy="621792"/>
          </a:xfrm>
          <a:prstGeom prst="ellipse">
            <a:avLst/>
          </a:prstGeom>
          <a:solidFill>
            <a:srgbClr val="FBE9EA"/>
          </a:solidFill>
          <a:ln w="19050">
            <a:solidFill>
              <a:srgbClr val="D71920"/>
            </a:solidFill>
            <a:prstDash val="solid"/>
          </a:ln>
        </p:spPr>
      </p:sp>
      <p:pic>
        <p:nvPicPr>
          <p:cNvPr id="16" name="Image 2" descr="/home/claude/maxfashion_ppt/icons/packagecheck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094" y="260896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43784" y="32461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2843784" y="399592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Accuracy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01768" y="21488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01768" y="2148840"/>
            <a:ext cx="208483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6"/>
          <p:cNvSpPr/>
          <p:nvPr/>
        </p:nvSpPr>
        <p:spPr>
          <a:xfrm>
            <a:off x="5733288" y="2459736"/>
            <a:ext cx="621792" cy="621792"/>
          </a:xfrm>
          <a:prstGeom prst="ellipse">
            <a:avLst/>
          </a:prstGeom>
          <a:solidFill>
            <a:srgbClr val="FBE9EA"/>
          </a:solidFill>
          <a:ln w="19050">
            <a:solidFill>
              <a:srgbClr val="D71920"/>
            </a:solidFill>
            <a:prstDash val="solid"/>
          </a:ln>
        </p:spPr>
      </p:sp>
      <p:pic>
        <p:nvPicPr>
          <p:cNvPr id="22" name="Image 3" descr="/home/claude/maxfashion_ppt/icons/smile_red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518" y="2608966"/>
            <a:ext cx="323332" cy="3233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93208" y="32461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</a:t>
            </a:r>
            <a:endParaRPr lang="en-US" sz="2700" dirty="0"/>
          </a:p>
        </p:txBody>
      </p:sp>
      <p:sp>
        <p:nvSpPr>
          <p:cNvPr id="24" name="Text 18"/>
          <p:cNvSpPr/>
          <p:nvPr/>
        </p:nvSpPr>
        <p:spPr>
          <a:xfrm>
            <a:off x="5093208" y="399592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251192" y="21488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251192" y="2148840"/>
            <a:ext cx="208483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Shape 21"/>
          <p:cNvSpPr/>
          <p:nvPr/>
        </p:nvSpPr>
        <p:spPr>
          <a:xfrm>
            <a:off x="7982712" y="2459736"/>
            <a:ext cx="621792" cy="621792"/>
          </a:xfrm>
          <a:prstGeom prst="ellipse">
            <a:avLst/>
          </a:prstGeom>
          <a:solidFill>
            <a:srgbClr val="FBE9EA"/>
          </a:solidFill>
          <a:ln w="19050">
            <a:solidFill>
              <a:srgbClr val="D71920"/>
            </a:solidFill>
            <a:prstDash val="solid"/>
          </a:ln>
        </p:spPr>
      </p:sp>
      <p:pic>
        <p:nvPicPr>
          <p:cNvPr id="28" name="Image 4" descr="/home/claude/maxfashion_ppt/icons/store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942" y="2608966"/>
            <a:ext cx="323332" cy="3233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42632" y="32461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</a:t>
            </a:r>
            <a:endParaRPr lang="en-US" sz="2700" dirty="0"/>
          </a:p>
        </p:txBody>
      </p:sp>
      <p:sp>
        <p:nvSpPr>
          <p:cNvPr id="30" name="Text 23"/>
          <p:cNvSpPr/>
          <p:nvPr/>
        </p:nvSpPr>
        <p:spPr>
          <a:xfrm>
            <a:off x="7342632" y="399592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Availability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9500616" y="21488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9500616" y="2148840"/>
            <a:ext cx="208483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Shape 26"/>
          <p:cNvSpPr/>
          <p:nvPr/>
        </p:nvSpPr>
        <p:spPr>
          <a:xfrm>
            <a:off x="10232136" y="2459736"/>
            <a:ext cx="621792" cy="621792"/>
          </a:xfrm>
          <a:prstGeom prst="ellipse">
            <a:avLst/>
          </a:prstGeom>
          <a:solidFill>
            <a:srgbClr val="FBE9EA"/>
          </a:solidFill>
          <a:ln w="19050">
            <a:solidFill>
              <a:srgbClr val="D71920"/>
            </a:solidFill>
            <a:prstDash val="solid"/>
          </a:ln>
        </p:spPr>
      </p:sp>
      <p:pic>
        <p:nvPicPr>
          <p:cNvPr id="34" name="Image 5" descr="/home/claude/maxfashion_ppt/icons/trenddown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1366" y="2608966"/>
            <a:ext cx="323332" cy="3233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592056" y="324612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</a:t>
            </a:r>
            <a:endParaRPr lang="en-US" sz="2700" dirty="0"/>
          </a:p>
        </p:txBody>
      </p:sp>
      <p:sp>
        <p:nvSpPr>
          <p:cNvPr id="36" name="Text 28"/>
          <p:cNvSpPr/>
          <p:nvPr/>
        </p:nvSpPr>
        <p:spPr>
          <a:xfrm>
            <a:off x="9592056" y="3995928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02920" y="51663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enables measurable improvements in retail performance.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D71920"/>
          </a:solidFill>
          <a:ln/>
          <a:effectLst>
            <a:outerShdw sx="100000" sy="100000" kx="0" ky="0" algn="bl" rotWithShape="0" blurRad="76200" dist="25400" dir="5400000">
              <a:srgbClr val="9E1319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" y="9509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MAX FASHION GAINS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0392" y="1161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11185855" cy="41148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pic>
        <p:nvPicPr>
          <p:cNvPr id="7" name="Image 1" descr="/home/claude/maxfashion_ppt/icons/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848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0574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demand forecasting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02920" y="2532888"/>
            <a:ext cx="60350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pic>
        <p:nvPicPr>
          <p:cNvPr id="10" name="Image 2" descr="/home/claude/maxfashion_ppt/icons/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15184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58775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inventory cost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02920" y="3063240"/>
            <a:ext cx="60350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pic>
        <p:nvPicPr>
          <p:cNvPr id="13" name="Image 3" descr="/home/claude/maxfashion_ppt/icons/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45536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1181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 making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502920" y="3593592"/>
            <a:ext cx="60350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pic>
        <p:nvPicPr>
          <p:cNvPr id="16" name="Image 4" descr="/home/claude/maxfashion_ppt/icons/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75888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64845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experience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502920" y="4123944"/>
            <a:ext cx="60350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pic>
        <p:nvPicPr>
          <p:cNvPr id="19" name="Image 5" descr="/home/claude/maxfashion_ppt/icons/chec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206240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0120" y="41788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employee productivity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502920" y="4654296"/>
            <a:ext cx="60350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pic>
        <p:nvPicPr>
          <p:cNvPr id="22" name="Image 6" descr="/home/claude/maxfashion_ppt/icons/chec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736592"/>
            <a:ext cx="310896" cy="31089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60120" y="47091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sales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502920" y="5184648"/>
            <a:ext cx="60350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pic>
        <p:nvPicPr>
          <p:cNvPr id="25" name="Image 7" descr="/home/claude/maxfashion_ppt/icons/chec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5266944"/>
            <a:ext cx="310896" cy="31089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60120" y="52395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profitability</a:t>
            </a:r>
            <a:endParaRPr lang="en-US" sz="1500" dirty="0"/>
          </a:p>
        </p:txBody>
      </p:sp>
      <p:sp>
        <p:nvSpPr>
          <p:cNvPr id="27" name="Shape 17"/>
          <p:cNvSpPr/>
          <p:nvPr/>
        </p:nvSpPr>
        <p:spPr>
          <a:xfrm>
            <a:off x="7452360" y="2057400"/>
            <a:ext cx="4236415" cy="3794760"/>
          </a:xfrm>
          <a:prstGeom prst="roundRect">
            <a:avLst>
              <a:gd name="adj" fmla="val 2892"/>
            </a:avLst>
          </a:prstGeom>
          <a:solidFill>
            <a:srgbClr val="D71920"/>
          </a:solidFill>
          <a:ln/>
        </p:spPr>
      </p:sp>
      <p:sp>
        <p:nvSpPr>
          <p:cNvPr id="28" name="Shape 18"/>
          <p:cNvSpPr/>
          <p:nvPr/>
        </p:nvSpPr>
        <p:spPr>
          <a:xfrm>
            <a:off x="8336128" y="2560320"/>
            <a:ext cx="2468880" cy="2468880"/>
          </a:xfrm>
          <a:prstGeom prst="ellipse">
            <a:avLst/>
          </a:prstGeom>
          <a:solidFill>
            <a:srgbClr val="9E1319">
              <a:alpha val="80000"/>
            </a:srgbClr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9" name="Image 8" descr="/home/claude/maxfashion_ppt/icons/bag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6208" y="3200400"/>
            <a:ext cx="1188720" cy="11887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635240" y="493776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600" dirty="0"/>
          </a:p>
        </p:txBody>
      </p:sp>
      <p:sp>
        <p:nvSpPr>
          <p:cNvPr id="31" name="Text 20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32" name="Text 21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68680"/>
            <a:ext cx="11185855" cy="777240"/>
          </a:xfrm>
          <a:prstGeom prst="roundRect">
            <a:avLst>
              <a:gd name="adj" fmla="val 10588"/>
            </a:avLst>
          </a:prstGeom>
          <a:solidFill>
            <a:srgbClr val="D71920"/>
          </a:solidFill>
          <a:ln/>
          <a:effectLst>
            <a:outerShdw sx="100000" sy="100000" kx="0" ky="0" algn="bl" rotWithShape="0" blurRad="76200" dist="25400" dir="5400000">
              <a:srgbClr val="9E1319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50392" y="8686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64208"/>
            <a:ext cx="11185855" cy="41148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pic>
        <p:nvPicPr>
          <p:cNvPr id="6" name="Image 1" descr="/home/claude/maxfashion_ppt/icons/quot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274320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can transform Max Fashion by improving forecasting, customer personalization, inventory management, and operational efficiency.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502920" y="361188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proper implementation, AI will help Max Fashion achieve sustainable growth, improved customer satisfaction, and stronger competitiveness in the retail market.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02920" y="4846320"/>
            <a:ext cx="11185855" cy="1051560"/>
          </a:xfrm>
          <a:prstGeom prst="roundRect">
            <a:avLst>
              <a:gd name="adj" fmla="val 8696"/>
            </a:avLst>
          </a:prstGeom>
          <a:solidFill>
            <a:srgbClr val="D71920"/>
          </a:solidFill>
          <a:ln/>
        </p:spPr>
      </p:sp>
      <p:pic>
        <p:nvPicPr>
          <p:cNvPr id="10" name="Image 2" descr="/home/claude/maxfashion_ppt/icons/quo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9379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84632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is not replacing retail—it is making retail smarter."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719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011680"/>
            <a:ext cx="5943600" cy="5943600"/>
          </a:xfrm>
          <a:prstGeom prst="ellipse">
            <a:avLst/>
          </a:prstGeom>
          <a:solidFill>
            <a:srgbClr val="9E1319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-914400"/>
            <a:ext cx="3474720" cy="3474720"/>
          </a:xfrm>
          <a:prstGeom prst="ellipse">
            <a:avLst/>
          </a:prstGeom>
          <a:solidFill>
            <a:srgbClr val="C9A227">
              <a:alpha val="18000"/>
            </a:srgbClr>
          </a:solidFill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2926080"/>
            <a:ext cx="4937760" cy="4937760"/>
          </a:xfrm>
          <a:prstGeom prst="ellipse">
            <a:avLst/>
          </a:prstGeom>
          <a:solidFill>
            <a:srgbClr val="9E1319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70871" y="36576"/>
            <a:ext cx="1664208" cy="764120"/>
          </a:xfrm>
          <a:prstGeom prst="roundRect">
            <a:avLst>
              <a:gd name="adj" fmla="val 83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maxfashion_ppt/logo/iss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7175" y="146304"/>
            <a:ext cx="1371600" cy="5446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5592928" y="3337560"/>
            <a:ext cx="100584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D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D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  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Lingesh K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0" y="473659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7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  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OSI2509030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Lingesh K</a:t>
            </a:r>
            <a:pPr algn="l" indent="0" marL="0">
              <a:buNone/>
            </a:pPr>
            <a:r>
              <a:rPr lang="en-US" sz="950" dirty="0">
                <a:solidFill>
                  <a:srgbClr val="F0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Register No: OSI2509030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91495" y="65471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2026-08-04T04:44:25Z</dcterms:created>
  <dcterms:modified xsi:type="dcterms:W3CDTF">2026-08-04T04:44:25Z</dcterms:modified>
</cp:coreProperties>
</file>