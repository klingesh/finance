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Open by naming the four AI capabilities the case covers: RPA, chatbots, PaaS and adaptive fraud prevention.</a:t>
            </a:r>
          </a:p>
          <a:p>
            <a:r>
              <a:rPr lang="en-IN" dirty="0"/>
              <a:t>One-line framing: HDFC uses AI to make digital banking faster, safer and more convenient - the deck takes each of those in turn.</a:t>
            </a:r>
          </a:p>
          <a:p>
            <a:r>
              <a:rPr lang="en-IN" dirty="0"/>
              <a:t>Introduce yourself and your register number, then move on. Around 20 seconds.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RPA first. The point is that KYC is a rules job, not a judgement job - read the ID, match it to a government database, open the account. Ten seconds instead of days.</a:t>
            </a:r>
          </a:p>
          <a:p>
            <a:r>
              <a:rPr lang="en-IN" dirty="0"/>
              <a:t>Chatbots second. The example to use is the 2 AM lost card: the loss does not wait for business hours, so neither should the block.</a:t>
            </a:r>
          </a:p>
          <a:p>
            <a:r>
              <a:rPr lang="en-IN" dirty="0"/>
              <a:t>Tie them together with the line in the subtitle: both remove human latency from high-volume, rule-based, time-critical work.</a:t>
            </a:r>
          </a:p>
          <a:p>
            <a:r>
              <a:rPr lang="en-IN" dirty="0"/>
              <a:t>If asked what is left for humans: exceptions, disputes and anything needing judgement or empathy.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Define PaaS in one sentence: the vendor hands over a ready-made environment, and you bring only your code.</a:t>
            </a:r>
          </a:p>
          <a:p>
            <a:r>
              <a:rPr lang="en-IN" dirty="0"/>
              <a:t>Use the stack on the right to make it concrete - hardware, operating system, servers and software tools all arrive pre-assembled.</a:t>
            </a:r>
          </a:p>
          <a:p>
            <a:r>
              <a:rPr lang="en-IN" dirty="0"/>
              <a:t>The 'where the time goes' comparison is the part to linger on: without PaaS the first three steps are pure setup that produces nothing a customer can see.</a:t>
            </a:r>
          </a:p>
          <a:p>
            <a:r>
              <a:rPr lang="en-IN" dirty="0"/>
              <a:t>If asked how PaaS differs from IaaS and SaaS: IaaS gives you raw machines, SaaS gives you finished software, PaaS sits in between - you write the application, the vendor runs everything below it.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Three benefits, one per card. Keep each to about fifteen seconds.</a:t>
            </a:r>
          </a:p>
          <a:p>
            <a:r>
              <a:rPr lang="en-IN" dirty="0"/>
              <a:t>Benefit 1 is speed - the AI engines already exist, so HDFC starts from a working platform rather than from nothing.</a:t>
            </a:r>
          </a:p>
          <a:p>
            <a:r>
              <a:rPr lang="en-IN" dirty="0"/>
              <a:t>Benefit 2 is the answer to an obvious objection: if every bank rents the same cloud, where is the advantage? In the custom layer - the bank's own loan algorithms.</a:t>
            </a:r>
          </a:p>
          <a:p>
            <a:r>
              <a:rPr lang="en-IN" dirty="0"/>
              <a:t>Benefit 3 is the one an examiner will press on, because banking is regulated. The model trains inside the bank's private environment, so customer data does not leave.</a:t>
            </a:r>
          </a:p>
          <a:p>
            <a:r>
              <a:rPr lang="en-IN" dirty="0"/>
              <a:t>The closing strip is the argument in one line: speed or control is normally a trade-off, and PaaS removes it.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This is the diagram slide. Walk it top to bottom, then left to right.</a:t>
            </a:r>
          </a:p>
          <a:p>
            <a:r>
              <a:rPr lang="en-IN" dirty="0"/>
              <a:t>Top: a transaction is triggered and the AI engine scans it in real time. Nothing is pre-judged.</a:t>
            </a:r>
          </a:p>
          <a:p>
            <a:r>
              <a:rPr lang="en-IN" dirty="0"/>
              <a:t>The engine outputs a single number - a risk score from 0 to 100 - based on how unusual the payment looks for that customer.</a:t>
            </a:r>
          </a:p>
          <a:p>
            <a:r>
              <a:rPr lang="en-IN" dirty="0"/>
              <a:t>Then the three paths. Low risk 0 to 30 is approved instantly. Medium risk 31 to 70 gets a step-up check, biometric or OTP. High risk 71 to 100 is temporarily blocked and reviewed by a human.</a:t>
            </a:r>
          </a:p>
          <a:p>
            <a:r>
              <a:rPr lang="en-IN" dirty="0"/>
              <a:t>The word to emphasise is 'adaptive' - the friction matches the risk, so a normal customer never feels the security.</a:t>
            </a:r>
          </a:p>
          <a:p>
            <a:r>
              <a:rPr lang="en-IN" dirty="0"/>
              <a:t>Likely question: what happens at the boundaries? The thresholds are tunable, and banks tighten or loosen them as fraud patterns shift.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Recap the four capabilities in one line each, then land the three outcomes: faster, safer, more convenient.</a:t>
            </a:r>
          </a:p>
          <a:p>
            <a:r>
              <a:rPr lang="en-IN" dirty="0"/>
              <a:t>The connecting idea, if you want a strong closing sentence: RPA and chatbots change the speed of banking, PaaS changes how quickly the bank can build, and adaptive fraud prevention changes how safely it can grow.</a:t>
            </a:r>
          </a:p>
          <a:p>
            <a:r>
              <a:rPr lang="en-IN" dirty="0"/>
              <a:t>Then stop and invite questions.</a:t>
            </a:r>
          </a:p>
          <a:p>
            <a:r>
              <a:rPr lang="en-IN" dirty="0"/>
              <a:t>Prepared answers: PaaS versus IaaS and SaaS; what happens to staff whose work is automated (they move to exceptions and advisory work); and how the risk thresholds are set (tuned from historical fraud data and adjusted as patterns change).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" name="Spine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540000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" name="Spine Gold"/>
          <p:cNvSpPr/>
          <p:nvPr/>
        </p:nvSpPr>
        <p:spPr>
          <a:xfrm>
            <a:off x="118872" y="0"/>
            <a:ext cx="20117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" name="Arc1"/>
          <p:cNvSpPr/>
          <p:nvPr/>
        </p:nvSpPr>
        <p:spPr>
          <a:xfrm>
            <a:off x="8595360" y="-1737360"/>
            <a:ext cx="5852160" cy="5852160"/>
          </a:xfrm>
          <a:prstGeom prst="ellipse">
            <a:avLst/>
          </a:prstGeom>
          <a:noFill/>
          <a:ln w="12700" cap="flat" cmpd="sng" algn="ctr">
            <a:solidFill>
              <a:srgbClr val="C9A227">
                <a:alpha val="26000"/>
              </a:srgbClr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6" name="Arc2"/>
          <p:cNvSpPr/>
          <p:nvPr/>
        </p:nvSpPr>
        <p:spPr>
          <a:xfrm>
            <a:off x="9418320" y="-914400"/>
            <a:ext cx="5852160" cy="5852160"/>
          </a:xfrm>
          <a:prstGeom prst="ellipse">
            <a:avLst/>
          </a:prstGeom>
          <a:noFill/>
          <a:ln w="11430" cap="flat" cmpd="sng" algn="ctr">
            <a:solidFill>
              <a:srgbClr val="C9A227">
                <a:alpha val="16000"/>
              </a:srgbClr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7" name="ISSM Crest"/>
          <p:cNvSpPr/>
          <p:nvPr/>
        </p:nvSpPr>
        <p:spPr>
          <a:xfrm>
            <a:off x="8260080" y="493776"/>
            <a:ext cx="630570" cy="731520"/>
          </a:xfrm>
          <a:custGeom>
            <a:avLst/>
            <a:gdLst/>
            <a:ahLst/>
            <a:cxnLst/>
            <a:rect l="l" t="t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solidFill>
            <a:srgbClr val="5E0B15"/>
          </a:solidFill>
          <a:ln w="2032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8" name="Crest Inner"/>
          <p:cNvSpPr/>
          <p:nvPr/>
        </p:nvSpPr>
        <p:spPr>
          <a:xfrm>
            <a:off x="8307372" y="534009"/>
            <a:ext cx="535986" cy="647395"/>
          </a:xfrm>
          <a:custGeom>
            <a:avLst/>
            <a:gdLst/>
            <a:ahLst/>
            <a:cxnLst/>
            <a:rect l="l" t="t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noFill/>
          <a:ln w="9525" cap="flat" cmpd="sng" algn="ctr">
            <a:solidFill>
              <a:srgbClr val="E3C567">
                <a:alpha val="70000"/>
              </a:srgbClr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9" name="Flame"/>
          <p:cNvSpPr/>
          <p:nvPr/>
        </p:nvSpPr>
        <p:spPr>
          <a:xfrm>
            <a:off x="8536741" y="592531"/>
            <a:ext cx="77248" cy="117043"/>
          </a:xfrm>
          <a:custGeom>
            <a:avLst/>
            <a:gdLst/>
            <a:ahLst/>
            <a:cxnLst/>
            <a:rect l="l" t="t" r="r" b="b"/>
            <a:pathLst>
              <a:path w="100" h="140">
                <a:moveTo>
                  <a:pt x="50" y="0"/>
                </a:moveTo>
                <a:cubicBezTo>
                  <a:pt x="86" y="46"/>
                  <a:pt x="100" y="72"/>
                  <a:pt x="76" y="106"/>
                </a:cubicBezTo>
                <a:cubicBezTo>
                  <a:pt x="63" y="124"/>
                  <a:pt x="37" y="124"/>
                  <a:pt x="24" y="106"/>
                </a:cubicBezTo>
                <a:cubicBezTo>
                  <a:pt x="0" y="72"/>
                  <a:pt x="14" y="46"/>
                  <a:pt x="50" y="0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0" name="Stem"/>
          <p:cNvSpPr/>
          <p:nvPr/>
        </p:nvSpPr>
        <p:spPr>
          <a:xfrm>
            <a:off x="8562123" y="709574"/>
            <a:ext cx="26483" cy="106070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1" name="Collar"/>
          <p:cNvSpPr/>
          <p:nvPr/>
        </p:nvSpPr>
        <p:spPr>
          <a:xfrm>
            <a:off x="8534378" y="804672"/>
            <a:ext cx="81974" cy="16093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2" name="Page L"/>
          <p:cNvSpPr/>
          <p:nvPr/>
        </p:nvSpPr>
        <p:spPr>
          <a:xfrm>
            <a:off x="8411417" y="841248"/>
            <a:ext cx="155750" cy="137716"/>
          </a:xfrm>
          <a:custGeom>
            <a:avLst/>
            <a:gdLst/>
            <a:ahLst/>
            <a:cxnLst/>
            <a:rect l="l" t="t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3" name="Page R"/>
          <p:cNvSpPr/>
          <p:nvPr/>
        </p:nvSpPr>
        <p:spPr>
          <a:xfrm flipH="1">
            <a:off x="8583563" y="841248"/>
            <a:ext cx="155750" cy="137716"/>
          </a:xfrm>
          <a:custGeom>
            <a:avLst/>
            <a:gdLst/>
            <a:ahLst/>
            <a:cxnLst/>
            <a:rect l="l" t="t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4" name="Spine"/>
          <p:cNvSpPr/>
          <p:nvPr/>
        </p:nvSpPr>
        <p:spPr>
          <a:xfrm>
            <a:off x="8567167" y="890114"/>
            <a:ext cx="16396" cy="71079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5" name="Ribbon"/>
          <p:cNvSpPr/>
          <p:nvPr/>
        </p:nvSpPr>
        <p:spPr>
          <a:xfrm>
            <a:off x="8398805" y="1002182"/>
            <a:ext cx="353119" cy="36576"/>
          </a:xfrm>
          <a:custGeom>
            <a:avLst/>
            <a:gdLst/>
            <a:ahLst/>
            <a:cxnLst/>
            <a:rect l="l" t="t" r="r" b="b"/>
            <a:pathLst>
              <a:path w="1000" h="100">
                <a:moveTo>
                  <a:pt x="0" y="0"/>
                </a:moveTo>
                <a:lnTo>
                  <a:pt x="1000" y="0"/>
                </a:lnTo>
                <a:lnTo>
                  <a:pt x="925" y="50"/>
                </a:lnTo>
                <a:lnTo>
                  <a:pt x="1000" y="100"/>
                </a:lnTo>
                <a:lnTo>
                  <a:pt x="0" y="100"/>
                </a:lnTo>
                <a:lnTo>
                  <a:pt x="75" y="5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6" name="ISSM Wordmark"/>
          <p:cNvSpPr/>
          <p:nvPr/>
        </p:nvSpPr>
        <p:spPr>
          <a:xfrm>
            <a:off x="9007693" y="534009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2080" b="1" spc="60" dirty="0">
                <a:solidFill>
                  <a:srgbClr val="9E1B32"/>
                </a:solidFill>
                <a:latin typeface="Georgia"/>
                <a:cs typeface="Georgia"/>
              </a:rPr>
              <a:t>ISSM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928" b="1" spc="170" dirty="0">
                <a:solidFill>
                  <a:srgbClr val="C9A227"/>
                </a:solidFill>
                <a:latin typeface="Calibri"/>
                <a:cs typeface="Calibri"/>
              </a:rPr>
              <a:t>BUSINESS SCHOOL</a:t>
            </a:r>
          </a:p>
          <a:p>
            <a:pPr algn="l">
              <a:spcBef>
                <a:spcPts val="300"/>
              </a:spcBef>
              <a:buNone/>
            </a:pPr>
            <a:r>
              <a:rPr lang="en-IN" sz="640" b="1" spc="130" dirty="0">
                <a:solidFill>
                  <a:srgbClr val="7A7A85"/>
                </a:solidFill>
                <a:latin typeface="Calibri"/>
                <a:cs typeface="Calibri"/>
              </a:rPr>
              <a:t>CHENNAI  |  HYDERABAD</a:t>
            </a:r>
          </a:p>
        </p:txBody>
      </p:sp>
      <p:sp>
        <p:nvSpPr>
          <p:cNvPr id="17" name="Pill"/>
          <p:cNvSpPr/>
          <p:nvPr/>
        </p:nvSpPr>
        <p:spPr>
          <a:xfrm>
            <a:off x="603504" y="1920240"/>
            <a:ext cx="2212848" cy="32918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1020" b="1" spc="200" dirty="0">
                <a:solidFill>
                  <a:srgbClr val="5E0B15"/>
                </a:solidFill>
                <a:latin typeface="Calibri"/>
                <a:cs typeface="Calibri"/>
              </a:rPr>
              <a:t>CASE STUDY 2</a:t>
            </a:r>
          </a:p>
        </p:txBody>
      </p:sp>
      <p:sp>
        <p:nvSpPr>
          <p:cNvPr id="18" name="Badge Sub"/>
          <p:cNvSpPr/>
          <p:nvPr/>
        </p:nvSpPr>
        <p:spPr>
          <a:xfrm>
            <a:off x="2980944" y="195681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80" b="1" spc="170" dirty="0">
                <a:solidFill>
                  <a:srgbClr val="7A7A85"/>
                </a:solidFill>
                <a:latin typeface="Calibri"/>
                <a:cs typeface="Calibri"/>
              </a:rPr>
              <a:t>AI IN BANKING  |  DIGITAL TRANSFORMATION</a:t>
            </a:r>
          </a:p>
        </p:txBody>
      </p:sp>
      <p:sp>
        <p:nvSpPr>
          <p:cNvPr id="19" name="Main Title"/>
          <p:cNvSpPr/>
          <p:nvPr/>
        </p:nvSpPr>
        <p:spPr>
          <a:xfrm>
            <a:off x="603504" y="2432304"/>
            <a:ext cx="95097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en-IN" sz="5200" b="1" spc="-30" dirty="0">
                <a:solidFill>
                  <a:srgbClr val="5E0B15"/>
                </a:solidFill>
                <a:latin typeface="Georgia"/>
                <a:cs typeface="Georgia"/>
              </a:rPr>
              <a:t>HDFC Bank</a:t>
            </a:r>
          </a:p>
        </p:txBody>
      </p:sp>
      <p:sp>
        <p:nvSpPr>
          <p:cNvPr id="20" name="Subtitle"/>
          <p:cNvSpPr/>
          <p:nvPr/>
        </p:nvSpPr>
        <p:spPr>
          <a:xfrm>
            <a:off x="603504" y="320040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IN" sz="2700" b="1" spc="-10" dirty="0">
                <a:solidFill>
                  <a:srgbClr val="9E1B32"/>
                </a:solidFill>
                <a:latin typeface="Georgia"/>
                <a:cs typeface="Georgia"/>
              </a:rPr>
              <a:t>AI-Driven Digital Banking Transformation</a:t>
            </a:r>
          </a:p>
        </p:txBody>
      </p:sp>
      <p:sp>
        <p:nvSpPr>
          <p:cNvPr id="21" name="Rule"/>
          <p:cNvSpPr/>
          <p:nvPr/>
        </p:nvSpPr>
        <p:spPr>
          <a:xfrm>
            <a:off x="603504" y="3877056"/>
            <a:ext cx="13716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2" name="Pill"/>
          <p:cNvSpPr/>
          <p:nvPr/>
        </p:nvSpPr>
        <p:spPr>
          <a:xfrm>
            <a:off x="603504" y="41148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900" b="1" spc="110" dirty="0">
                <a:solidFill>
                  <a:srgbClr val="9E1B32"/>
                </a:solidFill>
                <a:latin typeface="Calibri"/>
                <a:cs typeface="Calibri"/>
              </a:rPr>
              <a:t>RPA</a:t>
            </a:r>
          </a:p>
        </p:txBody>
      </p:sp>
      <p:sp>
        <p:nvSpPr>
          <p:cNvPr id="23" name="Pill"/>
          <p:cNvSpPr/>
          <p:nvPr/>
        </p:nvSpPr>
        <p:spPr>
          <a:xfrm>
            <a:off x="2935224" y="41148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900" b="1" spc="110" dirty="0">
                <a:solidFill>
                  <a:srgbClr val="9E1B32"/>
                </a:solidFill>
                <a:latin typeface="Calibri"/>
                <a:cs typeface="Calibri"/>
              </a:rPr>
              <a:t>CHATBOTS</a:t>
            </a:r>
          </a:p>
        </p:txBody>
      </p:sp>
      <p:sp>
        <p:nvSpPr>
          <p:cNvPr id="24" name="Pill"/>
          <p:cNvSpPr/>
          <p:nvPr/>
        </p:nvSpPr>
        <p:spPr>
          <a:xfrm>
            <a:off x="5266944" y="41148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900" b="1" spc="110" dirty="0">
                <a:solidFill>
                  <a:srgbClr val="9E1B32"/>
                </a:solidFill>
                <a:latin typeface="Calibri"/>
                <a:cs typeface="Calibri"/>
              </a:rPr>
              <a:t>PLATFORM AS A SERVICE</a:t>
            </a:r>
          </a:p>
        </p:txBody>
      </p:sp>
      <p:sp>
        <p:nvSpPr>
          <p:cNvPr id="25" name="Pill"/>
          <p:cNvSpPr/>
          <p:nvPr/>
        </p:nvSpPr>
        <p:spPr>
          <a:xfrm>
            <a:off x="7598664" y="41148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900" b="1" spc="110" dirty="0">
                <a:solidFill>
                  <a:srgbClr val="9E1B32"/>
                </a:solidFill>
                <a:latin typeface="Calibri"/>
                <a:cs typeface="Calibri"/>
              </a:rPr>
              <a:t>ADAPTIVE FRAUD PREVENTION</a:t>
            </a:r>
          </a:p>
        </p:txBody>
      </p:sp>
      <p:sp>
        <p:nvSpPr>
          <p:cNvPr id="26" name="Card"/>
          <p:cNvSpPr/>
          <p:nvPr/>
        </p:nvSpPr>
        <p:spPr>
          <a:xfrm>
            <a:off x="603504" y="4809744"/>
            <a:ext cx="4983480" cy="1005840"/>
          </a:xfrm>
          <a:prstGeom prst="roundRect">
            <a:avLst>
              <a:gd name="adj" fmla="val 4000"/>
            </a:avLst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2700000" scaled="0"/>
          </a:gradFill>
          <a:ln>
            <a:noFill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7" name="Bar"/>
          <p:cNvSpPr/>
          <p:nvPr/>
        </p:nvSpPr>
        <p:spPr>
          <a:xfrm>
            <a:off x="603504" y="4809744"/>
            <a:ext cx="45720" cy="10058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8" name="Presenter"/>
          <p:cNvSpPr/>
          <p:nvPr/>
        </p:nvSpPr>
        <p:spPr>
          <a:xfrm>
            <a:off x="914400" y="493776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40" b="1" spc="200" dirty="0">
                <a:solidFill>
                  <a:srgbClr val="E3C567"/>
                </a:solidFill>
                <a:latin typeface="Calibri"/>
                <a:cs typeface="Calibri"/>
              </a:rPr>
              <a:t>PRESENTED BY</a:t>
            </a:r>
          </a:p>
          <a:p>
            <a:pPr algn="l">
              <a:spcBef>
                <a:spcPts val="300"/>
              </a:spcBef>
              <a:buNone/>
            </a:pPr>
            <a:r>
              <a:rPr lang="en-IN" sz="1900" b="1" dirty="0">
                <a:solidFill>
                  <a:srgbClr val="FFFFFF"/>
                </a:solidFill>
                <a:latin typeface="Georgia"/>
                <a:cs typeface="Georgia"/>
              </a:rPr>
              <a:t>Prahadhesvaryaa K S</a:t>
            </a:r>
          </a:p>
          <a:p>
            <a:pPr algn="l">
              <a:spcBef>
                <a:spcPts val="300"/>
              </a:spcBef>
              <a:buNone/>
            </a:pPr>
            <a:r>
              <a:rPr lang="en-IN" sz="980" dirty="0">
                <a:solidFill>
                  <a:srgbClr val="E4D2C6"/>
                </a:solidFill>
                <a:latin typeface="Calibri"/>
                <a:cs typeface="Calibri"/>
              </a:rPr>
              <a:t>MBA — Finance   |   Register No. </a:t>
            </a:r>
            <a:r>
              <a:rPr lang="en-IN" sz="980" b="1" spc="50" dirty="0">
                <a:solidFill>
                  <a:srgbClr val="E3C567"/>
                </a:solidFill>
                <a:latin typeface="Calibri"/>
                <a:cs typeface="Calibri"/>
              </a:rPr>
              <a:t>OSI2509093</a:t>
            </a:r>
          </a:p>
        </p:txBody>
      </p:sp>
      <p:sp>
        <p:nvSpPr>
          <p:cNvPr id="29" name="Submitted"/>
          <p:cNvSpPr/>
          <p:nvPr/>
        </p:nvSpPr>
        <p:spPr>
          <a:xfrm>
            <a:off x="7930896" y="5138928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>
              <a:buNone/>
            </a:pPr>
            <a:r>
              <a:rPr lang="en-IN" sz="840" b="1" spc="200" dirty="0">
                <a:solidFill>
                  <a:srgbClr val="C9A227"/>
                </a:solidFill>
                <a:latin typeface="Calibri"/>
                <a:cs typeface="Calibri"/>
              </a:rPr>
              <a:t>SUBMITTED TO</a:t>
            </a:r>
          </a:p>
          <a:p>
            <a:pPr algn="r">
              <a:spcBef>
                <a:spcPts val="300"/>
              </a:spcBef>
              <a:buNone/>
            </a:pPr>
            <a:r>
              <a:rPr lang="en-IN" sz="1340" b="1" dirty="0">
                <a:solidFill>
                  <a:srgbClr val="5E0B15"/>
                </a:solidFill>
                <a:latin typeface="Georgia"/>
                <a:cs typeface="Georgia"/>
              </a:rPr>
              <a:t>ISSM Business School</a:t>
            </a:r>
          </a:p>
          <a:p>
            <a:pPr algn="r">
              <a:spcBef>
                <a:spcPts val="200"/>
              </a:spcBef>
              <a:buNone/>
            </a:pPr>
            <a:r>
              <a:rPr lang="en-IN" sz="920" spc="60" dirty="0">
                <a:solidFill>
                  <a:srgbClr val="7A7A85"/>
                </a:solidFill>
                <a:latin typeface="Calibri"/>
                <a:cs typeface="Calibri"/>
              </a:rPr>
              <a:t>Chennai  |  Hyderabad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ine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540000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" name="Spine Gold"/>
          <p:cNvSpPr/>
          <p:nvPr/>
        </p:nvSpPr>
        <p:spPr>
          <a:xfrm>
            <a:off x="118872" y="0"/>
            <a:ext cx="20117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" name="ISSM Crest"/>
          <p:cNvSpPr/>
          <p:nvPr/>
        </p:nvSpPr>
        <p:spPr>
          <a:xfrm>
            <a:off x="9558528" y="365760"/>
            <a:ext cx="394106" cy="457200"/>
          </a:xfrm>
          <a:custGeom>
            <a:avLst/>
            <a:gdLst/>
            <a:ahLst/>
            <a:cxnLst/>
            <a:rect l="l" t="t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solidFill>
            <a:srgbClr val="5E0B15"/>
          </a:solidFill>
          <a:ln w="1270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" name="Crest Inner"/>
          <p:cNvSpPr/>
          <p:nvPr/>
        </p:nvSpPr>
        <p:spPr>
          <a:xfrm>
            <a:off x="9588085" y="390906"/>
            <a:ext cx="334992" cy="404622"/>
          </a:xfrm>
          <a:custGeom>
            <a:avLst/>
            <a:gdLst/>
            <a:ahLst/>
            <a:cxnLst/>
            <a:rect l="l" t="t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noFill/>
          <a:ln w="9525" cap="flat" cmpd="sng" algn="ctr">
            <a:solidFill>
              <a:srgbClr val="E3C567">
                <a:alpha val="70000"/>
              </a:srgbClr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6" name="Flame"/>
          <p:cNvSpPr/>
          <p:nvPr/>
        </p:nvSpPr>
        <p:spPr>
          <a:xfrm>
            <a:off x="9731441" y="427482"/>
            <a:ext cx="48280" cy="73152"/>
          </a:xfrm>
          <a:custGeom>
            <a:avLst/>
            <a:gdLst/>
            <a:ahLst/>
            <a:cxnLst/>
            <a:rect l="l" t="t" r="r" b="b"/>
            <a:pathLst>
              <a:path w="100" h="140">
                <a:moveTo>
                  <a:pt x="50" y="0"/>
                </a:moveTo>
                <a:cubicBezTo>
                  <a:pt x="86" y="46"/>
                  <a:pt x="100" y="72"/>
                  <a:pt x="76" y="106"/>
                </a:cubicBezTo>
                <a:cubicBezTo>
                  <a:pt x="63" y="124"/>
                  <a:pt x="37" y="124"/>
                  <a:pt x="24" y="106"/>
                </a:cubicBezTo>
                <a:cubicBezTo>
                  <a:pt x="0" y="72"/>
                  <a:pt x="14" y="46"/>
                  <a:pt x="50" y="0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7" name="Stem"/>
          <p:cNvSpPr/>
          <p:nvPr/>
        </p:nvSpPr>
        <p:spPr>
          <a:xfrm>
            <a:off x="9747305" y="500634"/>
            <a:ext cx="16552" cy="6629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8" name="Collar"/>
          <p:cNvSpPr/>
          <p:nvPr/>
        </p:nvSpPr>
        <p:spPr>
          <a:xfrm>
            <a:off x="9729964" y="560070"/>
            <a:ext cx="51233" cy="1005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9" name="Page L"/>
          <p:cNvSpPr/>
          <p:nvPr/>
        </p:nvSpPr>
        <p:spPr>
          <a:xfrm>
            <a:off x="9653113" y="582930"/>
            <a:ext cx="97344" cy="86072"/>
          </a:xfrm>
          <a:custGeom>
            <a:avLst/>
            <a:gdLst/>
            <a:ahLst/>
            <a:cxnLst/>
            <a:rect l="l" t="t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0" name="Page R"/>
          <p:cNvSpPr/>
          <p:nvPr/>
        </p:nvSpPr>
        <p:spPr>
          <a:xfrm flipH="1">
            <a:off x="9760704" y="582930"/>
            <a:ext cx="97344" cy="86072"/>
          </a:xfrm>
          <a:custGeom>
            <a:avLst/>
            <a:gdLst/>
            <a:ahLst/>
            <a:cxnLst/>
            <a:rect l="l" t="t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1" name="Spine"/>
          <p:cNvSpPr/>
          <p:nvPr/>
        </p:nvSpPr>
        <p:spPr>
          <a:xfrm>
            <a:off x="9750457" y="613471"/>
            <a:ext cx="10247" cy="4442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2" name="Ribbon"/>
          <p:cNvSpPr/>
          <p:nvPr/>
        </p:nvSpPr>
        <p:spPr>
          <a:xfrm>
            <a:off x="9645231" y="683514"/>
            <a:ext cx="220699" cy="22860"/>
          </a:xfrm>
          <a:custGeom>
            <a:avLst/>
            <a:gdLst/>
            <a:ahLst/>
            <a:cxnLst/>
            <a:rect l="l" t="t" r="r" b="b"/>
            <a:pathLst>
              <a:path w="1000" h="100">
                <a:moveTo>
                  <a:pt x="0" y="0"/>
                </a:moveTo>
                <a:lnTo>
                  <a:pt x="1000" y="0"/>
                </a:lnTo>
                <a:lnTo>
                  <a:pt x="925" y="50"/>
                </a:lnTo>
                <a:lnTo>
                  <a:pt x="1000" y="100"/>
                </a:lnTo>
                <a:lnTo>
                  <a:pt x="0" y="100"/>
                </a:lnTo>
                <a:lnTo>
                  <a:pt x="75" y="5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3" name="ISSM Wordmark"/>
          <p:cNvSpPr/>
          <p:nvPr/>
        </p:nvSpPr>
        <p:spPr>
          <a:xfrm>
            <a:off x="10025786" y="425196"/>
            <a:ext cx="139446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00" b="1" spc="40" dirty="0">
                <a:solidFill>
                  <a:srgbClr val="9E1B32"/>
                </a:solidFill>
                <a:latin typeface="Georgia"/>
                <a:cs typeface="Georgia"/>
              </a:rPr>
              <a:t>ISSM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510" b="1" spc="120" dirty="0">
                <a:solidFill>
                  <a:srgbClr val="C9A227"/>
                </a:solidFill>
                <a:latin typeface="Calibri"/>
                <a:cs typeface="Calibri"/>
              </a:rPr>
              <a:t>BUSINESS SCHOOL</a:t>
            </a:r>
          </a:p>
        </p:txBody>
      </p:sp>
      <p:sp>
        <p:nvSpPr>
          <p:cNvPr id="14" name="Eyebrow"/>
          <p:cNvSpPr/>
          <p:nvPr/>
        </p:nvSpPr>
        <p:spPr>
          <a:xfrm>
            <a:off x="603504" y="420624"/>
            <a:ext cx="6949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40" b="1" spc="260" dirty="0">
                <a:solidFill>
                  <a:srgbClr val="C9A227"/>
                </a:solidFill>
                <a:latin typeface="Calibri"/>
                <a:cs typeface="Calibri"/>
              </a:rPr>
              <a:t>PILLARS 1 AND 2 — AUTOMATION AND SERVICE</a:t>
            </a:r>
          </a:p>
        </p:txBody>
      </p:sp>
      <p:sp>
        <p:nvSpPr>
          <p:cNvPr id="15" name="Title"/>
          <p:cNvSpPr/>
          <p:nvPr/>
        </p:nvSpPr>
        <p:spPr>
          <a:xfrm>
            <a:off x="603504" y="676656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n-IN" sz="2900" b="1" spc="-15" dirty="0">
                <a:solidFill>
                  <a:srgbClr val="5E0B15"/>
                </a:solidFill>
                <a:latin typeface="Georgia"/>
                <a:cs typeface="Georgia"/>
              </a:rPr>
              <a:t>AI-Driven Banking Solutions</a:t>
            </a:r>
          </a:p>
        </p:txBody>
      </p:sp>
      <p:sp>
        <p:nvSpPr>
          <p:cNvPr id="16" name="Rule"/>
          <p:cNvSpPr/>
          <p:nvPr/>
        </p:nvSpPr>
        <p:spPr>
          <a:xfrm>
            <a:off x="603504" y="1261872"/>
            <a:ext cx="960120" cy="411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7" name="Kicker"/>
          <p:cNvSpPr/>
          <p:nvPr/>
        </p:nvSpPr>
        <p:spPr>
          <a:xfrm>
            <a:off x="1719072" y="1179576"/>
            <a:ext cx="979627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en-IN" sz="1060" i="1" dirty="0">
                <a:solidFill>
                  <a:srgbClr val="4A4A55"/>
                </a:solidFill>
                <a:latin typeface="Calibri"/>
                <a:cs typeface="Calibri"/>
              </a:rPr>
              <a:t>Both target the same weakness: tasks that are high-volume, rule-based and time-critical, where waiting for a human adds cost but no judgement</a:t>
            </a:r>
          </a:p>
        </p:txBody>
      </p:sp>
      <p:sp>
        <p:nvSpPr>
          <p:cNvPr id="18" name="Footer Rule"/>
          <p:cNvSpPr/>
          <p:nvPr/>
        </p:nvSpPr>
        <p:spPr>
          <a:xfrm>
            <a:off x="603504" y="6163056"/>
            <a:ext cx="10984992" cy="10058"/>
          </a:xfrm>
          <a:prstGeom prst="rect">
            <a:avLst/>
          </a:prstGeom>
          <a:solidFill>
            <a:srgbClr val="E6E2DA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9" name="Footer L"/>
          <p:cNvSpPr/>
          <p:nvPr/>
        </p:nvSpPr>
        <p:spPr>
          <a:xfrm>
            <a:off x="603504" y="6245352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60" dirty="0">
                <a:solidFill>
                  <a:srgbClr val="7A7A85"/>
                </a:solidFill>
                <a:latin typeface="Calibri"/>
                <a:cs typeface="Calibri"/>
              </a:rPr>
              <a:t>Prahadhesvaryaa K S</a:t>
            </a:r>
            <a:r>
              <a:rPr lang="en-IN" sz="880" spc="40" dirty="0">
                <a:solidFill>
                  <a:srgbClr val="7A7A85"/>
                </a:solidFill>
                <a:latin typeface="Calibri"/>
                <a:cs typeface="Calibri"/>
              </a:rPr>
              <a:t>   |   Register No: </a:t>
            </a:r>
            <a:r>
              <a:rPr lang="en-IN" sz="880" b="1" spc="60" dirty="0">
                <a:solidFill>
                  <a:srgbClr val="C9A227"/>
                </a:solidFill>
                <a:latin typeface="Calibri"/>
                <a:cs typeface="Calibri"/>
              </a:rPr>
              <a:t>OSI2509093</a:t>
            </a:r>
          </a:p>
        </p:txBody>
      </p:sp>
      <p:sp>
        <p:nvSpPr>
          <p:cNvPr id="20" name="Footer R"/>
          <p:cNvSpPr/>
          <p:nvPr/>
        </p:nvSpPr>
        <p:spPr>
          <a:xfrm>
            <a:off x="9576816" y="624535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>
              <a:buNone/>
            </a:pPr>
            <a:r>
              <a:rPr lang="en-IN" sz="960" b="1" dirty="0">
                <a:solidFill>
                  <a:srgbClr val="9E1B32"/>
                </a:solidFill>
                <a:latin typeface="Georgia"/>
                <a:cs typeface="Georgia"/>
              </a:rPr>
              <a:t>02</a:t>
            </a:r>
            <a:r>
              <a:rPr lang="en-IN" sz="880" dirty="0">
                <a:solidFill>
                  <a:srgbClr val="7A7A85"/>
                </a:solidFill>
                <a:latin typeface="Calibri"/>
                <a:cs typeface="Calibri"/>
              </a:rPr>
              <a:t>  /  6</a:t>
            </a:r>
          </a:p>
        </p:txBody>
      </p:sp>
      <p:sp>
        <p:nvSpPr>
          <p:cNvPr id="21" name="Card"/>
          <p:cNvSpPr/>
          <p:nvPr/>
        </p:nvSpPr>
        <p:spPr>
          <a:xfrm>
            <a:off x="603504" y="1572768"/>
            <a:ext cx="5327904" cy="43159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2" name="Band"/>
          <p:cNvSpPr/>
          <p:nvPr/>
        </p:nvSpPr>
        <p:spPr>
          <a:xfrm>
            <a:off x="603504" y="1572768"/>
            <a:ext cx="5327904" cy="694944"/>
          </a:xfrm>
          <a:prstGeom prst="rect">
            <a:avLst/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3" name="BandTxt"/>
          <p:cNvSpPr/>
          <p:nvPr/>
        </p:nvSpPr>
        <p:spPr>
          <a:xfrm>
            <a:off x="859536" y="1664208"/>
            <a:ext cx="4815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700" b="1" spc="60" dirty="0">
                <a:solidFill>
                  <a:srgbClr val="FFFFFF"/>
                </a:solidFill>
                <a:latin typeface="Georgia"/>
                <a:cs typeface="Georgia"/>
              </a:rPr>
              <a:t>RPA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940" b="1" spc="110" dirty="0">
                <a:solidFill>
                  <a:srgbClr val="E3C567"/>
                </a:solidFill>
                <a:latin typeface="Calibri"/>
                <a:cs typeface="Calibri"/>
              </a:rPr>
              <a:t>Robotic Process Automation</a:t>
            </a:r>
          </a:p>
        </p:txBody>
      </p:sp>
      <p:sp>
        <p:nvSpPr>
          <p:cNvPr id="24" name="Pill"/>
          <p:cNvSpPr/>
          <p:nvPr/>
        </p:nvSpPr>
        <p:spPr>
          <a:xfrm>
            <a:off x="859536" y="2432304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FAF1D8"/>
          </a:solidFill>
          <a:ln w="889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800" b="1" spc="130" dirty="0">
                <a:solidFill>
                  <a:srgbClr val="8A6E10"/>
                </a:solidFill>
                <a:latin typeface="Calibri"/>
                <a:cs typeface="Calibri"/>
              </a:rPr>
              <a:t>KYC VERIFICATION</a:t>
            </a:r>
          </a:p>
        </p:txBody>
      </p:sp>
      <p:sp>
        <p:nvSpPr>
          <p:cNvPr id="25" name="Stat"/>
          <p:cNvSpPr/>
          <p:nvPr/>
        </p:nvSpPr>
        <p:spPr>
          <a:xfrm>
            <a:off x="859536" y="2871216"/>
            <a:ext cx="481584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20" b="1" spc="150" dirty="0">
                <a:solidFill>
                  <a:srgbClr val="7A7A85"/>
                </a:solidFill>
                <a:latin typeface="Calibri"/>
                <a:cs typeface="Calibri"/>
              </a:rPr>
              <a:t>ACCOUNT OPENED IN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3400" b="1" spc="-20" dirty="0">
                <a:solidFill>
                  <a:srgbClr val="5E0B15"/>
                </a:solidFill>
                <a:latin typeface="Georgia"/>
                <a:cs typeface="Georgia"/>
              </a:rPr>
              <a:t>10</a:t>
            </a:r>
            <a:r>
              <a:rPr lang="en-IN" sz="1400" dirty="0">
                <a:solidFill>
                  <a:srgbClr val="4A4A55"/>
                </a:solidFill>
                <a:latin typeface="Calibri"/>
                <a:cs typeface="Calibri"/>
              </a:rPr>
              <a:t>  seconds</a:t>
            </a:r>
          </a:p>
        </p:txBody>
      </p:sp>
      <p:sp>
        <p:nvSpPr>
          <p:cNvPr id="26" name="Body"/>
          <p:cNvSpPr/>
          <p:nvPr/>
        </p:nvSpPr>
        <p:spPr>
          <a:xfrm>
            <a:off x="859536" y="3657600"/>
            <a:ext cx="4815840" cy="786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IN" sz="1060" dirty="0">
                <a:solidFill>
                  <a:srgbClr val="4A4A55"/>
                </a:solidFill>
                <a:latin typeface="Calibri"/>
                <a:cs typeface="Calibri"/>
              </a:rPr>
              <a:t>Copies uploaded ID details, checks them against government databases, and creates the account automatically — no branch visit, no manual data entry, no overnight batch.</a:t>
            </a:r>
          </a:p>
        </p:txBody>
      </p:sp>
      <p:sp>
        <p:nvSpPr>
          <p:cNvPr id="27" name="Div"/>
          <p:cNvSpPr/>
          <p:nvPr/>
        </p:nvSpPr>
        <p:spPr>
          <a:xfrm>
            <a:off x="859536" y="4462272"/>
            <a:ext cx="640080" cy="3200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8" name="HL"/>
          <p:cNvSpPr/>
          <p:nvPr/>
        </p:nvSpPr>
        <p:spPr>
          <a:xfrm>
            <a:off x="859536" y="4608576"/>
            <a:ext cx="4815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40" b="1" spc="170" dirty="0">
                <a:solidFill>
                  <a:srgbClr val="9E1B32"/>
                </a:solidFill>
                <a:latin typeface="Calibri"/>
                <a:cs typeface="Calibri"/>
              </a:rPr>
              <a:t>HOW IT WORKS</a:t>
            </a:r>
          </a:p>
        </p:txBody>
      </p:sp>
      <p:sp>
        <p:nvSpPr>
          <p:cNvPr id="29" name="Chev"/>
          <p:cNvSpPr/>
          <p:nvPr/>
        </p:nvSpPr>
        <p:spPr>
          <a:xfrm>
            <a:off x="859536" y="4882896"/>
            <a:ext cx="20116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050" b="1" dirty="0">
                <a:solidFill>
                  <a:srgbClr val="9E1B32"/>
                </a:solidFill>
                <a:latin typeface="Calibri"/>
                <a:cs typeface="Calibri"/>
              </a:rPr>
              <a:t>▸</a:t>
            </a:r>
          </a:p>
        </p:txBody>
      </p:sp>
      <p:sp>
        <p:nvSpPr>
          <p:cNvPr id="30" name="Step"/>
          <p:cNvSpPr/>
          <p:nvPr/>
        </p:nvSpPr>
        <p:spPr>
          <a:xfrm>
            <a:off x="1060704" y="4882896"/>
            <a:ext cx="461467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IN" sz="960" dirty="0">
                <a:solidFill>
                  <a:srgbClr val="4A4A55"/>
                </a:solidFill>
                <a:latin typeface="Calibri"/>
                <a:cs typeface="Calibri"/>
              </a:rPr>
              <a:t>Customer uploads ID document</a:t>
            </a:r>
          </a:p>
        </p:txBody>
      </p:sp>
      <p:sp>
        <p:nvSpPr>
          <p:cNvPr id="31" name="Chev"/>
          <p:cNvSpPr/>
          <p:nvPr/>
        </p:nvSpPr>
        <p:spPr>
          <a:xfrm>
            <a:off x="859536" y="5129784"/>
            <a:ext cx="20116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050" b="1" dirty="0">
                <a:solidFill>
                  <a:srgbClr val="9E1B32"/>
                </a:solidFill>
                <a:latin typeface="Calibri"/>
                <a:cs typeface="Calibri"/>
              </a:rPr>
              <a:t>▸</a:t>
            </a:r>
          </a:p>
        </p:txBody>
      </p:sp>
      <p:sp>
        <p:nvSpPr>
          <p:cNvPr id="32" name="Step"/>
          <p:cNvSpPr/>
          <p:nvPr/>
        </p:nvSpPr>
        <p:spPr>
          <a:xfrm>
            <a:off x="1060704" y="5129784"/>
            <a:ext cx="461467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IN" sz="960" dirty="0">
                <a:solidFill>
                  <a:srgbClr val="4A4A55"/>
                </a:solidFill>
                <a:latin typeface="Calibri"/>
                <a:cs typeface="Calibri"/>
              </a:rPr>
              <a:t>Bot reads and extracts the details</a:t>
            </a:r>
          </a:p>
        </p:txBody>
      </p:sp>
      <p:sp>
        <p:nvSpPr>
          <p:cNvPr id="33" name="Chev"/>
          <p:cNvSpPr/>
          <p:nvPr/>
        </p:nvSpPr>
        <p:spPr>
          <a:xfrm>
            <a:off x="859536" y="5376672"/>
            <a:ext cx="20116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050" b="1" dirty="0">
                <a:solidFill>
                  <a:srgbClr val="9E1B32"/>
                </a:solidFill>
                <a:latin typeface="Calibri"/>
                <a:cs typeface="Calibri"/>
              </a:rPr>
              <a:t>▸</a:t>
            </a:r>
          </a:p>
        </p:txBody>
      </p:sp>
      <p:sp>
        <p:nvSpPr>
          <p:cNvPr id="34" name="Step"/>
          <p:cNvSpPr/>
          <p:nvPr/>
        </p:nvSpPr>
        <p:spPr>
          <a:xfrm>
            <a:off x="1060704" y="5376672"/>
            <a:ext cx="461467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IN" sz="960" dirty="0">
                <a:solidFill>
                  <a:srgbClr val="4A4A55"/>
                </a:solidFill>
                <a:latin typeface="Calibri"/>
                <a:cs typeface="Calibri"/>
              </a:rPr>
              <a:t>Details cross-checked against government databases</a:t>
            </a:r>
          </a:p>
        </p:txBody>
      </p:sp>
      <p:sp>
        <p:nvSpPr>
          <p:cNvPr id="35" name="Chev"/>
          <p:cNvSpPr/>
          <p:nvPr/>
        </p:nvSpPr>
        <p:spPr>
          <a:xfrm>
            <a:off x="859536" y="5623560"/>
            <a:ext cx="20116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050" b="1" dirty="0">
                <a:solidFill>
                  <a:srgbClr val="9E1B32"/>
                </a:solidFill>
                <a:latin typeface="Calibri"/>
                <a:cs typeface="Calibri"/>
              </a:rPr>
              <a:t>▸</a:t>
            </a:r>
          </a:p>
        </p:txBody>
      </p:sp>
      <p:sp>
        <p:nvSpPr>
          <p:cNvPr id="36" name="Step"/>
          <p:cNvSpPr/>
          <p:nvPr/>
        </p:nvSpPr>
        <p:spPr>
          <a:xfrm>
            <a:off x="1060704" y="5623560"/>
            <a:ext cx="461467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IN" sz="960" dirty="0">
                <a:solidFill>
                  <a:srgbClr val="4A4A55"/>
                </a:solidFill>
                <a:latin typeface="Calibri"/>
                <a:cs typeface="Calibri"/>
              </a:rPr>
              <a:t>Account created and activated automatically</a:t>
            </a:r>
          </a:p>
        </p:txBody>
      </p:sp>
      <p:sp>
        <p:nvSpPr>
          <p:cNvPr id="37" name="Card"/>
          <p:cNvSpPr/>
          <p:nvPr/>
        </p:nvSpPr>
        <p:spPr>
          <a:xfrm>
            <a:off x="6260592" y="1572768"/>
            <a:ext cx="5327904" cy="43159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8" name="Band"/>
          <p:cNvSpPr/>
          <p:nvPr/>
        </p:nvSpPr>
        <p:spPr>
          <a:xfrm>
            <a:off x="6260592" y="1572768"/>
            <a:ext cx="5327904" cy="694944"/>
          </a:xfrm>
          <a:prstGeom prst="rect">
            <a:avLst/>
          </a:prstGeom>
          <a:gradFill flip="none" rotWithShape="1">
            <a:gsLst>
              <a:gs pos="0">
                <a:srgbClr val="8A6E10"/>
              </a:gs>
              <a:gs pos="100000">
                <a:srgbClr val="C9A227"/>
              </a:gs>
            </a:gsLst>
            <a:lin ang="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9" name="BandTxt"/>
          <p:cNvSpPr/>
          <p:nvPr/>
        </p:nvSpPr>
        <p:spPr>
          <a:xfrm>
            <a:off x="6516624" y="1664208"/>
            <a:ext cx="4815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700" b="1" spc="60" dirty="0">
                <a:solidFill>
                  <a:srgbClr val="FFFFFF"/>
                </a:solidFill>
                <a:latin typeface="Georgia"/>
                <a:cs typeface="Georgia"/>
              </a:rPr>
              <a:t>CHATBOTS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940" b="1" spc="110" dirty="0">
                <a:solidFill>
                  <a:srgbClr val="FFF3D0"/>
                </a:solidFill>
                <a:latin typeface="Calibri"/>
                <a:cs typeface="Calibri"/>
              </a:rPr>
              <a:t>Conversational AI Support</a:t>
            </a:r>
          </a:p>
        </p:txBody>
      </p:sp>
      <p:sp>
        <p:nvSpPr>
          <p:cNvPr id="40" name="Pill"/>
          <p:cNvSpPr/>
          <p:nvPr/>
        </p:nvSpPr>
        <p:spPr>
          <a:xfrm>
            <a:off x="6516624" y="2432304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FAF1D8"/>
          </a:solidFill>
          <a:ln w="889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800" b="1" spc="130" dirty="0">
                <a:solidFill>
                  <a:srgbClr val="8A6E10"/>
                </a:solidFill>
                <a:latin typeface="Calibri"/>
                <a:cs typeface="Calibri"/>
              </a:rPr>
              <a:t>24/7 CUSTOMER SUPPORT</a:t>
            </a:r>
          </a:p>
        </p:txBody>
      </p:sp>
      <p:sp>
        <p:nvSpPr>
          <p:cNvPr id="41" name="Stat"/>
          <p:cNvSpPr/>
          <p:nvPr/>
        </p:nvSpPr>
        <p:spPr>
          <a:xfrm>
            <a:off x="6516624" y="2871216"/>
            <a:ext cx="481584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20" b="1" spc="150" dirty="0">
                <a:solidFill>
                  <a:srgbClr val="7A7A85"/>
                </a:solidFill>
                <a:latin typeface="Calibri"/>
                <a:cs typeface="Calibri"/>
              </a:rPr>
              <a:t>AVAILABLE WITHOUT A HUMAN AGENT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3400" b="1" spc="-20" dirty="0">
                <a:solidFill>
                  <a:srgbClr val="5E0B15"/>
                </a:solidFill>
                <a:latin typeface="Georgia"/>
                <a:cs typeface="Georgia"/>
              </a:rPr>
              <a:t>24/7</a:t>
            </a:r>
            <a:r>
              <a:rPr lang="en-IN" sz="1400" dirty="0">
                <a:solidFill>
                  <a:srgbClr val="4A4A55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2" name="Body"/>
          <p:cNvSpPr/>
          <p:nvPr/>
        </p:nvSpPr>
        <p:spPr>
          <a:xfrm>
            <a:off x="6516624" y="3657600"/>
            <a:ext cx="4815840" cy="786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IN" sz="1060" dirty="0">
                <a:solidFill>
                  <a:srgbClr val="4A4A55"/>
                </a:solidFill>
                <a:latin typeface="Calibri"/>
                <a:cs typeface="Calibri"/>
              </a:rPr>
              <a:t>Instantly blocks a lost debit card and orders a replacement at 2 AM — at the moment the customer notices, not when the call centre reopens.</a:t>
            </a:r>
          </a:p>
        </p:txBody>
      </p:sp>
      <p:sp>
        <p:nvSpPr>
          <p:cNvPr id="43" name="Div"/>
          <p:cNvSpPr/>
          <p:nvPr/>
        </p:nvSpPr>
        <p:spPr>
          <a:xfrm>
            <a:off x="6516624" y="4462272"/>
            <a:ext cx="640080" cy="3200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4" name="HL"/>
          <p:cNvSpPr/>
          <p:nvPr/>
        </p:nvSpPr>
        <p:spPr>
          <a:xfrm>
            <a:off x="6516624" y="4608576"/>
            <a:ext cx="4815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40" b="1" spc="170" dirty="0">
                <a:solidFill>
                  <a:srgbClr val="9E1B32"/>
                </a:solidFill>
                <a:latin typeface="Calibri"/>
                <a:cs typeface="Calibri"/>
              </a:rPr>
              <a:t>HOW IT WORKS</a:t>
            </a:r>
          </a:p>
        </p:txBody>
      </p:sp>
      <p:sp>
        <p:nvSpPr>
          <p:cNvPr id="45" name="Chev"/>
          <p:cNvSpPr/>
          <p:nvPr/>
        </p:nvSpPr>
        <p:spPr>
          <a:xfrm>
            <a:off x="6516624" y="4882896"/>
            <a:ext cx="20116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050" b="1" dirty="0">
                <a:solidFill>
                  <a:srgbClr val="8A6E10"/>
                </a:solidFill>
                <a:latin typeface="Calibri"/>
                <a:cs typeface="Calibri"/>
              </a:rPr>
              <a:t>▸</a:t>
            </a:r>
          </a:p>
        </p:txBody>
      </p:sp>
      <p:sp>
        <p:nvSpPr>
          <p:cNvPr id="46" name="Step"/>
          <p:cNvSpPr/>
          <p:nvPr/>
        </p:nvSpPr>
        <p:spPr>
          <a:xfrm>
            <a:off x="6717792" y="4882896"/>
            <a:ext cx="461467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IN" sz="960" dirty="0">
                <a:solidFill>
                  <a:srgbClr val="4A4A55"/>
                </a:solidFill>
                <a:latin typeface="Calibri"/>
                <a:cs typeface="Calibri"/>
              </a:rPr>
              <a:t>Customer reports a lost card at 2 AM</a:t>
            </a:r>
          </a:p>
        </p:txBody>
      </p:sp>
      <p:sp>
        <p:nvSpPr>
          <p:cNvPr id="47" name="Chev"/>
          <p:cNvSpPr/>
          <p:nvPr/>
        </p:nvSpPr>
        <p:spPr>
          <a:xfrm>
            <a:off x="6516624" y="5129784"/>
            <a:ext cx="20116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050" b="1" dirty="0">
                <a:solidFill>
                  <a:srgbClr val="8A6E10"/>
                </a:solidFill>
                <a:latin typeface="Calibri"/>
                <a:cs typeface="Calibri"/>
              </a:rPr>
              <a:t>▸</a:t>
            </a:r>
          </a:p>
        </p:txBody>
      </p:sp>
      <p:sp>
        <p:nvSpPr>
          <p:cNvPr id="48" name="Step"/>
          <p:cNvSpPr/>
          <p:nvPr/>
        </p:nvSpPr>
        <p:spPr>
          <a:xfrm>
            <a:off x="6717792" y="5129784"/>
            <a:ext cx="461467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IN" sz="960" dirty="0">
                <a:solidFill>
                  <a:srgbClr val="4A4A55"/>
                </a:solidFill>
                <a:latin typeface="Calibri"/>
                <a:cs typeface="Calibri"/>
              </a:rPr>
              <a:t>Chatbot authenticates the customer</a:t>
            </a:r>
          </a:p>
        </p:txBody>
      </p:sp>
      <p:sp>
        <p:nvSpPr>
          <p:cNvPr id="49" name="Chev"/>
          <p:cNvSpPr/>
          <p:nvPr/>
        </p:nvSpPr>
        <p:spPr>
          <a:xfrm>
            <a:off x="6516624" y="5376672"/>
            <a:ext cx="20116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050" b="1" dirty="0">
                <a:solidFill>
                  <a:srgbClr val="8A6E10"/>
                </a:solidFill>
                <a:latin typeface="Calibri"/>
                <a:cs typeface="Calibri"/>
              </a:rPr>
              <a:t>▸</a:t>
            </a:r>
          </a:p>
        </p:txBody>
      </p:sp>
      <p:sp>
        <p:nvSpPr>
          <p:cNvPr id="50" name="Step"/>
          <p:cNvSpPr/>
          <p:nvPr/>
        </p:nvSpPr>
        <p:spPr>
          <a:xfrm>
            <a:off x="6717792" y="5376672"/>
            <a:ext cx="461467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IN" sz="960" dirty="0">
                <a:solidFill>
                  <a:srgbClr val="4A4A55"/>
                </a:solidFill>
                <a:latin typeface="Calibri"/>
                <a:cs typeface="Calibri"/>
              </a:rPr>
              <a:t>Card is blocked immediately</a:t>
            </a:r>
          </a:p>
        </p:txBody>
      </p:sp>
      <p:sp>
        <p:nvSpPr>
          <p:cNvPr id="51" name="Chev"/>
          <p:cNvSpPr/>
          <p:nvPr/>
        </p:nvSpPr>
        <p:spPr>
          <a:xfrm>
            <a:off x="6516624" y="5623560"/>
            <a:ext cx="20116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050" b="1" dirty="0">
                <a:solidFill>
                  <a:srgbClr val="8A6E10"/>
                </a:solidFill>
                <a:latin typeface="Calibri"/>
                <a:cs typeface="Calibri"/>
              </a:rPr>
              <a:t>▸</a:t>
            </a:r>
          </a:p>
        </p:txBody>
      </p:sp>
      <p:sp>
        <p:nvSpPr>
          <p:cNvPr id="52" name="Step"/>
          <p:cNvSpPr/>
          <p:nvPr/>
        </p:nvSpPr>
        <p:spPr>
          <a:xfrm>
            <a:off x="6717792" y="5623560"/>
            <a:ext cx="461467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IN" sz="960" dirty="0">
                <a:solidFill>
                  <a:srgbClr val="4A4A55"/>
                </a:solidFill>
                <a:latin typeface="Calibri"/>
                <a:cs typeface="Calibri"/>
              </a:rPr>
              <a:t>Replacement card ordered and confirmed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ine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540000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" name="Spine Gold"/>
          <p:cNvSpPr/>
          <p:nvPr/>
        </p:nvSpPr>
        <p:spPr>
          <a:xfrm>
            <a:off x="118872" y="0"/>
            <a:ext cx="20117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" name="ISSM Crest"/>
          <p:cNvSpPr/>
          <p:nvPr/>
        </p:nvSpPr>
        <p:spPr>
          <a:xfrm>
            <a:off x="9558528" y="365760"/>
            <a:ext cx="394106" cy="457200"/>
          </a:xfrm>
          <a:custGeom>
            <a:avLst/>
            <a:gdLst/>
            <a:ahLst/>
            <a:cxnLst/>
            <a:rect l="l" t="t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solidFill>
            <a:srgbClr val="5E0B15"/>
          </a:solidFill>
          <a:ln w="1270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" name="Crest Inner"/>
          <p:cNvSpPr/>
          <p:nvPr/>
        </p:nvSpPr>
        <p:spPr>
          <a:xfrm>
            <a:off x="9588085" y="390906"/>
            <a:ext cx="334992" cy="404622"/>
          </a:xfrm>
          <a:custGeom>
            <a:avLst/>
            <a:gdLst/>
            <a:ahLst/>
            <a:cxnLst/>
            <a:rect l="l" t="t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noFill/>
          <a:ln w="9525" cap="flat" cmpd="sng" algn="ctr">
            <a:solidFill>
              <a:srgbClr val="E3C567">
                <a:alpha val="70000"/>
              </a:srgbClr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6" name="Flame"/>
          <p:cNvSpPr/>
          <p:nvPr/>
        </p:nvSpPr>
        <p:spPr>
          <a:xfrm>
            <a:off x="9731441" y="427482"/>
            <a:ext cx="48280" cy="73152"/>
          </a:xfrm>
          <a:custGeom>
            <a:avLst/>
            <a:gdLst/>
            <a:ahLst/>
            <a:cxnLst/>
            <a:rect l="l" t="t" r="r" b="b"/>
            <a:pathLst>
              <a:path w="100" h="140">
                <a:moveTo>
                  <a:pt x="50" y="0"/>
                </a:moveTo>
                <a:cubicBezTo>
                  <a:pt x="86" y="46"/>
                  <a:pt x="100" y="72"/>
                  <a:pt x="76" y="106"/>
                </a:cubicBezTo>
                <a:cubicBezTo>
                  <a:pt x="63" y="124"/>
                  <a:pt x="37" y="124"/>
                  <a:pt x="24" y="106"/>
                </a:cubicBezTo>
                <a:cubicBezTo>
                  <a:pt x="0" y="72"/>
                  <a:pt x="14" y="46"/>
                  <a:pt x="50" y="0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7" name="Stem"/>
          <p:cNvSpPr/>
          <p:nvPr/>
        </p:nvSpPr>
        <p:spPr>
          <a:xfrm>
            <a:off x="9747305" y="500634"/>
            <a:ext cx="16552" cy="6629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8" name="Collar"/>
          <p:cNvSpPr/>
          <p:nvPr/>
        </p:nvSpPr>
        <p:spPr>
          <a:xfrm>
            <a:off x="9729964" y="560070"/>
            <a:ext cx="51233" cy="1005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9" name="Page L"/>
          <p:cNvSpPr/>
          <p:nvPr/>
        </p:nvSpPr>
        <p:spPr>
          <a:xfrm>
            <a:off x="9653113" y="582930"/>
            <a:ext cx="97344" cy="86072"/>
          </a:xfrm>
          <a:custGeom>
            <a:avLst/>
            <a:gdLst/>
            <a:ahLst/>
            <a:cxnLst/>
            <a:rect l="l" t="t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0" name="Page R"/>
          <p:cNvSpPr/>
          <p:nvPr/>
        </p:nvSpPr>
        <p:spPr>
          <a:xfrm flipH="1">
            <a:off x="9760704" y="582930"/>
            <a:ext cx="97344" cy="86072"/>
          </a:xfrm>
          <a:custGeom>
            <a:avLst/>
            <a:gdLst/>
            <a:ahLst/>
            <a:cxnLst/>
            <a:rect l="l" t="t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1" name="Spine"/>
          <p:cNvSpPr/>
          <p:nvPr/>
        </p:nvSpPr>
        <p:spPr>
          <a:xfrm>
            <a:off x="9750457" y="613471"/>
            <a:ext cx="10247" cy="4442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2" name="Ribbon"/>
          <p:cNvSpPr/>
          <p:nvPr/>
        </p:nvSpPr>
        <p:spPr>
          <a:xfrm>
            <a:off x="9645231" y="683514"/>
            <a:ext cx="220699" cy="22860"/>
          </a:xfrm>
          <a:custGeom>
            <a:avLst/>
            <a:gdLst/>
            <a:ahLst/>
            <a:cxnLst/>
            <a:rect l="l" t="t" r="r" b="b"/>
            <a:pathLst>
              <a:path w="1000" h="100">
                <a:moveTo>
                  <a:pt x="0" y="0"/>
                </a:moveTo>
                <a:lnTo>
                  <a:pt x="1000" y="0"/>
                </a:lnTo>
                <a:lnTo>
                  <a:pt x="925" y="50"/>
                </a:lnTo>
                <a:lnTo>
                  <a:pt x="1000" y="100"/>
                </a:lnTo>
                <a:lnTo>
                  <a:pt x="0" y="100"/>
                </a:lnTo>
                <a:lnTo>
                  <a:pt x="75" y="5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3" name="ISSM Wordmark"/>
          <p:cNvSpPr/>
          <p:nvPr/>
        </p:nvSpPr>
        <p:spPr>
          <a:xfrm>
            <a:off x="10025786" y="425196"/>
            <a:ext cx="139446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00" b="1" spc="40" dirty="0">
                <a:solidFill>
                  <a:srgbClr val="9E1B32"/>
                </a:solidFill>
                <a:latin typeface="Georgia"/>
                <a:cs typeface="Georgia"/>
              </a:rPr>
              <a:t>ISSM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510" b="1" spc="120" dirty="0">
                <a:solidFill>
                  <a:srgbClr val="C9A227"/>
                </a:solidFill>
                <a:latin typeface="Calibri"/>
                <a:cs typeface="Calibri"/>
              </a:rPr>
              <a:t>BUSINESS SCHOOL</a:t>
            </a:r>
          </a:p>
        </p:txBody>
      </p:sp>
      <p:sp>
        <p:nvSpPr>
          <p:cNvPr id="14" name="Eyebrow"/>
          <p:cNvSpPr/>
          <p:nvPr/>
        </p:nvSpPr>
        <p:spPr>
          <a:xfrm>
            <a:off x="603504" y="420624"/>
            <a:ext cx="6949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40" b="1" spc="260" dirty="0">
                <a:solidFill>
                  <a:srgbClr val="C9A227"/>
                </a:solidFill>
                <a:latin typeface="Calibri"/>
                <a:cs typeface="Calibri"/>
              </a:rPr>
              <a:t>CLOUD FOUNDATION</a:t>
            </a:r>
          </a:p>
        </p:txBody>
      </p:sp>
      <p:sp>
        <p:nvSpPr>
          <p:cNvPr id="15" name="Title"/>
          <p:cNvSpPr/>
          <p:nvPr/>
        </p:nvSpPr>
        <p:spPr>
          <a:xfrm>
            <a:off x="603504" y="676656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n-IN" sz="2900" b="1" spc="-15" dirty="0">
                <a:solidFill>
                  <a:srgbClr val="5E0B15"/>
                </a:solidFill>
                <a:latin typeface="Georgia"/>
                <a:cs typeface="Georgia"/>
              </a:rPr>
              <a:t>Platform as a Service (PaaS)</a:t>
            </a:r>
          </a:p>
        </p:txBody>
      </p:sp>
      <p:sp>
        <p:nvSpPr>
          <p:cNvPr id="16" name="Rule"/>
          <p:cNvSpPr/>
          <p:nvPr/>
        </p:nvSpPr>
        <p:spPr>
          <a:xfrm>
            <a:off x="603504" y="1261872"/>
            <a:ext cx="960120" cy="411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7" name="Kicker"/>
          <p:cNvSpPr/>
          <p:nvPr/>
        </p:nvSpPr>
        <p:spPr>
          <a:xfrm>
            <a:off x="1719072" y="1179576"/>
            <a:ext cx="979627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en-IN" sz="1060" i="1" dirty="0">
                <a:solidFill>
                  <a:srgbClr val="4A4A55"/>
                </a:solidFill>
                <a:latin typeface="Calibri"/>
                <a:cs typeface="Calibri"/>
              </a:rPr>
              <a:t>The delivery model that lets HDFC build AI features without first building the infrastructure underneath them</a:t>
            </a:r>
          </a:p>
        </p:txBody>
      </p:sp>
      <p:sp>
        <p:nvSpPr>
          <p:cNvPr id="18" name="Footer Rule"/>
          <p:cNvSpPr/>
          <p:nvPr/>
        </p:nvSpPr>
        <p:spPr>
          <a:xfrm>
            <a:off x="603504" y="6163056"/>
            <a:ext cx="10984992" cy="10058"/>
          </a:xfrm>
          <a:prstGeom prst="rect">
            <a:avLst/>
          </a:prstGeom>
          <a:solidFill>
            <a:srgbClr val="E6E2DA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9" name="Footer L"/>
          <p:cNvSpPr/>
          <p:nvPr/>
        </p:nvSpPr>
        <p:spPr>
          <a:xfrm>
            <a:off x="603504" y="6245352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60" dirty="0">
                <a:solidFill>
                  <a:srgbClr val="7A7A85"/>
                </a:solidFill>
                <a:latin typeface="Calibri"/>
                <a:cs typeface="Calibri"/>
              </a:rPr>
              <a:t>Prahadhesvaryaa K S</a:t>
            </a:r>
            <a:r>
              <a:rPr lang="en-IN" sz="880" spc="40" dirty="0">
                <a:solidFill>
                  <a:srgbClr val="7A7A85"/>
                </a:solidFill>
                <a:latin typeface="Calibri"/>
                <a:cs typeface="Calibri"/>
              </a:rPr>
              <a:t>   |   Register No: </a:t>
            </a:r>
            <a:r>
              <a:rPr lang="en-IN" sz="880" b="1" spc="60" dirty="0">
                <a:solidFill>
                  <a:srgbClr val="C9A227"/>
                </a:solidFill>
                <a:latin typeface="Calibri"/>
                <a:cs typeface="Calibri"/>
              </a:rPr>
              <a:t>OSI2509093</a:t>
            </a:r>
          </a:p>
        </p:txBody>
      </p:sp>
      <p:sp>
        <p:nvSpPr>
          <p:cNvPr id="20" name="Footer R"/>
          <p:cNvSpPr/>
          <p:nvPr/>
        </p:nvSpPr>
        <p:spPr>
          <a:xfrm>
            <a:off x="9576816" y="624535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>
              <a:buNone/>
            </a:pPr>
            <a:r>
              <a:rPr lang="en-IN" sz="960" b="1" dirty="0">
                <a:solidFill>
                  <a:srgbClr val="9E1B32"/>
                </a:solidFill>
                <a:latin typeface="Georgia"/>
                <a:cs typeface="Georgia"/>
              </a:rPr>
              <a:t>03</a:t>
            </a:r>
            <a:r>
              <a:rPr lang="en-IN" sz="880" dirty="0">
                <a:solidFill>
                  <a:srgbClr val="7A7A85"/>
                </a:solidFill>
                <a:latin typeface="Calibri"/>
                <a:cs typeface="Calibri"/>
              </a:rPr>
              <a:t>  /  6</a:t>
            </a:r>
          </a:p>
        </p:txBody>
      </p:sp>
      <p:sp>
        <p:nvSpPr>
          <p:cNvPr id="21" name="Card"/>
          <p:cNvSpPr/>
          <p:nvPr/>
        </p:nvSpPr>
        <p:spPr>
          <a:xfrm>
            <a:off x="603504" y="1572768"/>
            <a:ext cx="4892040" cy="21214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2" name="Accent"/>
          <p:cNvSpPr/>
          <p:nvPr/>
        </p:nvSpPr>
        <p:spPr>
          <a:xfrm>
            <a:off x="603504" y="1572768"/>
            <a:ext cx="45720" cy="2121408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3" name="Def"/>
          <p:cNvSpPr/>
          <p:nvPr/>
        </p:nvSpPr>
        <p:spPr>
          <a:xfrm>
            <a:off x="877824" y="1737360"/>
            <a:ext cx="4343400" cy="1874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200" dirty="0">
                <a:solidFill>
                  <a:srgbClr val="C9A227"/>
                </a:solidFill>
                <a:latin typeface="Calibri"/>
                <a:cs typeface="Calibri"/>
              </a:rPr>
              <a:t>WHAT IT IS</a:t>
            </a:r>
          </a:p>
          <a:p>
            <a:pPr algn="l">
              <a:lnSpc>
                <a:spcPct val="126000"/>
              </a:lnSpc>
              <a:spcBef>
                <a:spcPts val="800"/>
              </a:spcBef>
              <a:buNone/>
            </a:pPr>
            <a:r>
              <a:rPr lang="en-IN" sz="1120" dirty="0">
                <a:solidFill>
                  <a:srgbClr val="4A4A55"/>
                </a:solidFill>
                <a:latin typeface="Calibri"/>
                <a:cs typeface="Calibri"/>
              </a:rPr>
              <a:t>Platform as a Service (PaaS) is a cloud model where a vendor provides a ready-made environment — hardware, operating systems, servers and software tools — delivered over the internet.</a:t>
            </a:r>
          </a:p>
          <a:p>
            <a:pPr algn="l">
              <a:lnSpc>
                <a:spcPct val="126000"/>
              </a:lnSpc>
              <a:spcBef>
                <a:spcPts val="800"/>
              </a:spcBef>
              <a:buNone/>
            </a:pPr>
            <a:r>
              <a:rPr lang="en-IN" sz="1120" dirty="0">
                <a:solidFill>
                  <a:srgbClr val="4A4A55"/>
                </a:solidFill>
                <a:latin typeface="Calibri"/>
                <a:cs typeface="Calibri"/>
              </a:rPr>
              <a:t>Instead of spending time setting up physical servers, installing operating systems or configuring databases, developers simply bring their code.</a:t>
            </a:r>
          </a:p>
        </p:txBody>
      </p:sp>
      <p:sp>
        <p:nvSpPr>
          <p:cNvPr id="24" name="Card"/>
          <p:cNvSpPr/>
          <p:nvPr/>
        </p:nvSpPr>
        <p:spPr>
          <a:xfrm>
            <a:off x="603504" y="3840480"/>
            <a:ext cx="48920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5" name="Accent"/>
          <p:cNvSpPr/>
          <p:nvPr/>
        </p:nvSpPr>
        <p:spPr>
          <a:xfrm>
            <a:off x="603504" y="3840480"/>
            <a:ext cx="45720" cy="21945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6" name="CH"/>
          <p:cNvSpPr/>
          <p:nvPr/>
        </p:nvSpPr>
        <p:spPr>
          <a:xfrm>
            <a:off x="877824" y="3986784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190" dirty="0">
                <a:solidFill>
                  <a:srgbClr val="C9A227"/>
                </a:solidFill>
                <a:latin typeface="Calibri"/>
                <a:cs typeface="Calibri"/>
              </a:rPr>
              <a:t>WHERE THE TIME GOES</a:t>
            </a:r>
          </a:p>
        </p:txBody>
      </p:sp>
      <p:sp>
        <p:nvSpPr>
          <p:cNvPr id="27" name="CHd"/>
          <p:cNvSpPr/>
          <p:nvPr/>
        </p:nvSpPr>
        <p:spPr>
          <a:xfrm>
            <a:off x="877824" y="4297680"/>
            <a:ext cx="206197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20" b="1" spc="110" dirty="0">
                <a:solidFill>
                  <a:srgbClr val="7A7A85"/>
                </a:solidFill>
                <a:latin typeface="Calibri"/>
                <a:cs typeface="Calibri"/>
              </a:rPr>
              <a:t>WITHOUT PaaS</a:t>
            </a:r>
          </a:p>
        </p:txBody>
      </p:sp>
      <p:sp>
        <p:nvSpPr>
          <p:cNvPr id="28" name="CRule"/>
          <p:cNvSpPr/>
          <p:nvPr/>
        </p:nvSpPr>
        <p:spPr>
          <a:xfrm>
            <a:off x="877824" y="4517136"/>
            <a:ext cx="2061972" cy="25603"/>
          </a:xfrm>
          <a:prstGeom prst="rect">
            <a:avLst/>
          </a:prstGeom>
          <a:solidFill>
            <a:srgbClr val="E6E2DA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9" name="CIt"/>
          <p:cNvSpPr/>
          <p:nvPr/>
        </p:nvSpPr>
        <p:spPr>
          <a:xfrm>
            <a:off x="877824" y="4645152"/>
            <a:ext cx="20619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IN" sz="980" dirty="0">
                <a:solidFill>
                  <a:srgbClr val="4A4A55"/>
                </a:solidFill>
                <a:latin typeface="Calibri"/>
                <a:cs typeface="Calibri"/>
              </a:rPr>
              <a:t>Procure physical servers</a:t>
            </a:r>
          </a:p>
        </p:txBody>
      </p:sp>
      <p:sp>
        <p:nvSpPr>
          <p:cNvPr id="30" name="CIt"/>
          <p:cNvSpPr/>
          <p:nvPr/>
        </p:nvSpPr>
        <p:spPr>
          <a:xfrm>
            <a:off x="877824" y="4910328"/>
            <a:ext cx="20619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IN" sz="980" dirty="0">
                <a:solidFill>
                  <a:srgbClr val="4A4A55"/>
                </a:solidFill>
                <a:latin typeface="Calibri"/>
                <a:cs typeface="Calibri"/>
              </a:rPr>
              <a:t>Install operating systems</a:t>
            </a:r>
          </a:p>
        </p:txBody>
      </p:sp>
      <p:sp>
        <p:nvSpPr>
          <p:cNvPr id="31" name="CIt"/>
          <p:cNvSpPr/>
          <p:nvPr/>
        </p:nvSpPr>
        <p:spPr>
          <a:xfrm>
            <a:off x="877824" y="5175504"/>
            <a:ext cx="20619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IN" sz="980" dirty="0">
                <a:solidFill>
                  <a:srgbClr val="4A4A55"/>
                </a:solidFill>
                <a:latin typeface="Calibri"/>
                <a:cs typeface="Calibri"/>
              </a:rPr>
              <a:t>Configure databases</a:t>
            </a:r>
          </a:p>
        </p:txBody>
      </p:sp>
      <p:sp>
        <p:nvSpPr>
          <p:cNvPr id="32" name="CIt"/>
          <p:cNvSpPr/>
          <p:nvPr/>
        </p:nvSpPr>
        <p:spPr>
          <a:xfrm>
            <a:off x="877824" y="5440680"/>
            <a:ext cx="20619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IN" sz="980" dirty="0">
                <a:solidFill>
                  <a:srgbClr val="4A4A55"/>
                </a:solidFill>
                <a:latin typeface="Calibri"/>
                <a:cs typeface="Calibri"/>
              </a:rPr>
              <a:t>Then start building</a:t>
            </a:r>
          </a:p>
        </p:txBody>
      </p:sp>
      <p:sp>
        <p:nvSpPr>
          <p:cNvPr id="33" name="CHd"/>
          <p:cNvSpPr/>
          <p:nvPr/>
        </p:nvSpPr>
        <p:spPr>
          <a:xfrm>
            <a:off x="3159252" y="4297680"/>
            <a:ext cx="206197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20" b="1" spc="110" dirty="0">
                <a:solidFill>
                  <a:srgbClr val="9E1B32"/>
                </a:solidFill>
                <a:latin typeface="Calibri"/>
                <a:cs typeface="Calibri"/>
              </a:rPr>
              <a:t>WITH PaaS</a:t>
            </a:r>
          </a:p>
        </p:txBody>
      </p:sp>
      <p:sp>
        <p:nvSpPr>
          <p:cNvPr id="34" name="CRule"/>
          <p:cNvSpPr/>
          <p:nvPr/>
        </p:nvSpPr>
        <p:spPr>
          <a:xfrm>
            <a:off x="3159252" y="4517136"/>
            <a:ext cx="2061972" cy="25603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5" name="CIt"/>
          <p:cNvSpPr/>
          <p:nvPr/>
        </p:nvSpPr>
        <p:spPr>
          <a:xfrm>
            <a:off x="3159252" y="4645152"/>
            <a:ext cx="20619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IN" sz="980" b="1" dirty="0">
                <a:solidFill>
                  <a:srgbClr val="5E0B15"/>
                </a:solidFill>
                <a:latin typeface="Calibri"/>
                <a:cs typeface="Calibri"/>
              </a:rPr>
              <a:t>Start building</a:t>
            </a:r>
          </a:p>
        </p:txBody>
      </p:sp>
      <p:sp>
        <p:nvSpPr>
          <p:cNvPr id="36" name="CNote"/>
          <p:cNvSpPr/>
          <p:nvPr/>
        </p:nvSpPr>
        <p:spPr>
          <a:xfrm>
            <a:off x="3159252" y="4974336"/>
            <a:ext cx="2061972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IN" sz="940" i="1" dirty="0">
                <a:solidFill>
                  <a:srgbClr val="7A7A85"/>
                </a:solidFill>
                <a:latin typeface="Calibri"/>
                <a:cs typeface="Calibri"/>
              </a:rPr>
              <a:t>The first three steps disappear — the vendor has already done them.</a:t>
            </a:r>
          </a:p>
        </p:txBody>
      </p:sp>
      <p:sp>
        <p:nvSpPr>
          <p:cNvPr id="37" name="KH"/>
          <p:cNvSpPr/>
          <p:nvPr/>
        </p:nvSpPr>
        <p:spPr>
          <a:xfrm>
            <a:off x="5806440" y="1536192"/>
            <a:ext cx="578205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20" b="1" spc="180" dirty="0">
                <a:solidFill>
                  <a:srgbClr val="9E1B32"/>
                </a:solidFill>
                <a:latin typeface="Calibri"/>
                <a:cs typeface="Calibri"/>
              </a:rPr>
              <a:t>KEY CONCEPT</a:t>
            </a:r>
          </a:p>
        </p:txBody>
      </p:sp>
      <p:sp>
        <p:nvSpPr>
          <p:cNvPr id="38" name="KT"/>
          <p:cNvSpPr/>
          <p:nvPr/>
        </p:nvSpPr>
        <p:spPr>
          <a:xfrm>
            <a:off x="5806440" y="1755648"/>
            <a:ext cx="578205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500" b="1" dirty="0">
                <a:solidFill>
                  <a:srgbClr val="5E0B15"/>
                </a:solidFill>
                <a:latin typeface="Georgia"/>
                <a:cs typeface="Georgia"/>
              </a:rPr>
              <a:t>A ready-made cloud environment</a:t>
            </a:r>
          </a:p>
        </p:txBody>
      </p:sp>
      <p:sp>
        <p:nvSpPr>
          <p:cNvPr id="39" name="Card"/>
          <p:cNvSpPr/>
          <p:nvPr/>
        </p:nvSpPr>
        <p:spPr>
          <a:xfrm>
            <a:off x="5806440" y="2176272"/>
            <a:ext cx="5782056" cy="2139696"/>
          </a:xfrm>
          <a:prstGeom prst="roundRect">
            <a:avLst>
              <a:gd name="adj" fmla="val 4000"/>
            </a:avLst>
          </a:prstGeom>
          <a:solidFill>
            <a:srgbClr val="FAF1D8"/>
          </a:solidFill>
          <a:ln w="9525" cap="flat" cmpd="sng" algn="ctr">
            <a:solidFill>
              <a:srgbClr val="C9A227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0" name="SL"/>
          <p:cNvSpPr/>
          <p:nvPr/>
        </p:nvSpPr>
        <p:spPr>
          <a:xfrm>
            <a:off x="6062472" y="2304288"/>
            <a:ext cx="52699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40" b="1" spc="150" dirty="0">
                <a:solidFill>
                  <a:srgbClr val="8A6E10"/>
                </a:solidFill>
                <a:latin typeface="Calibri"/>
                <a:cs typeface="Calibri"/>
              </a:rPr>
              <a:t>PROVIDED READY-MADE BY THE CLOUD VENDOR</a:t>
            </a:r>
          </a:p>
        </p:txBody>
      </p:sp>
      <p:sp>
        <p:nvSpPr>
          <p:cNvPr id="41" name="Layer"/>
          <p:cNvSpPr/>
          <p:nvPr/>
        </p:nvSpPr>
        <p:spPr>
          <a:xfrm>
            <a:off x="6062472" y="2596896"/>
            <a:ext cx="5269992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1080" b="1" dirty="0">
                <a:solidFill>
                  <a:srgbClr val="5E0B15"/>
                </a:solidFill>
                <a:latin typeface="Calibri"/>
                <a:cs typeface="Calibri"/>
              </a:rPr>
              <a:t>Software tools</a:t>
            </a:r>
          </a:p>
        </p:txBody>
      </p:sp>
      <p:sp>
        <p:nvSpPr>
          <p:cNvPr id="42" name="Layer"/>
          <p:cNvSpPr/>
          <p:nvPr/>
        </p:nvSpPr>
        <p:spPr>
          <a:xfrm>
            <a:off x="6062472" y="2999232"/>
            <a:ext cx="5269992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1080" b="1" dirty="0">
                <a:solidFill>
                  <a:srgbClr val="5E0B15"/>
                </a:solidFill>
                <a:latin typeface="Calibri"/>
                <a:cs typeface="Calibri"/>
              </a:rPr>
              <a:t>Servers</a:t>
            </a:r>
          </a:p>
        </p:txBody>
      </p:sp>
      <p:sp>
        <p:nvSpPr>
          <p:cNvPr id="43" name="Layer"/>
          <p:cNvSpPr/>
          <p:nvPr/>
        </p:nvSpPr>
        <p:spPr>
          <a:xfrm>
            <a:off x="6062472" y="3401568"/>
            <a:ext cx="5269992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1080" b="1" dirty="0">
                <a:solidFill>
                  <a:srgbClr val="5E0B15"/>
                </a:solidFill>
                <a:latin typeface="Calibri"/>
                <a:cs typeface="Calibri"/>
              </a:rPr>
              <a:t>Operating system</a:t>
            </a:r>
          </a:p>
        </p:txBody>
      </p:sp>
      <p:sp>
        <p:nvSpPr>
          <p:cNvPr id="44" name="Layer"/>
          <p:cNvSpPr/>
          <p:nvPr/>
        </p:nvSpPr>
        <p:spPr>
          <a:xfrm>
            <a:off x="6062472" y="3803904"/>
            <a:ext cx="5269992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1080" b="1" dirty="0">
                <a:solidFill>
                  <a:srgbClr val="5E0B15"/>
                </a:solidFill>
                <a:latin typeface="Calibri"/>
                <a:cs typeface="Calibri"/>
              </a:rPr>
              <a:t>Hardware</a:t>
            </a:r>
          </a:p>
        </p:txBody>
      </p:sp>
      <p:sp>
        <p:nvSpPr>
          <p:cNvPr id="45" name="Stem"/>
          <p:cNvSpPr/>
          <p:nvPr/>
        </p:nvSpPr>
        <p:spPr>
          <a:xfrm>
            <a:off x="8690153" y="4425696"/>
            <a:ext cx="14630" cy="3017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6" name="Head"/>
          <p:cNvSpPr/>
          <p:nvPr/>
        </p:nvSpPr>
        <p:spPr>
          <a:xfrm rot="10800000">
            <a:off x="8635106" y="4727448"/>
            <a:ext cx="124724" cy="100584"/>
          </a:xfrm>
          <a:prstGeom prst="triangle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7" name="Card"/>
          <p:cNvSpPr/>
          <p:nvPr/>
        </p:nvSpPr>
        <p:spPr>
          <a:xfrm>
            <a:off x="5806440" y="4919472"/>
            <a:ext cx="5782056" cy="1115568"/>
          </a:xfrm>
          <a:prstGeom prst="roundRect">
            <a:avLst>
              <a:gd name="adj" fmla="val 4000"/>
            </a:avLst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0" scaled="0"/>
          </a:gradFill>
          <a:ln>
            <a:noFill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8" name="Final"/>
          <p:cNvSpPr/>
          <p:nvPr/>
        </p:nvSpPr>
        <p:spPr>
          <a:xfrm>
            <a:off x="5806440" y="5212080"/>
            <a:ext cx="578205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1600" b="1" dirty="0">
                <a:solidFill>
                  <a:srgbClr val="FFFFFF"/>
                </a:solidFill>
                <a:latin typeface="Georgia"/>
                <a:cs typeface="Georgia"/>
              </a:rPr>
              <a:t>Developers bring their code</a:t>
            </a:r>
          </a:p>
          <a:p>
            <a:pPr algn="ctr">
              <a:spcBef>
                <a:spcPts val="200"/>
              </a:spcBef>
              <a:buNone/>
            </a:pPr>
            <a:r>
              <a:rPr lang="en-IN" sz="960" dirty="0">
                <a:solidFill>
                  <a:srgbClr val="E9D6C8"/>
                </a:solidFill>
                <a:latin typeface="Calibri"/>
                <a:cs typeface="Calibri"/>
              </a:rPr>
              <a:t>and AI features go live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ine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540000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" name="Spine Gold"/>
          <p:cNvSpPr/>
          <p:nvPr/>
        </p:nvSpPr>
        <p:spPr>
          <a:xfrm>
            <a:off x="118872" y="0"/>
            <a:ext cx="20117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" name="ISSM Crest"/>
          <p:cNvSpPr/>
          <p:nvPr/>
        </p:nvSpPr>
        <p:spPr>
          <a:xfrm>
            <a:off x="9558528" y="365760"/>
            <a:ext cx="394106" cy="457200"/>
          </a:xfrm>
          <a:custGeom>
            <a:avLst/>
            <a:gdLst/>
            <a:ahLst/>
            <a:cxnLst/>
            <a:rect l="l" t="t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solidFill>
            <a:srgbClr val="5E0B15"/>
          </a:solidFill>
          <a:ln w="1270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" name="Crest Inner"/>
          <p:cNvSpPr/>
          <p:nvPr/>
        </p:nvSpPr>
        <p:spPr>
          <a:xfrm>
            <a:off x="9588085" y="390906"/>
            <a:ext cx="334992" cy="404622"/>
          </a:xfrm>
          <a:custGeom>
            <a:avLst/>
            <a:gdLst/>
            <a:ahLst/>
            <a:cxnLst/>
            <a:rect l="l" t="t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noFill/>
          <a:ln w="9525" cap="flat" cmpd="sng" algn="ctr">
            <a:solidFill>
              <a:srgbClr val="E3C567">
                <a:alpha val="70000"/>
              </a:srgbClr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6" name="Flame"/>
          <p:cNvSpPr/>
          <p:nvPr/>
        </p:nvSpPr>
        <p:spPr>
          <a:xfrm>
            <a:off x="9731441" y="427482"/>
            <a:ext cx="48280" cy="73152"/>
          </a:xfrm>
          <a:custGeom>
            <a:avLst/>
            <a:gdLst/>
            <a:ahLst/>
            <a:cxnLst/>
            <a:rect l="l" t="t" r="r" b="b"/>
            <a:pathLst>
              <a:path w="100" h="140">
                <a:moveTo>
                  <a:pt x="50" y="0"/>
                </a:moveTo>
                <a:cubicBezTo>
                  <a:pt x="86" y="46"/>
                  <a:pt x="100" y="72"/>
                  <a:pt x="76" y="106"/>
                </a:cubicBezTo>
                <a:cubicBezTo>
                  <a:pt x="63" y="124"/>
                  <a:pt x="37" y="124"/>
                  <a:pt x="24" y="106"/>
                </a:cubicBezTo>
                <a:cubicBezTo>
                  <a:pt x="0" y="72"/>
                  <a:pt x="14" y="46"/>
                  <a:pt x="50" y="0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7" name="Stem"/>
          <p:cNvSpPr/>
          <p:nvPr/>
        </p:nvSpPr>
        <p:spPr>
          <a:xfrm>
            <a:off x="9747305" y="500634"/>
            <a:ext cx="16552" cy="6629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8" name="Collar"/>
          <p:cNvSpPr/>
          <p:nvPr/>
        </p:nvSpPr>
        <p:spPr>
          <a:xfrm>
            <a:off x="9729964" y="560070"/>
            <a:ext cx="51233" cy="1005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9" name="Page L"/>
          <p:cNvSpPr/>
          <p:nvPr/>
        </p:nvSpPr>
        <p:spPr>
          <a:xfrm>
            <a:off x="9653113" y="582930"/>
            <a:ext cx="97344" cy="86072"/>
          </a:xfrm>
          <a:custGeom>
            <a:avLst/>
            <a:gdLst/>
            <a:ahLst/>
            <a:cxnLst/>
            <a:rect l="l" t="t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0" name="Page R"/>
          <p:cNvSpPr/>
          <p:nvPr/>
        </p:nvSpPr>
        <p:spPr>
          <a:xfrm flipH="1">
            <a:off x="9760704" y="582930"/>
            <a:ext cx="97344" cy="86072"/>
          </a:xfrm>
          <a:custGeom>
            <a:avLst/>
            <a:gdLst/>
            <a:ahLst/>
            <a:cxnLst/>
            <a:rect l="l" t="t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1" name="Spine"/>
          <p:cNvSpPr/>
          <p:nvPr/>
        </p:nvSpPr>
        <p:spPr>
          <a:xfrm>
            <a:off x="9750457" y="613471"/>
            <a:ext cx="10247" cy="4442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2" name="Ribbon"/>
          <p:cNvSpPr/>
          <p:nvPr/>
        </p:nvSpPr>
        <p:spPr>
          <a:xfrm>
            <a:off x="9645231" y="683514"/>
            <a:ext cx="220699" cy="22860"/>
          </a:xfrm>
          <a:custGeom>
            <a:avLst/>
            <a:gdLst/>
            <a:ahLst/>
            <a:cxnLst/>
            <a:rect l="l" t="t" r="r" b="b"/>
            <a:pathLst>
              <a:path w="1000" h="100">
                <a:moveTo>
                  <a:pt x="0" y="0"/>
                </a:moveTo>
                <a:lnTo>
                  <a:pt x="1000" y="0"/>
                </a:lnTo>
                <a:lnTo>
                  <a:pt x="925" y="50"/>
                </a:lnTo>
                <a:lnTo>
                  <a:pt x="1000" y="100"/>
                </a:lnTo>
                <a:lnTo>
                  <a:pt x="0" y="100"/>
                </a:lnTo>
                <a:lnTo>
                  <a:pt x="75" y="5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3" name="ISSM Wordmark"/>
          <p:cNvSpPr/>
          <p:nvPr/>
        </p:nvSpPr>
        <p:spPr>
          <a:xfrm>
            <a:off x="10025786" y="425196"/>
            <a:ext cx="139446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00" b="1" spc="40" dirty="0">
                <a:solidFill>
                  <a:srgbClr val="9E1B32"/>
                </a:solidFill>
                <a:latin typeface="Georgia"/>
                <a:cs typeface="Georgia"/>
              </a:rPr>
              <a:t>ISSM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510" b="1" spc="120" dirty="0">
                <a:solidFill>
                  <a:srgbClr val="C9A227"/>
                </a:solidFill>
                <a:latin typeface="Calibri"/>
                <a:cs typeface="Calibri"/>
              </a:rPr>
              <a:t>BUSINESS SCHOOL</a:t>
            </a:r>
          </a:p>
        </p:txBody>
      </p:sp>
      <p:sp>
        <p:nvSpPr>
          <p:cNvPr id="14" name="Eyebrow"/>
          <p:cNvSpPr/>
          <p:nvPr/>
        </p:nvSpPr>
        <p:spPr>
          <a:xfrm>
            <a:off x="603504" y="420624"/>
            <a:ext cx="6949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40" b="1" spc="260" dirty="0">
                <a:solidFill>
                  <a:srgbClr val="C9A227"/>
                </a:solidFill>
                <a:latin typeface="Calibri"/>
                <a:cs typeface="Calibri"/>
              </a:rPr>
              <a:t>WHY PAAS FOR HDFC BANK</a:t>
            </a:r>
          </a:p>
        </p:txBody>
      </p:sp>
      <p:sp>
        <p:nvSpPr>
          <p:cNvPr id="15" name="Title"/>
          <p:cNvSpPr/>
          <p:nvPr/>
        </p:nvSpPr>
        <p:spPr>
          <a:xfrm>
            <a:off x="603504" y="676656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n-IN" sz="2900" b="1" spc="-15" dirty="0">
                <a:solidFill>
                  <a:srgbClr val="5E0B15"/>
                </a:solidFill>
                <a:latin typeface="Georgia"/>
                <a:cs typeface="Georgia"/>
              </a:rPr>
              <a:t>Three Benefits That Fit a Bank</a:t>
            </a:r>
          </a:p>
        </p:txBody>
      </p:sp>
      <p:sp>
        <p:nvSpPr>
          <p:cNvPr id="16" name="Rule"/>
          <p:cNvSpPr/>
          <p:nvPr/>
        </p:nvSpPr>
        <p:spPr>
          <a:xfrm>
            <a:off x="603504" y="1261872"/>
            <a:ext cx="960120" cy="411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7" name="Kicker"/>
          <p:cNvSpPr/>
          <p:nvPr/>
        </p:nvSpPr>
        <p:spPr>
          <a:xfrm>
            <a:off x="1719072" y="1179576"/>
            <a:ext cx="979627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en-IN" sz="1060" i="1" dirty="0">
                <a:solidFill>
                  <a:srgbClr val="4A4A55"/>
                </a:solidFill>
                <a:latin typeface="Calibri"/>
                <a:cs typeface="Calibri"/>
              </a:rPr>
              <a:t>Speed, differentiation and data security — the three constraints a regulated bank has to satisfy at the same time</a:t>
            </a:r>
          </a:p>
        </p:txBody>
      </p:sp>
      <p:sp>
        <p:nvSpPr>
          <p:cNvPr id="18" name="Footer Rule"/>
          <p:cNvSpPr/>
          <p:nvPr/>
        </p:nvSpPr>
        <p:spPr>
          <a:xfrm>
            <a:off x="603504" y="6163056"/>
            <a:ext cx="10984992" cy="10058"/>
          </a:xfrm>
          <a:prstGeom prst="rect">
            <a:avLst/>
          </a:prstGeom>
          <a:solidFill>
            <a:srgbClr val="E6E2DA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9" name="Footer L"/>
          <p:cNvSpPr/>
          <p:nvPr/>
        </p:nvSpPr>
        <p:spPr>
          <a:xfrm>
            <a:off x="603504" y="6245352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60" dirty="0">
                <a:solidFill>
                  <a:srgbClr val="7A7A85"/>
                </a:solidFill>
                <a:latin typeface="Calibri"/>
                <a:cs typeface="Calibri"/>
              </a:rPr>
              <a:t>Prahadhesvaryaa K S</a:t>
            </a:r>
            <a:r>
              <a:rPr lang="en-IN" sz="880" spc="40" dirty="0">
                <a:solidFill>
                  <a:srgbClr val="7A7A85"/>
                </a:solidFill>
                <a:latin typeface="Calibri"/>
                <a:cs typeface="Calibri"/>
              </a:rPr>
              <a:t>   |   Register No: </a:t>
            </a:r>
            <a:r>
              <a:rPr lang="en-IN" sz="880" b="1" spc="60" dirty="0">
                <a:solidFill>
                  <a:srgbClr val="C9A227"/>
                </a:solidFill>
                <a:latin typeface="Calibri"/>
                <a:cs typeface="Calibri"/>
              </a:rPr>
              <a:t>OSI2509093</a:t>
            </a:r>
          </a:p>
        </p:txBody>
      </p:sp>
      <p:sp>
        <p:nvSpPr>
          <p:cNvPr id="20" name="Footer R"/>
          <p:cNvSpPr/>
          <p:nvPr/>
        </p:nvSpPr>
        <p:spPr>
          <a:xfrm>
            <a:off x="9576816" y="624535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>
              <a:buNone/>
            </a:pPr>
            <a:r>
              <a:rPr lang="en-IN" sz="960" b="1" dirty="0">
                <a:solidFill>
                  <a:srgbClr val="9E1B32"/>
                </a:solidFill>
                <a:latin typeface="Georgia"/>
                <a:cs typeface="Georgia"/>
              </a:rPr>
              <a:t>04</a:t>
            </a:r>
            <a:r>
              <a:rPr lang="en-IN" sz="880" dirty="0">
                <a:solidFill>
                  <a:srgbClr val="7A7A85"/>
                </a:solidFill>
                <a:latin typeface="Calibri"/>
                <a:cs typeface="Calibri"/>
              </a:rPr>
              <a:t>  /  6</a:t>
            </a:r>
          </a:p>
        </p:txBody>
      </p:sp>
      <p:sp>
        <p:nvSpPr>
          <p:cNvPr id="21" name="Card"/>
          <p:cNvSpPr/>
          <p:nvPr/>
        </p:nvSpPr>
        <p:spPr>
          <a:xfrm>
            <a:off x="603504" y="1572768"/>
            <a:ext cx="3454400" cy="35478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2" name="Top"/>
          <p:cNvSpPr/>
          <p:nvPr/>
        </p:nvSpPr>
        <p:spPr>
          <a:xfrm>
            <a:off x="603504" y="1572768"/>
            <a:ext cx="3454400" cy="50292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3" name="Num"/>
          <p:cNvSpPr/>
          <p:nvPr/>
        </p:nvSpPr>
        <p:spPr>
          <a:xfrm>
            <a:off x="859536" y="1810512"/>
            <a:ext cx="566928" cy="566928"/>
          </a:xfrm>
          <a:prstGeom prst="ellipse">
            <a:avLst/>
          </a:prstGeom>
          <a:solidFill>
            <a:srgbClr val="5E0B15"/>
          </a:solidFill>
          <a:ln w="1397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1500" b="1" dirty="0">
                <a:solidFill>
                  <a:srgbClr val="E3C567"/>
                </a:solidFill>
                <a:latin typeface="Georgia"/>
                <a:cs typeface="Georgia"/>
              </a:rPr>
              <a:t>01</a:t>
            </a:r>
          </a:p>
        </p:txBody>
      </p:sp>
      <p:sp>
        <p:nvSpPr>
          <p:cNvPr id="24" name="T"/>
          <p:cNvSpPr/>
          <p:nvPr/>
        </p:nvSpPr>
        <p:spPr>
          <a:xfrm>
            <a:off x="859536" y="2505456"/>
            <a:ext cx="2942336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02000"/>
              </a:lnSpc>
              <a:buNone/>
            </a:pPr>
            <a:r>
              <a:rPr lang="en-IN" sz="1460" b="1" dirty="0">
                <a:solidFill>
                  <a:srgbClr val="5E0B15"/>
                </a:solidFill>
                <a:latin typeface="Georgia"/>
                <a:cs typeface="Georgia"/>
              </a:rPr>
              <a:t>Fast and ready-to-use tools</a:t>
            </a:r>
          </a:p>
        </p:txBody>
      </p:sp>
      <p:sp>
        <p:nvSpPr>
          <p:cNvPr id="25" name="R"/>
          <p:cNvSpPr/>
          <p:nvPr/>
        </p:nvSpPr>
        <p:spPr>
          <a:xfrm>
            <a:off x="859536" y="3236976"/>
            <a:ext cx="640080" cy="3200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6" name="B"/>
          <p:cNvSpPr/>
          <p:nvPr/>
        </p:nvSpPr>
        <p:spPr>
          <a:xfrm>
            <a:off x="859536" y="3401568"/>
            <a:ext cx="2942336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IN" sz="1060" dirty="0">
                <a:solidFill>
                  <a:srgbClr val="4A4A55"/>
                </a:solidFill>
                <a:latin typeface="Calibri"/>
                <a:cs typeface="Calibri"/>
              </a:rPr>
              <a:t>HDFC gets access to top-notch AI engines from providers such as Microsoft, Google or Amazon. The bank does not waste time building basic technology from zero.</a:t>
            </a:r>
          </a:p>
        </p:txBody>
      </p:sp>
      <p:sp>
        <p:nvSpPr>
          <p:cNvPr id="27" name="Pill"/>
          <p:cNvSpPr/>
          <p:nvPr/>
        </p:nvSpPr>
        <p:spPr>
          <a:xfrm>
            <a:off x="822960" y="4462272"/>
            <a:ext cx="3015488" cy="420624"/>
          </a:xfrm>
          <a:prstGeom prst="roundRect">
            <a:avLst>
              <a:gd name="adj" fmla="val 50000"/>
            </a:avLst>
          </a:prstGeom>
          <a:solidFill>
            <a:srgbClr val="F6E7EA"/>
          </a:solidFill>
          <a:ln w="8890" cap="flat" cmpd="sng" algn="ctr">
            <a:solidFill>
              <a:srgbClr val="9E1B32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900" b="1" spc="90" dirty="0">
                <a:solidFill>
                  <a:srgbClr val="9E1B32"/>
                </a:solidFill>
                <a:latin typeface="Calibri"/>
                <a:cs typeface="Calibri"/>
              </a:rPr>
              <a:t>SOLVES:  time to market</a:t>
            </a:r>
          </a:p>
        </p:txBody>
      </p:sp>
      <p:sp>
        <p:nvSpPr>
          <p:cNvPr id="28" name="Card"/>
          <p:cNvSpPr/>
          <p:nvPr/>
        </p:nvSpPr>
        <p:spPr>
          <a:xfrm>
            <a:off x="4368800" y="1572768"/>
            <a:ext cx="3454400" cy="35478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9" name="Top"/>
          <p:cNvSpPr/>
          <p:nvPr/>
        </p:nvSpPr>
        <p:spPr>
          <a:xfrm>
            <a:off x="4368800" y="1572768"/>
            <a:ext cx="3454400" cy="50292"/>
          </a:xfrm>
          <a:prstGeom prst="rect">
            <a:avLst/>
          </a:prstGeom>
          <a:solidFill>
            <a:srgbClr val="8A6E10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0" name="Num"/>
          <p:cNvSpPr/>
          <p:nvPr/>
        </p:nvSpPr>
        <p:spPr>
          <a:xfrm>
            <a:off x="4624832" y="1810512"/>
            <a:ext cx="566928" cy="566928"/>
          </a:xfrm>
          <a:prstGeom prst="ellipse">
            <a:avLst/>
          </a:prstGeom>
          <a:solidFill>
            <a:srgbClr val="5E0B15"/>
          </a:solidFill>
          <a:ln w="1397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1500" b="1" dirty="0">
                <a:solidFill>
                  <a:srgbClr val="E3C567"/>
                </a:solidFill>
                <a:latin typeface="Georgia"/>
                <a:cs typeface="Georgia"/>
              </a:rPr>
              <a:t>02</a:t>
            </a:r>
          </a:p>
        </p:txBody>
      </p:sp>
      <p:sp>
        <p:nvSpPr>
          <p:cNvPr id="31" name="T"/>
          <p:cNvSpPr/>
          <p:nvPr/>
        </p:nvSpPr>
        <p:spPr>
          <a:xfrm>
            <a:off x="4624832" y="2505456"/>
            <a:ext cx="2942336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02000"/>
              </a:lnSpc>
              <a:buNone/>
            </a:pPr>
            <a:r>
              <a:rPr lang="en-IN" sz="1460" b="1" dirty="0">
                <a:solidFill>
                  <a:srgbClr val="5E0B15"/>
                </a:solidFill>
                <a:latin typeface="Georgia"/>
                <a:cs typeface="Georgia"/>
              </a:rPr>
              <a:t>Full control over custom features</a:t>
            </a:r>
          </a:p>
        </p:txBody>
      </p:sp>
      <p:sp>
        <p:nvSpPr>
          <p:cNvPr id="32" name="R"/>
          <p:cNvSpPr/>
          <p:nvPr/>
        </p:nvSpPr>
        <p:spPr>
          <a:xfrm>
            <a:off x="4624832" y="3236976"/>
            <a:ext cx="640080" cy="3200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3" name="B"/>
          <p:cNvSpPr/>
          <p:nvPr/>
        </p:nvSpPr>
        <p:spPr>
          <a:xfrm>
            <a:off x="4624832" y="3401568"/>
            <a:ext cx="2942336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IN" sz="1060" dirty="0">
                <a:solidFill>
                  <a:srgbClr val="4A4A55"/>
                </a:solidFill>
                <a:latin typeface="Calibri"/>
                <a:cs typeface="Calibri"/>
              </a:rPr>
              <a:t>The bank can code and build its own custom loan algorithms and unique features — the things that set it apart from every other bank using the same cloud.</a:t>
            </a:r>
          </a:p>
        </p:txBody>
      </p:sp>
      <p:sp>
        <p:nvSpPr>
          <p:cNvPr id="34" name="Pill"/>
          <p:cNvSpPr/>
          <p:nvPr/>
        </p:nvSpPr>
        <p:spPr>
          <a:xfrm>
            <a:off x="4588256" y="4462272"/>
            <a:ext cx="3015488" cy="420624"/>
          </a:xfrm>
          <a:prstGeom prst="roundRect">
            <a:avLst>
              <a:gd name="adj" fmla="val 50000"/>
            </a:avLst>
          </a:prstGeom>
          <a:solidFill>
            <a:srgbClr val="F6E7EA"/>
          </a:solidFill>
          <a:ln w="8890" cap="flat" cmpd="sng" algn="ctr">
            <a:solidFill>
              <a:srgbClr val="9E1B32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900" b="1" spc="90" dirty="0">
                <a:solidFill>
                  <a:srgbClr val="9E1B32"/>
                </a:solidFill>
                <a:latin typeface="Calibri"/>
                <a:cs typeface="Calibri"/>
              </a:rPr>
              <a:t>SOLVES:  competitive differentiation</a:t>
            </a:r>
          </a:p>
        </p:txBody>
      </p:sp>
      <p:sp>
        <p:nvSpPr>
          <p:cNvPr id="35" name="Card"/>
          <p:cNvSpPr/>
          <p:nvPr/>
        </p:nvSpPr>
        <p:spPr>
          <a:xfrm>
            <a:off x="8134096" y="1572768"/>
            <a:ext cx="3454400" cy="35478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6" name="Top"/>
          <p:cNvSpPr/>
          <p:nvPr/>
        </p:nvSpPr>
        <p:spPr>
          <a:xfrm>
            <a:off x="8134096" y="1572768"/>
            <a:ext cx="3454400" cy="50292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7" name="Num"/>
          <p:cNvSpPr/>
          <p:nvPr/>
        </p:nvSpPr>
        <p:spPr>
          <a:xfrm>
            <a:off x="8390128" y="1810512"/>
            <a:ext cx="566928" cy="566928"/>
          </a:xfrm>
          <a:prstGeom prst="ellipse">
            <a:avLst/>
          </a:prstGeom>
          <a:solidFill>
            <a:srgbClr val="5E0B15"/>
          </a:solidFill>
          <a:ln w="1397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1500" b="1" dirty="0">
                <a:solidFill>
                  <a:srgbClr val="E3C567"/>
                </a:solidFill>
                <a:latin typeface="Georgia"/>
                <a:cs typeface="Georgia"/>
              </a:rPr>
              <a:t>03</a:t>
            </a:r>
          </a:p>
        </p:txBody>
      </p:sp>
      <p:sp>
        <p:nvSpPr>
          <p:cNvPr id="38" name="T"/>
          <p:cNvSpPr/>
          <p:nvPr/>
        </p:nvSpPr>
        <p:spPr>
          <a:xfrm>
            <a:off x="8390128" y="2505456"/>
            <a:ext cx="2942336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02000"/>
              </a:lnSpc>
              <a:buNone/>
            </a:pPr>
            <a:r>
              <a:rPr lang="en-IN" sz="1460" b="1" dirty="0">
                <a:solidFill>
                  <a:srgbClr val="5E0B15"/>
                </a:solidFill>
                <a:latin typeface="Georgia"/>
                <a:cs typeface="Georgia"/>
              </a:rPr>
              <a:t>Keeps private data safe</a:t>
            </a:r>
          </a:p>
        </p:txBody>
      </p:sp>
      <p:sp>
        <p:nvSpPr>
          <p:cNvPr id="39" name="R"/>
          <p:cNvSpPr/>
          <p:nvPr/>
        </p:nvSpPr>
        <p:spPr>
          <a:xfrm>
            <a:off x="8390128" y="3236976"/>
            <a:ext cx="640080" cy="3200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0" name="B"/>
          <p:cNvSpPr/>
          <p:nvPr/>
        </p:nvSpPr>
        <p:spPr>
          <a:xfrm>
            <a:off x="8390128" y="3401568"/>
            <a:ext cx="2942336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IN" sz="1060" dirty="0">
                <a:solidFill>
                  <a:srgbClr val="4A4A55"/>
                </a:solidFill>
                <a:latin typeface="Calibri"/>
                <a:cs typeface="Calibri"/>
              </a:rPr>
              <a:t>PaaS lets the bank train its AI models inside its own private digital vault, so customer financial data never leaves the bank's control.</a:t>
            </a:r>
          </a:p>
        </p:txBody>
      </p:sp>
      <p:sp>
        <p:nvSpPr>
          <p:cNvPr id="41" name="Pill"/>
          <p:cNvSpPr/>
          <p:nvPr/>
        </p:nvSpPr>
        <p:spPr>
          <a:xfrm>
            <a:off x="8353552" y="4462272"/>
            <a:ext cx="3015488" cy="420624"/>
          </a:xfrm>
          <a:prstGeom prst="roundRect">
            <a:avLst>
              <a:gd name="adj" fmla="val 50000"/>
            </a:avLst>
          </a:prstGeom>
          <a:solidFill>
            <a:srgbClr val="F6E7EA"/>
          </a:solidFill>
          <a:ln w="8890" cap="flat" cmpd="sng" algn="ctr">
            <a:solidFill>
              <a:srgbClr val="9E1B32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900" b="1" spc="90" dirty="0">
                <a:solidFill>
                  <a:srgbClr val="9E1B32"/>
                </a:solidFill>
                <a:latin typeface="Calibri"/>
                <a:cs typeface="Calibri"/>
              </a:rPr>
              <a:t>SOLVES:  data security and compliance</a:t>
            </a:r>
          </a:p>
        </p:txBody>
      </p:sp>
      <p:sp>
        <p:nvSpPr>
          <p:cNvPr id="42" name="Card"/>
          <p:cNvSpPr/>
          <p:nvPr/>
        </p:nvSpPr>
        <p:spPr>
          <a:xfrm>
            <a:off x="603504" y="5285232"/>
            <a:ext cx="10984992" cy="749808"/>
          </a:xfrm>
          <a:prstGeom prst="roundRect">
            <a:avLst>
              <a:gd name="adj" fmla="val 4000"/>
            </a:avLst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2700000" scaled="0"/>
          </a:gradFill>
          <a:ln>
            <a:noFill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3" name="B"/>
          <p:cNvSpPr/>
          <p:nvPr/>
        </p:nvSpPr>
        <p:spPr>
          <a:xfrm>
            <a:off x="603504" y="5285232"/>
            <a:ext cx="50292" cy="7498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4" name="Strip"/>
          <p:cNvSpPr/>
          <p:nvPr/>
        </p:nvSpPr>
        <p:spPr>
          <a:xfrm>
            <a:off x="914400" y="5394960"/>
            <a:ext cx="103632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60" b="1" spc="190" dirty="0">
                <a:solidFill>
                  <a:srgbClr val="E3C567"/>
                </a:solidFill>
                <a:latin typeface="Calibri"/>
                <a:cs typeface="Calibri"/>
              </a:rPr>
              <a:t>THE TRADE-OFF PAAS RESOLVES</a:t>
            </a:r>
          </a:p>
          <a:p>
            <a:pPr algn="l">
              <a:lnSpc>
                <a:spcPct val="118000"/>
              </a:lnSpc>
              <a:spcBef>
                <a:spcPts val="400"/>
              </a:spcBef>
              <a:buNone/>
            </a:pPr>
            <a:r>
              <a:rPr lang="en-IN" sz="1060" dirty="0">
                <a:solidFill>
                  <a:srgbClr val="EFDCDF"/>
                </a:solidFill>
                <a:latin typeface="Calibri"/>
                <a:cs typeface="Calibri"/>
              </a:rPr>
              <a:t>A bank normally has to choose between moving fast (buy something ready-made) and staying in control (build it in-house). PaaS gives both — and does it inside the bank's own security perimeter.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ine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540000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" name="Spine Gold"/>
          <p:cNvSpPr/>
          <p:nvPr/>
        </p:nvSpPr>
        <p:spPr>
          <a:xfrm>
            <a:off x="118872" y="0"/>
            <a:ext cx="20117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" name="ISSM Crest"/>
          <p:cNvSpPr/>
          <p:nvPr/>
        </p:nvSpPr>
        <p:spPr>
          <a:xfrm>
            <a:off x="9558528" y="365760"/>
            <a:ext cx="394106" cy="457200"/>
          </a:xfrm>
          <a:custGeom>
            <a:avLst/>
            <a:gdLst/>
            <a:ahLst/>
            <a:cxnLst/>
            <a:rect l="l" t="t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solidFill>
            <a:srgbClr val="5E0B15"/>
          </a:solidFill>
          <a:ln w="1270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" name="Crest Inner"/>
          <p:cNvSpPr/>
          <p:nvPr/>
        </p:nvSpPr>
        <p:spPr>
          <a:xfrm>
            <a:off x="9588085" y="390906"/>
            <a:ext cx="334992" cy="404622"/>
          </a:xfrm>
          <a:custGeom>
            <a:avLst/>
            <a:gdLst/>
            <a:ahLst/>
            <a:cxnLst/>
            <a:rect l="l" t="t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noFill/>
          <a:ln w="9525" cap="flat" cmpd="sng" algn="ctr">
            <a:solidFill>
              <a:srgbClr val="E3C567">
                <a:alpha val="70000"/>
              </a:srgbClr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6" name="Flame"/>
          <p:cNvSpPr/>
          <p:nvPr/>
        </p:nvSpPr>
        <p:spPr>
          <a:xfrm>
            <a:off x="9731441" y="427482"/>
            <a:ext cx="48280" cy="73152"/>
          </a:xfrm>
          <a:custGeom>
            <a:avLst/>
            <a:gdLst/>
            <a:ahLst/>
            <a:cxnLst/>
            <a:rect l="l" t="t" r="r" b="b"/>
            <a:pathLst>
              <a:path w="100" h="140">
                <a:moveTo>
                  <a:pt x="50" y="0"/>
                </a:moveTo>
                <a:cubicBezTo>
                  <a:pt x="86" y="46"/>
                  <a:pt x="100" y="72"/>
                  <a:pt x="76" y="106"/>
                </a:cubicBezTo>
                <a:cubicBezTo>
                  <a:pt x="63" y="124"/>
                  <a:pt x="37" y="124"/>
                  <a:pt x="24" y="106"/>
                </a:cubicBezTo>
                <a:cubicBezTo>
                  <a:pt x="0" y="72"/>
                  <a:pt x="14" y="46"/>
                  <a:pt x="50" y="0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7" name="Stem"/>
          <p:cNvSpPr/>
          <p:nvPr/>
        </p:nvSpPr>
        <p:spPr>
          <a:xfrm>
            <a:off x="9747305" y="500634"/>
            <a:ext cx="16552" cy="6629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8" name="Collar"/>
          <p:cNvSpPr/>
          <p:nvPr/>
        </p:nvSpPr>
        <p:spPr>
          <a:xfrm>
            <a:off x="9729964" y="560070"/>
            <a:ext cx="51233" cy="1005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9" name="Page L"/>
          <p:cNvSpPr/>
          <p:nvPr/>
        </p:nvSpPr>
        <p:spPr>
          <a:xfrm>
            <a:off x="9653113" y="582930"/>
            <a:ext cx="97344" cy="86072"/>
          </a:xfrm>
          <a:custGeom>
            <a:avLst/>
            <a:gdLst/>
            <a:ahLst/>
            <a:cxnLst/>
            <a:rect l="l" t="t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0" name="Page R"/>
          <p:cNvSpPr/>
          <p:nvPr/>
        </p:nvSpPr>
        <p:spPr>
          <a:xfrm flipH="1">
            <a:off x="9760704" y="582930"/>
            <a:ext cx="97344" cy="86072"/>
          </a:xfrm>
          <a:custGeom>
            <a:avLst/>
            <a:gdLst/>
            <a:ahLst/>
            <a:cxnLst/>
            <a:rect l="l" t="t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1" name="Spine"/>
          <p:cNvSpPr/>
          <p:nvPr/>
        </p:nvSpPr>
        <p:spPr>
          <a:xfrm>
            <a:off x="9750457" y="613471"/>
            <a:ext cx="10247" cy="4442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2" name="Ribbon"/>
          <p:cNvSpPr/>
          <p:nvPr/>
        </p:nvSpPr>
        <p:spPr>
          <a:xfrm>
            <a:off x="9645231" y="683514"/>
            <a:ext cx="220699" cy="22860"/>
          </a:xfrm>
          <a:custGeom>
            <a:avLst/>
            <a:gdLst/>
            <a:ahLst/>
            <a:cxnLst/>
            <a:rect l="l" t="t" r="r" b="b"/>
            <a:pathLst>
              <a:path w="1000" h="100">
                <a:moveTo>
                  <a:pt x="0" y="0"/>
                </a:moveTo>
                <a:lnTo>
                  <a:pt x="1000" y="0"/>
                </a:lnTo>
                <a:lnTo>
                  <a:pt x="925" y="50"/>
                </a:lnTo>
                <a:lnTo>
                  <a:pt x="1000" y="100"/>
                </a:lnTo>
                <a:lnTo>
                  <a:pt x="0" y="100"/>
                </a:lnTo>
                <a:lnTo>
                  <a:pt x="75" y="5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3" name="ISSM Wordmark"/>
          <p:cNvSpPr/>
          <p:nvPr/>
        </p:nvSpPr>
        <p:spPr>
          <a:xfrm>
            <a:off x="10025786" y="425196"/>
            <a:ext cx="139446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00" b="1" spc="40" dirty="0">
                <a:solidFill>
                  <a:srgbClr val="9E1B32"/>
                </a:solidFill>
                <a:latin typeface="Georgia"/>
                <a:cs typeface="Georgia"/>
              </a:rPr>
              <a:t>ISSM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510" b="1" spc="120" dirty="0">
                <a:solidFill>
                  <a:srgbClr val="C9A227"/>
                </a:solidFill>
                <a:latin typeface="Calibri"/>
                <a:cs typeface="Calibri"/>
              </a:rPr>
              <a:t>BUSINESS SCHOOL</a:t>
            </a:r>
          </a:p>
        </p:txBody>
      </p:sp>
      <p:sp>
        <p:nvSpPr>
          <p:cNvPr id="14" name="Eyebrow"/>
          <p:cNvSpPr/>
          <p:nvPr/>
        </p:nvSpPr>
        <p:spPr>
          <a:xfrm>
            <a:off x="603504" y="420624"/>
            <a:ext cx="6949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40" b="1" spc="260" dirty="0">
                <a:solidFill>
                  <a:srgbClr val="C9A227"/>
                </a:solidFill>
                <a:latin typeface="Calibri"/>
                <a:cs typeface="Calibri"/>
              </a:rPr>
              <a:t>PILLAR 3 — RISK</a:t>
            </a:r>
          </a:p>
        </p:txBody>
      </p:sp>
      <p:sp>
        <p:nvSpPr>
          <p:cNvPr id="15" name="Title"/>
          <p:cNvSpPr/>
          <p:nvPr/>
        </p:nvSpPr>
        <p:spPr>
          <a:xfrm>
            <a:off x="603504" y="676656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n-IN" sz="2900" b="1" spc="-15" dirty="0">
                <a:solidFill>
                  <a:srgbClr val="5E0B15"/>
                </a:solidFill>
                <a:latin typeface="Georgia"/>
                <a:cs typeface="Georgia"/>
              </a:rPr>
              <a:t>Adaptive Fraud Prevention</a:t>
            </a:r>
          </a:p>
        </p:txBody>
      </p:sp>
      <p:sp>
        <p:nvSpPr>
          <p:cNvPr id="16" name="Rule"/>
          <p:cNvSpPr/>
          <p:nvPr/>
        </p:nvSpPr>
        <p:spPr>
          <a:xfrm>
            <a:off x="603504" y="1261872"/>
            <a:ext cx="960120" cy="411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7" name="Kicker"/>
          <p:cNvSpPr/>
          <p:nvPr/>
        </p:nvSpPr>
        <p:spPr>
          <a:xfrm>
            <a:off x="1719072" y="1179576"/>
            <a:ext cx="979627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en-IN" sz="1060" i="1" dirty="0">
                <a:solidFill>
                  <a:srgbClr val="4A4A55"/>
                </a:solidFill>
                <a:latin typeface="Calibri"/>
                <a:cs typeface="Calibri"/>
              </a:rPr>
              <a:t>Risk-based scoring instead of blanket rules — every payment is scored 0 to 100 in real time and routed accordingly</a:t>
            </a:r>
          </a:p>
        </p:txBody>
      </p:sp>
      <p:sp>
        <p:nvSpPr>
          <p:cNvPr id="18" name="Footer Rule"/>
          <p:cNvSpPr/>
          <p:nvPr/>
        </p:nvSpPr>
        <p:spPr>
          <a:xfrm>
            <a:off x="603504" y="6163056"/>
            <a:ext cx="10984992" cy="10058"/>
          </a:xfrm>
          <a:prstGeom prst="rect">
            <a:avLst/>
          </a:prstGeom>
          <a:solidFill>
            <a:srgbClr val="E6E2DA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9" name="Footer L"/>
          <p:cNvSpPr/>
          <p:nvPr/>
        </p:nvSpPr>
        <p:spPr>
          <a:xfrm>
            <a:off x="603504" y="6245352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60" dirty="0">
                <a:solidFill>
                  <a:srgbClr val="7A7A85"/>
                </a:solidFill>
                <a:latin typeface="Calibri"/>
                <a:cs typeface="Calibri"/>
              </a:rPr>
              <a:t>Prahadhesvaryaa K S</a:t>
            </a:r>
            <a:r>
              <a:rPr lang="en-IN" sz="880" spc="40" dirty="0">
                <a:solidFill>
                  <a:srgbClr val="7A7A85"/>
                </a:solidFill>
                <a:latin typeface="Calibri"/>
                <a:cs typeface="Calibri"/>
              </a:rPr>
              <a:t>   |   Register No: </a:t>
            </a:r>
            <a:r>
              <a:rPr lang="en-IN" sz="880" b="1" spc="60" dirty="0">
                <a:solidFill>
                  <a:srgbClr val="C9A227"/>
                </a:solidFill>
                <a:latin typeface="Calibri"/>
                <a:cs typeface="Calibri"/>
              </a:rPr>
              <a:t>OSI2509093</a:t>
            </a:r>
          </a:p>
        </p:txBody>
      </p:sp>
      <p:sp>
        <p:nvSpPr>
          <p:cNvPr id="20" name="Footer R"/>
          <p:cNvSpPr/>
          <p:nvPr/>
        </p:nvSpPr>
        <p:spPr>
          <a:xfrm>
            <a:off x="9576816" y="624535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>
              <a:buNone/>
            </a:pPr>
            <a:r>
              <a:rPr lang="en-IN" sz="960" b="1" dirty="0">
                <a:solidFill>
                  <a:srgbClr val="9E1B32"/>
                </a:solidFill>
                <a:latin typeface="Georgia"/>
                <a:cs typeface="Georgia"/>
              </a:rPr>
              <a:t>05</a:t>
            </a:r>
            <a:r>
              <a:rPr lang="en-IN" sz="880" dirty="0">
                <a:solidFill>
                  <a:srgbClr val="7A7A85"/>
                </a:solidFill>
                <a:latin typeface="Calibri"/>
                <a:cs typeface="Calibri"/>
              </a:rPr>
              <a:t>  /  6</a:t>
            </a:r>
          </a:p>
        </p:txBody>
      </p:sp>
      <p:sp>
        <p:nvSpPr>
          <p:cNvPr id="21" name="Card"/>
          <p:cNvSpPr/>
          <p:nvPr/>
        </p:nvSpPr>
        <p:spPr>
          <a:xfrm>
            <a:off x="603504" y="1572768"/>
            <a:ext cx="3529584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2" name="Accent"/>
          <p:cNvSpPr/>
          <p:nvPr/>
        </p:nvSpPr>
        <p:spPr>
          <a:xfrm>
            <a:off x="603504" y="1572768"/>
            <a:ext cx="45720" cy="1920240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3" name="Idea"/>
          <p:cNvSpPr/>
          <p:nvPr/>
        </p:nvSpPr>
        <p:spPr>
          <a:xfrm>
            <a:off x="859536" y="1719072"/>
            <a:ext cx="301752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200" dirty="0">
                <a:solidFill>
                  <a:srgbClr val="C9A227"/>
                </a:solidFill>
                <a:latin typeface="Calibri"/>
                <a:cs typeface="Calibri"/>
              </a:rPr>
              <a:t>THE IDEA</a:t>
            </a:r>
          </a:p>
          <a:p>
            <a:pPr algn="l">
              <a:lnSpc>
                <a:spcPct val="124000"/>
              </a:lnSpc>
              <a:spcBef>
                <a:spcPts val="700"/>
              </a:spcBef>
              <a:buNone/>
            </a:pPr>
            <a:r>
              <a:rPr lang="en-IN" sz="1060" dirty="0">
                <a:solidFill>
                  <a:srgbClr val="4A4A55"/>
                </a:solidFill>
                <a:latin typeface="Calibri"/>
                <a:cs typeface="Calibri"/>
              </a:rPr>
              <a:t>Instead of treating every transaction the same way, or randomly blocking payments, the AI fraud engine assigns a </a:t>
            </a:r>
            <a:r>
              <a:rPr lang="en-IN" sz="1060" b="1" dirty="0">
                <a:solidFill>
                  <a:srgbClr val="5E0B15"/>
                </a:solidFill>
                <a:latin typeface="Calibri"/>
                <a:cs typeface="Calibri"/>
              </a:rPr>
              <a:t>risk score from 0 to 100</a:t>
            </a:r>
            <a:r>
              <a:rPr lang="en-IN" sz="1060" dirty="0">
                <a:solidFill>
                  <a:srgbClr val="4A4A55"/>
                </a:solidFill>
                <a:latin typeface="Calibri"/>
                <a:cs typeface="Calibri"/>
              </a:rPr>
              <a:t> to every payment in real time, based on how unusual it looks.</a:t>
            </a:r>
          </a:p>
        </p:txBody>
      </p:sp>
      <p:sp>
        <p:nvSpPr>
          <p:cNvPr id="24" name="Card"/>
          <p:cNvSpPr/>
          <p:nvPr/>
        </p:nvSpPr>
        <p:spPr>
          <a:xfrm>
            <a:off x="603504" y="3639312"/>
            <a:ext cx="3529584" cy="22494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5" name="Accent"/>
          <p:cNvSpPr/>
          <p:nvPr/>
        </p:nvSpPr>
        <p:spPr>
          <a:xfrm>
            <a:off x="603504" y="3639312"/>
            <a:ext cx="45720" cy="224942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6" name="WH"/>
          <p:cNvSpPr/>
          <p:nvPr/>
        </p:nvSpPr>
        <p:spPr>
          <a:xfrm>
            <a:off x="859536" y="378561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180" dirty="0">
                <a:solidFill>
                  <a:srgbClr val="C9A227"/>
                </a:solidFill>
                <a:latin typeface="Calibri"/>
                <a:cs typeface="Calibri"/>
              </a:rPr>
              <a:t>WHY “ADAPTIVE” MATTERS</a:t>
            </a:r>
          </a:p>
        </p:txBody>
      </p:sp>
      <p:sp>
        <p:nvSpPr>
          <p:cNvPr id="27" name="Dot"/>
          <p:cNvSpPr/>
          <p:nvPr/>
        </p:nvSpPr>
        <p:spPr>
          <a:xfrm>
            <a:off x="877824" y="4133088"/>
            <a:ext cx="173736" cy="173736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8" name="P"/>
          <p:cNvSpPr/>
          <p:nvPr/>
        </p:nvSpPr>
        <p:spPr>
          <a:xfrm>
            <a:off x="1152144" y="4078224"/>
            <a:ext cx="270662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IN" sz="1020" dirty="0">
                <a:solidFill>
                  <a:srgbClr val="4A4A55"/>
                </a:solidFill>
                <a:latin typeface="Calibri"/>
                <a:cs typeface="Calibri"/>
              </a:rPr>
              <a:t>Genuine customers are not stopped for behaving normally.</a:t>
            </a:r>
          </a:p>
        </p:txBody>
      </p:sp>
      <p:sp>
        <p:nvSpPr>
          <p:cNvPr id="29" name="Dot"/>
          <p:cNvSpPr/>
          <p:nvPr/>
        </p:nvSpPr>
        <p:spPr>
          <a:xfrm>
            <a:off x="877824" y="4572000"/>
            <a:ext cx="173736" cy="173736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0" name="P"/>
          <p:cNvSpPr/>
          <p:nvPr/>
        </p:nvSpPr>
        <p:spPr>
          <a:xfrm>
            <a:off x="1152144" y="4517136"/>
            <a:ext cx="270662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IN" sz="1020" dirty="0">
                <a:solidFill>
                  <a:srgbClr val="4A4A55"/>
                </a:solidFill>
                <a:latin typeface="Calibri"/>
                <a:cs typeface="Calibri"/>
              </a:rPr>
              <a:t>Extra friction is applied only where the risk justifies it.</a:t>
            </a:r>
          </a:p>
        </p:txBody>
      </p:sp>
      <p:sp>
        <p:nvSpPr>
          <p:cNvPr id="31" name="Dot"/>
          <p:cNvSpPr/>
          <p:nvPr/>
        </p:nvSpPr>
        <p:spPr>
          <a:xfrm>
            <a:off x="877824" y="5010912"/>
            <a:ext cx="173736" cy="173736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2" name="P"/>
          <p:cNvSpPr/>
          <p:nvPr/>
        </p:nvSpPr>
        <p:spPr>
          <a:xfrm>
            <a:off x="1152144" y="4956048"/>
            <a:ext cx="270662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IN" sz="1020" dirty="0">
                <a:solidFill>
                  <a:srgbClr val="4A4A55"/>
                </a:solidFill>
                <a:latin typeface="Calibri"/>
                <a:cs typeface="Calibri"/>
              </a:rPr>
              <a:t>Truly suspicious payments are halted before money moves.</a:t>
            </a:r>
          </a:p>
        </p:txBody>
      </p:sp>
      <p:sp>
        <p:nvSpPr>
          <p:cNvPr id="33" name="Dot"/>
          <p:cNvSpPr/>
          <p:nvPr/>
        </p:nvSpPr>
        <p:spPr>
          <a:xfrm>
            <a:off x="877824" y="5449824"/>
            <a:ext cx="173736" cy="173736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4" name="P"/>
          <p:cNvSpPr/>
          <p:nvPr/>
        </p:nvSpPr>
        <p:spPr>
          <a:xfrm>
            <a:off x="1152144" y="5394960"/>
            <a:ext cx="270662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IN" sz="1020" dirty="0">
                <a:solidFill>
                  <a:srgbClr val="4A4A55"/>
                </a:solidFill>
                <a:latin typeface="Calibri"/>
                <a:cs typeface="Calibri"/>
              </a:rPr>
              <a:t>The response is proportionate, so security does not cost convenience.</a:t>
            </a:r>
          </a:p>
        </p:txBody>
      </p:sp>
      <p:sp>
        <p:nvSpPr>
          <p:cNvPr id="35" name="Box"/>
          <p:cNvSpPr/>
          <p:nvPr/>
        </p:nvSpPr>
        <p:spPr>
          <a:xfrm>
            <a:off x="6781800" y="1627632"/>
            <a:ext cx="2468880" cy="420624"/>
          </a:xfrm>
          <a:prstGeom prst="roundRect">
            <a:avLst>
              <a:gd name="adj" fmla="val 6000"/>
            </a:avLst>
          </a:prstGeom>
          <a:solidFill>
            <a:srgbClr val="FCFAF6"/>
          </a:solidFill>
          <a:ln w="11430" cap="flat" cmpd="sng" algn="ctr">
            <a:solidFill>
              <a:srgbClr val="E6E2DA"/>
            </a:solidFill>
            <a:prstDash val="solid"/>
            <a:round/>
          </a:ln>
          <a:effectLst>
            <a:outerShdw blurRad="127000" dist="38100" dir="5400000" rotWithShape="0">
              <a:srgbClr val="000000">
                <a:alpha val="7000"/>
              </a:srgbClr>
            </a:outerShdw>
          </a:effectLst>
        </p:spPr>
        <p:txBody>
          <a:bodyPr wrap="square" lIns="91440" tIns="45720" rIns="91440" bIns="45720" anchor="ctr" anchorCtr="0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n-IN" sz="1100" b="1" dirty="0">
                <a:solidFill>
                  <a:srgbClr val="22222A"/>
                </a:solidFill>
                <a:latin typeface="Calibri"/>
                <a:cs typeface="Calibri"/>
              </a:rPr>
              <a:t>Transaction Triggered</a:t>
            </a:r>
          </a:p>
        </p:txBody>
      </p:sp>
      <p:sp>
        <p:nvSpPr>
          <p:cNvPr id="36" name="Stem"/>
          <p:cNvSpPr/>
          <p:nvPr/>
        </p:nvSpPr>
        <p:spPr>
          <a:xfrm>
            <a:off x="8008925" y="2103120"/>
            <a:ext cx="14630" cy="173736"/>
          </a:xfrm>
          <a:prstGeom prst="rect">
            <a:avLst/>
          </a:prstGeom>
          <a:solidFill>
            <a:srgbClr val="7A7A85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7" name="Head"/>
          <p:cNvSpPr/>
          <p:nvPr/>
        </p:nvSpPr>
        <p:spPr>
          <a:xfrm rot="10800000">
            <a:off x="7953878" y="2276856"/>
            <a:ext cx="124724" cy="100584"/>
          </a:xfrm>
          <a:prstGeom prst="triangle">
            <a:avLst/>
          </a:prstGeom>
          <a:solidFill>
            <a:srgbClr val="7A7A85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8" name="Box"/>
          <p:cNvSpPr/>
          <p:nvPr/>
        </p:nvSpPr>
        <p:spPr>
          <a:xfrm>
            <a:off x="6461760" y="2414016"/>
            <a:ext cx="3108960" cy="475488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0" scaled="0"/>
          </a:gradFill>
          <a:ln w="12700" cap="flat" cmpd="sng" algn="ctr">
            <a:solidFill>
              <a:srgbClr val="5E0B15"/>
            </a:solidFill>
            <a:prstDash val="solid"/>
            <a:round/>
          </a:ln>
          <a:effectLst>
            <a:outerShdw blurRad="127000" dist="38100" dir="5400000" rotWithShape="0">
              <a:srgbClr val="000000">
                <a:alpha val="7000"/>
              </a:srgbClr>
            </a:outerShdw>
          </a:effectLst>
        </p:spPr>
        <p:txBody>
          <a:bodyPr wrap="square" lIns="91440" tIns="45720" rIns="91440" bIns="45720" anchor="ctr" anchorCtr="0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n-IN" sz="1160" b="1" dirty="0">
                <a:solidFill>
                  <a:srgbClr val="FFFFFF"/>
                </a:solidFill>
                <a:latin typeface="Calibri"/>
                <a:cs typeface="Calibri"/>
              </a:rPr>
              <a:t>Real-Time AI Fraud Engine Scan</a:t>
            </a:r>
          </a:p>
        </p:txBody>
      </p:sp>
      <p:sp>
        <p:nvSpPr>
          <p:cNvPr id="39" name="VLine"/>
          <p:cNvSpPr/>
          <p:nvPr/>
        </p:nvSpPr>
        <p:spPr>
          <a:xfrm>
            <a:off x="8008925" y="2944368"/>
            <a:ext cx="14630" cy="201168"/>
          </a:xfrm>
          <a:prstGeom prst="rect">
            <a:avLst/>
          </a:prstGeom>
          <a:solidFill>
            <a:srgbClr val="7A7A85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0" name="HLine"/>
          <p:cNvSpPr/>
          <p:nvPr/>
        </p:nvSpPr>
        <p:spPr>
          <a:xfrm>
            <a:off x="5620512" y="3138221"/>
            <a:ext cx="4791456" cy="14630"/>
          </a:xfrm>
          <a:prstGeom prst="rect">
            <a:avLst/>
          </a:prstGeom>
          <a:solidFill>
            <a:srgbClr val="7A7A85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1" name="Stem"/>
          <p:cNvSpPr/>
          <p:nvPr/>
        </p:nvSpPr>
        <p:spPr>
          <a:xfrm>
            <a:off x="5613197" y="3145536"/>
            <a:ext cx="14630" cy="210312"/>
          </a:xfrm>
          <a:prstGeom prst="rect">
            <a:avLst/>
          </a:prstGeom>
          <a:solidFill>
            <a:srgbClr val="1E7A4D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2" name="Head"/>
          <p:cNvSpPr/>
          <p:nvPr/>
        </p:nvSpPr>
        <p:spPr>
          <a:xfrm rot="10800000">
            <a:off x="5558150" y="3355848"/>
            <a:ext cx="124724" cy="100584"/>
          </a:xfrm>
          <a:prstGeom prst="triangle">
            <a:avLst/>
          </a:prstGeom>
          <a:solidFill>
            <a:srgbClr val="1E7A4D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3" name="Box"/>
          <p:cNvSpPr/>
          <p:nvPr/>
        </p:nvSpPr>
        <p:spPr>
          <a:xfrm>
            <a:off x="4578096" y="3493008"/>
            <a:ext cx="2084832" cy="658368"/>
          </a:xfrm>
          <a:prstGeom prst="roundRect">
            <a:avLst>
              <a:gd name="adj" fmla="val 6000"/>
            </a:avLst>
          </a:prstGeom>
          <a:solidFill>
            <a:srgbClr val="1E7A4D"/>
          </a:solidFill>
          <a:ln w="12700" cap="flat" cmpd="sng" algn="ctr">
            <a:solidFill>
              <a:srgbClr val="1E7A4D"/>
            </a:solidFill>
            <a:prstDash val="solid"/>
            <a:round/>
          </a:ln>
          <a:effectLst>
            <a:outerShdw blurRad="127000" dist="38100" dir="5400000" rotWithShape="0">
              <a:srgbClr val="000000">
                <a:alpha val="7000"/>
              </a:srgbClr>
            </a:outerShdw>
          </a:effectLst>
        </p:spPr>
        <p:txBody>
          <a:bodyPr wrap="square" lIns="91440" tIns="45720" rIns="91440" bIns="45720" anchor="ctr" anchorCtr="0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n-IN" sz="1140" b="1" dirty="0">
                <a:solidFill>
                  <a:srgbClr val="FFFFFF"/>
                </a:solidFill>
                <a:latin typeface="Calibri"/>
                <a:cs typeface="Calibri"/>
              </a:rPr>
              <a:t>LOW RISK</a:t>
            </a:r>
          </a:p>
          <a:p>
            <a:pPr algn="ctr">
              <a:spcBef>
                <a:spcPts val="200"/>
              </a:spcBef>
              <a:buNone/>
            </a:pPr>
            <a:r>
              <a:rPr lang="en-IN" sz="880" b="1" dirty="0">
                <a:solidFill>
                  <a:srgbClr val="FFFFFF"/>
                </a:solidFill>
                <a:latin typeface="Calibri"/>
                <a:cs typeface="Calibri"/>
              </a:rPr>
              <a:t>Score 0 – 30</a:t>
            </a:r>
          </a:p>
        </p:txBody>
      </p:sp>
      <p:sp>
        <p:nvSpPr>
          <p:cNvPr id="44" name="Stem"/>
          <p:cNvSpPr/>
          <p:nvPr/>
        </p:nvSpPr>
        <p:spPr>
          <a:xfrm>
            <a:off x="5613197" y="4206240"/>
            <a:ext cx="14630" cy="192024"/>
          </a:xfrm>
          <a:prstGeom prst="rect">
            <a:avLst/>
          </a:prstGeom>
          <a:solidFill>
            <a:srgbClr val="1E7A4D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5" name="Head"/>
          <p:cNvSpPr/>
          <p:nvPr/>
        </p:nvSpPr>
        <p:spPr>
          <a:xfrm rot="10800000">
            <a:off x="5558150" y="4398264"/>
            <a:ext cx="124724" cy="100584"/>
          </a:xfrm>
          <a:prstGeom prst="triangle">
            <a:avLst/>
          </a:prstGeom>
          <a:solidFill>
            <a:srgbClr val="1E7A4D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6" name="Outcome"/>
          <p:cNvSpPr/>
          <p:nvPr/>
        </p:nvSpPr>
        <p:spPr>
          <a:xfrm>
            <a:off x="4578096" y="4535424"/>
            <a:ext cx="2084832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 cap="flat" cmpd="sng" algn="ctr">
            <a:solidFill>
              <a:srgbClr val="1E7A4D"/>
            </a:solidFill>
            <a:prstDash val="solid"/>
            <a:round/>
          </a:ln>
          <a:effectLst>
            <a:outerShdw blurRad="127000" dist="38100" dir="5400000" rotWithShape="0">
              <a:srgbClr val="000000">
                <a:alpha val="7000"/>
              </a:srgbClr>
            </a:outerShdw>
          </a:effectLst>
        </p:spPr>
        <p:txBody>
          <a:bodyPr wrap="square" lIns="91440" tIns="45720" rIns="91440" bIns="45720" anchor="ctr" anchorCtr="0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en-IN" sz="1060" b="1" dirty="0">
                <a:solidFill>
                  <a:srgbClr val="1E7A4D"/>
                </a:solidFill>
                <a:latin typeface="Calibri"/>
                <a:cs typeface="Calibri"/>
              </a:rPr>
              <a:t>Approve instant transaction</a:t>
            </a:r>
          </a:p>
        </p:txBody>
      </p:sp>
      <p:sp>
        <p:nvSpPr>
          <p:cNvPr id="47" name="Stem"/>
          <p:cNvSpPr/>
          <p:nvPr/>
        </p:nvSpPr>
        <p:spPr>
          <a:xfrm>
            <a:off x="8008925" y="3145536"/>
            <a:ext cx="14630" cy="210312"/>
          </a:xfrm>
          <a:prstGeom prst="rect">
            <a:avLst/>
          </a:prstGeom>
          <a:solidFill>
            <a:srgbClr val="8A6E10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8" name="Head"/>
          <p:cNvSpPr/>
          <p:nvPr/>
        </p:nvSpPr>
        <p:spPr>
          <a:xfrm rot="10800000">
            <a:off x="7953878" y="3355848"/>
            <a:ext cx="124724" cy="100584"/>
          </a:xfrm>
          <a:prstGeom prst="triangle">
            <a:avLst/>
          </a:prstGeom>
          <a:solidFill>
            <a:srgbClr val="8A6E10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9" name="Box"/>
          <p:cNvSpPr/>
          <p:nvPr/>
        </p:nvSpPr>
        <p:spPr>
          <a:xfrm>
            <a:off x="6973824" y="3493008"/>
            <a:ext cx="2084832" cy="658368"/>
          </a:xfrm>
          <a:prstGeom prst="roundRect">
            <a:avLst>
              <a:gd name="adj" fmla="val 6000"/>
            </a:avLst>
          </a:prstGeom>
          <a:solidFill>
            <a:srgbClr val="8A6E10"/>
          </a:solidFill>
          <a:ln w="12700" cap="flat" cmpd="sng" algn="ctr">
            <a:solidFill>
              <a:srgbClr val="8A6E10"/>
            </a:solidFill>
            <a:prstDash val="solid"/>
            <a:round/>
          </a:ln>
          <a:effectLst>
            <a:outerShdw blurRad="127000" dist="38100" dir="5400000" rotWithShape="0">
              <a:srgbClr val="000000">
                <a:alpha val="7000"/>
              </a:srgbClr>
            </a:outerShdw>
          </a:effectLst>
        </p:spPr>
        <p:txBody>
          <a:bodyPr wrap="square" lIns="91440" tIns="45720" rIns="91440" bIns="45720" anchor="ctr" anchorCtr="0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n-IN" sz="1140" b="1" dirty="0">
                <a:solidFill>
                  <a:srgbClr val="FFFFFF"/>
                </a:solidFill>
                <a:latin typeface="Calibri"/>
                <a:cs typeface="Calibri"/>
              </a:rPr>
              <a:t>MEDIUM RISK</a:t>
            </a:r>
          </a:p>
          <a:p>
            <a:pPr algn="ctr">
              <a:spcBef>
                <a:spcPts val="200"/>
              </a:spcBef>
              <a:buNone/>
            </a:pPr>
            <a:r>
              <a:rPr lang="en-IN" sz="880" b="1" dirty="0">
                <a:solidFill>
                  <a:srgbClr val="FFFFFF"/>
                </a:solidFill>
                <a:latin typeface="Calibri"/>
                <a:cs typeface="Calibri"/>
              </a:rPr>
              <a:t>Score 31 – 70</a:t>
            </a:r>
          </a:p>
        </p:txBody>
      </p:sp>
      <p:sp>
        <p:nvSpPr>
          <p:cNvPr id="50" name="Stem"/>
          <p:cNvSpPr/>
          <p:nvPr/>
        </p:nvSpPr>
        <p:spPr>
          <a:xfrm>
            <a:off x="8008925" y="4206240"/>
            <a:ext cx="14630" cy="192024"/>
          </a:xfrm>
          <a:prstGeom prst="rect">
            <a:avLst/>
          </a:prstGeom>
          <a:solidFill>
            <a:srgbClr val="8A6E10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1" name="Head"/>
          <p:cNvSpPr/>
          <p:nvPr/>
        </p:nvSpPr>
        <p:spPr>
          <a:xfrm rot="10800000">
            <a:off x="7953878" y="4398264"/>
            <a:ext cx="124724" cy="100584"/>
          </a:xfrm>
          <a:prstGeom prst="triangle">
            <a:avLst/>
          </a:prstGeom>
          <a:solidFill>
            <a:srgbClr val="8A6E10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2" name="Outcome"/>
          <p:cNvSpPr/>
          <p:nvPr/>
        </p:nvSpPr>
        <p:spPr>
          <a:xfrm>
            <a:off x="6973824" y="4535424"/>
            <a:ext cx="2084832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 cap="flat" cmpd="sng" algn="ctr">
            <a:solidFill>
              <a:srgbClr val="8A6E10"/>
            </a:solidFill>
            <a:prstDash val="solid"/>
            <a:round/>
          </a:ln>
          <a:effectLst>
            <a:outerShdw blurRad="127000" dist="38100" dir="5400000" rotWithShape="0">
              <a:srgbClr val="000000">
                <a:alpha val="7000"/>
              </a:srgbClr>
            </a:outerShdw>
          </a:effectLst>
        </p:spPr>
        <p:txBody>
          <a:bodyPr wrap="square" lIns="91440" tIns="45720" rIns="91440" bIns="45720" anchor="ctr" anchorCtr="0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en-IN" sz="1060" b="1" dirty="0">
                <a:solidFill>
                  <a:srgbClr val="8A6E10"/>
                </a:solidFill>
                <a:latin typeface="Calibri"/>
                <a:cs typeface="Calibri"/>
              </a:rPr>
              <a:t>Adaptive step-up</a:t>
            </a:r>
          </a:p>
          <a:p>
            <a:pPr algn="ctr">
              <a:lnSpc>
                <a:spcPct val="106000"/>
              </a:lnSpc>
              <a:buNone/>
            </a:pPr>
            <a:r>
              <a:rPr lang="en-IN" sz="1060" b="1" dirty="0">
                <a:solidFill>
                  <a:srgbClr val="8A6E10"/>
                </a:solidFill>
                <a:latin typeface="Calibri"/>
                <a:cs typeface="Calibri"/>
              </a:rPr>
              <a:t>(biometric / OTP)</a:t>
            </a:r>
          </a:p>
        </p:txBody>
      </p:sp>
      <p:sp>
        <p:nvSpPr>
          <p:cNvPr id="53" name="Stem"/>
          <p:cNvSpPr/>
          <p:nvPr/>
        </p:nvSpPr>
        <p:spPr>
          <a:xfrm>
            <a:off x="10404653" y="3145536"/>
            <a:ext cx="14630" cy="210312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4" name="Head"/>
          <p:cNvSpPr/>
          <p:nvPr/>
        </p:nvSpPr>
        <p:spPr>
          <a:xfrm rot="10800000">
            <a:off x="10349606" y="3355848"/>
            <a:ext cx="124724" cy="100584"/>
          </a:xfrm>
          <a:prstGeom prst="triangle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5" name="Box"/>
          <p:cNvSpPr/>
          <p:nvPr/>
        </p:nvSpPr>
        <p:spPr>
          <a:xfrm>
            <a:off x="9369552" y="3493008"/>
            <a:ext cx="2084832" cy="658368"/>
          </a:xfrm>
          <a:prstGeom prst="roundRect">
            <a:avLst>
              <a:gd name="adj" fmla="val 6000"/>
            </a:avLst>
          </a:prstGeom>
          <a:solidFill>
            <a:srgbClr val="9E1B32"/>
          </a:solidFill>
          <a:ln w="12700" cap="flat" cmpd="sng" algn="ctr">
            <a:solidFill>
              <a:srgbClr val="9E1B32"/>
            </a:solidFill>
            <a:prstDash val="solid"/>
            <a:round/>
          </a:ln>
          <a:effectLst>
            <a:outerShdw blurRad="127000" dist="38100" dir="5400000" rotWithShape="0">
              <a:srgbClr val="000000">
                <a:alpha val="7000"/>
              </a:srgbClr>
            </a:outerShdw>
          </a:effectLst>
        </p:spPr>
        <p:txBody>
          <a:bodyPr wrap="square" lIns="91440" tIns="45720" rIns="91440" bIns="45720" anchor="ctr" anchorCtr="0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n-IN" sz="1140" b="1" dirty="0">
                <a:solidFill>
                  <a:srgbClr val="FFFFFF"/>
                </a:solidFill>
                <a:latin typeface="Calibri"/>
                <a:cs typeface="Calibri"/>
              </a:rPr>
              <a:t>HIGH RISK</a:t>
            </a:r>
          </a:p>
          <a:p>
            <a:pPr algn="ctr">
              <a:spcBef>
                <a:spcPts val="200"/>
              </a:spcBef>
              <a:buNone/>
            </a:pPr>
            <a:r>
              <a:rPr lang="en-IN" sz="880" b="1" dirty="0">
                <a:solidFill>
                  <a:srgbClr val="FFFFFF"/>
                </a:solidFill>
                <a:latin typeface="Calibri"/>
                <a:cs typeface="Calibri"/>
              </a:rPr>
              <a:t>Score 71 – 100</a:t>
            </a:r>
          </a:p>
        </p:txBody>
      </p:sp>
      <p:sp>
        <p:nvSpPr>
          <p:cNvPr id="56" name="Stem"/>
          <p:cNvSpPr/>
          <p:nvPr/>
        </p:nvSpPr>
        <p:spPr>
          <a:xfrm>
            <a:off x="10404653" y="4206240"/>
            <a:ext cx="14630" cy="192024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7" name="Head"/>
          <p:cNvSpPr/>
          <p:nvPr/>
        </p:nvSpPr>
        <p:spPr>
          <a:xfrm rot="10800000">
            <a:off x="10349606" y="4398264"/>
            <a:ext cx="124724" cy="100584"/>
          </a:xfrm>
          <a:prstGeom prst="triangle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8" name="Outcome"/>
          <p:cNvSpPr/>
          <p:nvPr/>
        </p:nvSpPr>
        <p:spPr>
          <a:xfrm>
            <a:off x="9369552" y="4535424"/>
            <a:ext cx="2084832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 cap="flat" cmpd="sng" algn="ctr">
            <a:solidFill>
              <a:srgbClr val="9E1B32"/>
            </a:solidFill>
            <a:prstDash val="solid"/>
            <a:round/>
          </a:ln>
          <a:effectLst>
            <a:outerShdw blurRad="127000" dist="38100" dir="5400000" rotWithShape="0">
              <a:srgbClr val="000000">
                <a:alpha val="7000"/>
              </a:srgbClr>
            </a:outerShdw>
          </a:effectLst>
        </p:spPr>
        <p:txBody>
          <a:bodyPr wrap="square" lIns="91440" tIns="45720" rIns="91440" bIns="45720" anchor="ctr" anchorCtr="0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en-IN" sz="1060" b="1" dirty="0">
                <a:solidFill>
                  <a:srgbClr val="9E1B32"/>
                </a:solidFill>
                <a:latin typeface="Calibri"/>
                <a:cs typeface="Calibri"/>
              </a:rPr>
              <a:t>Temporary block</a:t>
            </a:r>
          </a:p>
          <a:p>
            <a:pPr algn="ctr">
              <a:lnSpc>
                <a:spcPct val="106000"/>
              </a:lnSpc>
              <a:buNone/>
            </a:pPr>
            <a:r>
              <a:rPr lang="en-IN" sz="1060" b="1" dirty="0">
                <a:solidFill>
                  <a:srgbClr val="9E1B32"/>
                </a:solidFill>
                <a:latin typeface="Calibri"/>
                <a:cs typeface="Calibri"/>
              </a:rPr>
              <a:t>&amp; manual review</a:t>
            </a:r>
          </a:p>
        </p:txBody>
      </p:sp>
      <p:sp>
        <p:nvSpPr>
          <p:cNvPr id="59" name="SS"/>
          <p:cNvSpPr/>
          <p:nvPr/>
        </p:nvSpPr>
        <p:spPr>
          <a:xfrm>
            <a:off x="4578096" y="5431536"/>
            <a:ext cx="687628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40" b="1" spc="160" dirty="0">
                <a:solidFill>
                  <a:srgbClr val="7A7A85"/>
                </a:solidFill>
                <a:latin typeface="Calibri"/>
                <a:cs typeface="Calibri"/>
              </a:rPr>
              <a:t>RISK SCORE SCALE</a:t>
            </a:r>
          </a:p>
        </p:txBody>
      </p:sp>
      <p:sp>
        <p:nvSpPr>
          <p:cNvPr id="60" name="Seg"/>
          <p:cNvSpPr/>
          <p:nvPr/>
        </p:nvSpPr>
        <p:spPr>
          <a:xfrm>
            <a:off x="4578096" y="5687568"/>
            <a:ext cx="2062886" cy="182880"/>
          </a:xfrm>
          <a:prstGeom prst="rect">
            <a:avLst/>
          </a:prstGeom>
          <a:solidFill>
            <a:srgbClr val="1E7A4D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61" name="Seg"/>
          <p:cNvSpPr/>
          <p:nvPr/>
        </p:nvSpPr>
        <p:spPr>
          <a:xfrm>
            <a:off x="6640982" y="5687568"/>
            <a:ext cx="2750515" cy="1828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62" name="Seg"/>
          <p:cNvSpPr/>
          <p:nvPr/>
        </p:nvSpPr>
        <p:spPr>
          <a:xfrm>
            <a:off x="9391497" y="5687568"/>
            <a:ext cx="2062886" cy="182880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63" name="Tick"/>
          <p:cNvSpPr/>
          <p:nvPr/>
        </p:nvSpPr>
        <p:spPr>
          <a:xfrm>
            <a:off x="4395216" y="590702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840" b="1" dirty="0">
                <a:solidFill>
                  <a:srgbClr val="7A7A85"/>
                </a:solidFill>
                <a:latin typeface="Calibri"/>
                <a:cs typeface="Calibri"/>
              </a:rPr>
              <a:t>0</a:t>
            </a:r>
          </a:p>
        </p:txBody>
      </p:sp>
      <p:sp>
        <p:nvSpPr>
          <p:cNvPr id="64" name="Tick"/>
          <p:cNvSpPr/>
          <p:nvPr/>
        </p:nvSpPr>
        <p:spPr>
          <a:xfrm>
            <a:off x="6458102" y="590702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840" b="1" dirty="0">
                <a:solidFill>
                  <a:srgbClr val="7A7A85"/>
                </a:solidFill>
                <a:latin typeface="Calibri"/>
                <a:cs typeface="Calibri"/>
              </a:rPr>
              <a:t>30</a:t>
            </a:r>
          </a:p>
        </p:txBody>
      </p:sp>
      <p:sp>
        <p:nvSpPr>
          <p:cNvPr id="65" name="Tick"/>
          <p:cNvSpPr/>
          <p:nvPr/>
        </p:nvSpPr>
        <p:spPr>
          <a:xfrm>
            <a:off x="9208617" y="590702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840" b="1" dirty="0">
                <a:solidFill>
                  <a:srgbClr val="7A7A85"/>
                </a:solidFill>
                <a:latin typeface="Calibri"/>
                <a:cs typeface="Calibri"/>
              </a:rPr>
              <a:t>70</a:t>
            </a:r>
          </a:p>
        </p:txBody>
      </p:sp>
      <p:sp>
        <p:nvSpPr>
          <p:cNvPr id="66" name="Tick"/>
          <p:cNvSpPr/>
          <p:nvPr/>
        </p:nvSpPr>
        <p:spPr>
          <a:xfrm>
            <a:off x="11271504" y="590702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IN" sz="840" b="1" dirty="0">
                <a:solidFill>
                  <a:srgbClr val="7A7A85"/>
                </a:solidFill>
                <a:latin typeface="Calibri"/>
                <a:cs typeface="Calibri"/>
              </a:rPr>
              <a:t>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ine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gradFill flip="none" rotWithShape="1">
            <a:gsLst>
              <a:gs pos="0">
                <a:srgbClr val="5E0B15"/>
              </a:gs>
              <a:gs pos="100000">
                <a:srgbClr val="9E1B32"/>
              </a:gs>
            </a:gsLst>
            <a:lin ang="5400000" scaled="0"/>
          </a:gra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" name="Spine Gold"/>
          <p:cNvSpPr/>
          <p:nvPr/>
        </p:nvSpPr>
        <p:spPr>
          <a:xfrm>
            <a:off x="118872" y="0"/>
            <a:ext cx="20117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" name="ISSM Crest"/>
          <p:cNvSpPr/>
          <p:nvPr/>
        </p:nvSpPr>
        <p:spPr>
          <a:xfrm>
            <a:off x="9558528" y="365760"/>
            <a:ext cx="394106" cy="457200"/>
          </a:xfrm>
          <a:custGeom>
            <a:avLst/>
            <a:gdLst/>
            <a:ahLst/>
            <a:cxnLst/>
            <a:rect l="l" t="t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solidFill>
            <a:srgbClr val="5E0B15"/>
          </a:solidFill>
          <a:ln w="1270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5" name="Crest Inner"/>
          <p:cNvSpPr/>
          <p:nvPr/>
        </p:nvSpPr>
        <p:spPr>
          <a:xfrm>
            <a:off x="9588085" y="390906"/>
            <a:ext cx="334992" cy="404622"/>
          </a:xfrm>
          <a:custGeom>
            <a:avLst/>
            <a:gdLst/>
            <a:ahLst/>
            <a:cxnLst/>
            <a:rect l="l" t="t" r="r" b="b"/>
            <a:pathLst>
              <a:path w="1000" h="1160">
                <a:moveTo>
                  <a:pt x="55" y="40"/>
                </a:moveTo>
                <a:lnTo>
                  <a:pt x="945" y="40"/>
                </a:lnTo>
                <a:lnTo>
                  <a:pt x="945" y="620"/>
                </a:lnTo>
                <a:cubicBezTo>
                  <a:pt x="945" y="890"/>
                  <a:pt x="760" y="1040"/>
                  <a:pt x="500" y="1120"/>
                </a:cubicBezTo>
                <a:cubicBezTo>
                  <a:pt x="240" y="1040"/>
                  <a:pt x="55" y="890"/>
                  <a:pt x="55" y="620"/>
                </a:cubicBezTo>
                <a:close/>
              </a:path>
            </a:pathLst>
          </a:custGeom>
          <a:noFill/>
          <a:ln w="9525" cap="flat" cmpd="sng" algn="ctr">
            <a:solidFill>
              <a:srgbClr val="E3C567">
                <a:alpha val="70000"/>
              </a:srgbClr>
            </a:solidFill>
            <a:prstDash val="solid"/>
            <a:round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6" name="Flame"/>
          <p:cNvSpPr/>
          <p:nvPr/>
        </p:nvSpPr>
        <p:spPr>
          <a:xfrm>
            <a:off x="9731441" y="427482"/>
            <a:ext cx="48280" cy="73152"/>
          </a:xfrm>
          <a:custGeom>
            <a:avLst/>
            <a:gdLst/>
            <a:ahLst/>
            <a:cxnLst/>
            <a:rect l="l" t="t" r="r" b="b"/>
            <a:pathLst>
              <a:path w="100" h="140">
                <a:moveTo>
                  <a:pt x="50" y="0"/>
                </a:moveTo>
                <a:cubicBezTo>
                  <a:pt x="86" y="46"/>
                  <a:pt x="100" y="72"/>
                  <a:pt x="76" y="106"/>
                </a:cubicBezTo>
                <a:cubicBezTo>
                  <a:pt x="63" y="124"/>
                  <a:pt x="37" y="124"/>
                  <a:pt x="24" y="106"/>
                </a:cubicBezTo>
                <a:cubicBezTo>
                  <a:pt x="0" y="72"/>
                  <a:pt x="14" y="46"/>
                  <a:pt x="50" y="0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7" name="Stem"/>
          <p:cNvSpPr/>
          <p:nvPr/>
        </p:nvSpPr>
        <p:spPr>
          <a:xfrm>
            <a:off x="9747305" y="500634"/>
            <a:ext cx="16552" cy="6629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8" name="Collar"/>
          <p:cNvSpPr/>
          <p:nvPr/>
        </p:nvSpPr>
        <p:spPr>
          <a:xfrm>
            <a:off x="9729964" y="560070"/>
            <a:ext cx="51233" cy="1005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9" name="Page L"/>
          <p:cNvSpPr/>
          <p:nvPr/>
        </p:nvSpPr>
        <p:spPr>
          <a:xfrm>
            <a:off x="9653113" y="582930"/>
            <a:ext cx="97344" cy="86072"/>
          </a:xfrm>
          <a:custGeom>
            <a:avLst/>
            <a:gdLst/>
            <a:ahLst/>
            <a:cxnLst/>
            <a:rect l="l" t="t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0" name="Page R"/>
          <p:cNvSpPr/>
          <p:nvPr/>
        </p:nvSpPr>
        <p:spPr>
          <a:xfrm flipH="1">
            <a:off x="9760704" y="582930"/>
            <a:ext cx="97344" cy="86072"/>
          </a:xfrm>
          <a:custGeom>
            <a:avLst/>
            <a:gdLst/>
            <a:ahLst/>
            <a:cxnLst/>
            <a:rect l="l" t="t" r="r" b="b"/>
            <a:pathLst>
              <a:path w="100" h="62">
                <a:moveTo>
                  <a:pt x="0" y="0"/>
                </a:moveTo>
                <a:lnTo>
                  <a:pt x="100" y="22"/>
                </a:lnTo>
                <a:lnTo>
                  <a:pt x="100" y="54"/>
                </a:lnTo>
                <a:lnTo>
                  <a:pt x="0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1" name="Spine"/>
          <p:cNvSpPr/>
          <p:nvPr/>
        </p:nvSpPr>
        <p:spPr>
          <a:xfrm>
            <a:off x="9750457" y="613471"/>
            <a:ext cx="10247" cy="44424"/>
          </a:xfrm>
          <a:prstGeom prst="rect">
            <a:avLst/>
          </a:prstGeom>
          <a:solidFill>
            <a:srgbClr val="E3C56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2" name="Ribbon"/>
          <p:cNvSpPr/>
          <p:nvPr/>
        </p:nvSpPr>
        <p:spPr>
          <a:xfrm>
            <a:off x="9645231" y="683514"/>
            <a:ext cx="220699" cy="22860"/>
          </a:xfrm>
          <a:custGeom>
            <a:avLst/>
            <a:gdLst/>
            <a:ahLst/>
            <a:cxnLst/>
            <a:rect l="l" t="t" r="r" b="b"/>
            <a:pathLst>
              <a:path w="1000" h="100">
                <a:moveTo>
                  <a:pt x="0" y="0"/>
                </a:moveTo>
                <a:lnTo>
                  <a:pt x="1000" y="0"/>
                </a:lnTo>
                <a:lnTo>
                  <a:pt x="925" y="50"/>
                </a:lnTo>
                <a:lnTo>
                  <a:pt x="1000" y="100"/>
                </a:lnTo>
                <a:lnTo>
                  <a:pt x="0" y="100"/>
                </a:lnTo>
                <a:lnTo>
                  <a:pt x="75" y="5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3" name="ISSM Wordmark"/>
          <p:cNvSpPr/>
          <p:nvPr/>
        </p:nvSpPr>
        <p:spPr>
          <a:xfrm>
            <a:off x="10025786" y="425196"/>
            <a:ext cx="139446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1100" b="1" spc="40" dirty="0">
                <a:solidFill>
                  <a:srgbClr val="9E1B32"/>
                </a:solidFill>
                <a:latin typeface="Georgia"/>
                <a:cs typeface="Georgia"/>
              </a:rPr>
              <a:t>ISSM</a:t>
            </a:r>
          </a:p>
          <a:p>
            <a:pPr algn="l">
              <a:spcBef>
                <a:spcPts val="100"/>
              </a:spcBef>
              <a:buNone/>
            </a:pPr>
            <a:r>
              <a:rPr lang="en-IN" sz="510" b="1" spc="120" dirty="0">
                <a:solidFill>
                  <a:srgbClr val="C9A227"/>
                </a:solidFill>
                <a:latin typeface="Calibri"/>
                <a:cs typeface="Calibri"/>
              </a:rPr>
              <a:t>BUSINESS SCHOOL</a:t>
            </a:r>
          </a:p>
        </p:txBody>
      </p:sp>
      <p:sp>
        <p:nvSpPr>
          <p:cNvPr id="14" name="Eyebrow"/>
          <p:cNvSpPr/>
          <p:nvPr/>
        </p:nvSpPr>
        <p:spPr>
          <a:xfrm>
            <a:off x="603504" y="420624"/>
            <a:ext cx="6949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940" b="1" spc="260" dirty="0">
                <a:solidFill>
                  <a:srgbClr val="C9A227"/>
                </a:solidFill>
                <a:latin typeface="Calibri"/>
                <a:cs typeface="Calibri"/>
              </a:rPr>
              <a:t>IN SUMMARY</a:t>
            </a:r>
          </a:p>
        </p:txBody>
      </p:sp>
      <p:sp>
        <p:nvSpPr>
          <p:cNvPr id="15" name="Title"/>
          <p:cNvSpPr/>
          <p:nvPr/>
        </p:nvSpPr>
        <p:spPr>
          <a:xfrm>
            <a:off x="603504" y="676656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n-IN" sz="2900" b="1" spc="-15" dirty="0">
                <a:solidFill>
                  <a:srgbClr val="5E0B15"/>
                </a:solidFill>
                <a:latin typeface="Georgia"/>
                <a:cs typeface="Georgia"/>
              </a:rPr>
              <a:t>Conclusion</a:t>
            </a:r>
          </a:p>
        </p:txBody>
      </p:sp>
      <p:sp>
        <p:nvSpPr>
          <p:cNvPr id="16" name="Rule"/>
          <p:cNvSpPr/>
          <p:nvPr/>
        </p:nvSpPr>
        <p:spPr>
          <a:xfrm>
            <a:off x="603504" y="1261872"/>
            <a:ext cx="960120" cy="411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7" name="Kicker"/>
          <p:cNvSpPr/>
          <p:nvPr/>
        </p:nvSpPr>
        <p:spPr>
          <a:xfrm>
            <a:off x="1719072" y="1179576"/>
            <a:ext cx="979627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en-IN" sz="1060" i="1" dirty="0">
                <a:solidFill>
                  <a:srgbClr val="4A4A55"/>
                </a:solidFill>
                <a:latin typeface="Calibri"/>
                <a:cs typeface="Calibri"/>
              </a:rPr>
              <a:t>HDFC Bank uses AI-driven solutions to make digital banking faster, safer and more convenient</a:t>
            </a:r>
          </a:p>
        </p:txBody>
      </p:sp>
      <p:sp>
        <p:nvSpPr>
          <p:cNvPr id="18" name="Footer Rule"/>
          <p:cNvSpPr/>
          <p:nvPr/>
        </p:nvSpPr>
        <p:spPr>
          <a:xfrm>
            <a:off x="603504" y="6163056"/>
            <a:ext cx="10984992" cy="10058"/>
          </a:xfrm>
          <a:prstGeom prst="rect">
            <a:avLst/>
          </a:prstGeom>
          <a:solidFill>
            <a:srgbClr val="E6E2DA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19" name="Footer L"/>
          <p:cNvSpPr/>
          <p:nvPr/>
        </p:nvSpPr>
        <p:spPr>
          <a:xfrm>
            <a:off x="603504" y="6245352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880" b="1" spc="60" dirty="0">
                <a:solidFill>
                  <a:srgbClr val="7A7A85"/>
                </a:solidFill>
                <a:latin typeface="Calibri"/>
                <a:cs typeface="Calibri"/>
              </a:rPr>
              <a:t>Prahadhesvaryaa K S</a:t>
            </a:r>
            <a:r>
              <a:rPr lang="en-IN" sz="880" spc="40" dirty="0">
                <a:solidFill>
                  <a:srgbClr val="7A7A85"/>
                </a:solidFill>
                <a:latin typeface="Calibri"/>
                <a:cs typeface="Calibri"/>
              </a:rPr>
              <a:t>   |   Register No: </a:t>
            </a:r>
            <a:r>
              <a:rPr lang="en-IN" sz="880" b="1" spc="60" dirty="0">
                <a:solidFill>
                  <a:srgbClr val="C9A227"/>
                </a:solidFill>
                <a:latin typeface="Calibri"/>
                <a:cs typeface="Calibri"/>
              </a:rPr>
              <a:t>OSI2509093</a:t>
            </a:r>
          </a:p>
        </p:txBody>
      </p:sp>
      <p:sp>
        <p:nvSpPr>
          <p:cNvPr id="20" name="Footer R"/>
          <p:cNvSpPr/>
          <p:nvPr/>
        </p:nvSpPr>
        <p:spPr>
          <a:xfrm>
            <a:off x="9576816" y="624535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>
              <a:buNone/>
            </a:pPr>
            <a:r>
              <a:rPr lang="en-IN" sz="960" b="1" dirty="0">
                <a:solidFill>
                  <a:srgbClr val="9E1B32"/>
                </a:solidFill>
                <a:latin typeface="Georgia"/>
                <a:cs typeface="Georgia"/>
              </a:rPr>
              <a:t>06</a:t>
            </a:r>
            <a:r>
              <a:rPr lang="en-IN" sz="880" dirty="0">
                <a:solidFill>
                  <a:srgbClr val="7A7A85"/>
                </a:solidFill>
                <a:latin typeface="Calibri"/>
                <a:cs typeface="Calibri"/>
              </a:rPr>
              <a:t>  /  6</a:t>
            </a:r>
          </a:p>
        </p:txBody>
      </p:sp>
      <p:sp>
        <p:nvSpPr>
          <p:cNvPr id="21" name="Card"/>
          <p:cNvSpPr/>
          <p:nvPr/>
        </p:nvSpPr>
        <p:spPr>
          <a:xfrm>
            <a:off x="603504" y="1572768"/>
            <a:ext cx="2540508" cy="18836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2" name="Top"/>
          <p:cNvSpPr/>
          <p:nvPr/>
        </p:nvSpPr>
        <p:spPr>
          <a:xfrm>
            <a:off x="603504" y="1572768"/>
            <a:ext cx="2540508" cy="45720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3" name="Dot"/>
          <p:cNvSpPr/>
          <p:nvPr/>
        </p:nvSpPr>
        <p:spPr>
          <a:xfrm>
            <a:off x="822960" y="1792224"/>
            <a:ext cx="384048" cy="384048"/>
          </a:xfrm>
          <a:prstGeom prst="ellipse">
            <a:avLst/>
          </a:prstGeom>
          <a:solidFill>
            <a:srgbClr val="FAF1D8"/>
          </a:solidFill>
          <a:ln w="1016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960" b="1" dirty="0">
                <a:solidFill>
                  <a:srgbClr val="8A6E10"/>
                </a:solidFill>
                <a:latin typeface="Georgia"/>
                <a:cs typeface="Georgia"/>
              </a:rPr>
              <a:t>01</a:t>
            </a:r>
          </a:p>
        </p:txBody>
      </p:sp>
      <p:sp>
        <p:nvSpPr>
          <p:cNvPr id="24" name="T"/>
          <p:cNvSpPr/>
          <p:nvPr/>
        </p:nvSpPr>
        <p:spPr>
          <a:xfrm>
            <a:off x="822960" y="2286000"/>
            <a:ext cx="210159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02000"/>
              </a:lnSpc>
              <a:buNone/>
            </a:pPr>
            <a:r>
              <a:rPr lang="en-IN" sz="1320" b="1" dirty="0">
                <a:solidFill>
                  <a:srgbClr val="5E0B15"/>
                </a:solidFill>
                <a:latin typeface="Georgia"/>
                <a:cs typeface="Georgia"/>
              </a:rPr>
              <a:t>RPA</a:t>
            </a:r>
          </a:p>
        </p:txBody>
      </p:sp>
      <p:sp>
        <p:nvSpPr>
          <p:cNvPr id="25" name="B"/>
          <p:cNvSpPr/>
          <p:nvPr/>
        </p:nvSpPr>
        <p:spPr>
          <a:xfrm>
            <a:off x="822960" y="2798064"/>
            <a:ext cx="21015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IN" sz="980" dirty="0">
                <a:solidFill>
                  <a:srgbClr val="4A4A55"/>
                </a:solidFill>
                <a:latin typeface="Calibri"/>
                <a:cs typeface="Calibri"/>
              </a:rPr>
              <a:t>Automates KYC verification, opening an account in seconds.</a:t>
            </a:r>
          </a:p>
        </p:txBody>
      </p:sp>
      <p:sp>
        <p:nvSpPr>
          <p:cNvPr id="26" name="Card"/>
          <p:cNvSpPr/>
          <p:nvPr/>
        </p:nvSpPr>
        <p:spPr>
          <a:xfrm>
            <a:off x="3418332" y="1572768"/>
            <a:ext cx="2540508" cy="18836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7" name="Top"/>
          <p:cNvSpPr/>
          <p:nvPr/>
        </p:nvSpPr>
        <p:spPr>
          <a:xfrm>
            <a:off x="3418332" y="1572768"/>
            <a:ext cx="2540508" cy="45720"/>
          </a:xfrm>
          <a:prstGeom prst="rect">
            <a:avLst/>
          </a:prstGeom>
          <a:solidFill>
            <a:srgbClr val="8A6E10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28" name="Dot"/>
          <p:cNvSpPr/>
          <p:nvPr/>
        </p:nvSpPr>
        <p:spPr>
          <a:xfrm>
            <a:off x="3637788" y="1792224"/>
            <a:ext cx="384048" cy="384048"/>
          </a:xfrm>
          <a:prstGeom prst="ellipse">
            <a:avLst/>
          </a:prstGeom>
          <a:solidFill>
            <a:srgbClr val="FAF1D8"/>
          </a:solidFill>
          <a:ln w="1016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960" b="1" dirty="0">
                <a:solidFill>
                  <a:srgbClr val="8A6E10"/>
                </a:solidFill>
                <a:latin typeface="Georgia"/>
                <a:cs typeface="Georgia"/>
              </a:rPr>
              <a:t>02</a:t>
            </a:r>
          </a:p>
        </p:txBody>
      </p:sp>
      <p:sp>
        <p:nvSpPr>
          <p:cNvPr id="29" name="T"/>
          <p:cNvSpPr/>
          <p:nvPr/>
        </p:nvSpPr>
        <p:spPr>
          <a:xfrm>
            <a:off x="3637788" y="2286000"/>
            <a:ext cx="210159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02000"/>
              </a:lnSpc>
              <a:buNone/>
            </a:pPr>
            <a:r>
              <a:rPr lang="en-IN" sz="1320" b="1" dirty="0">
                <a:solidFill>
                  <a:srgbClr val="5E0B15"/>
                </a:solidFill>
                <a:latin typeface="Georgia"/>
                <a:cs typeface="Georgia"/>
              </a:rPr>
              <a:t>Chatbots</a:t>
            </a:r>
          </a:p>
        </p:txBody>
      </p:sp>
      <p:sp>
        <p:nvSpPr>
          <p:cNvPr id="30" name="B"/>
          <p:cNvSpPr/>
          <p:nvPr/>
        </p:nvSpPr>
        <p:spPr>
          <a:xfrm>
            <a:off x="3637788" y="2798064"/>
            <a:ext cx="21015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IN" sz="980" dirty="0">
                <a:solidFill>
                  <a:srgbClr val="4A4A55"/>
                </a:solidFill>
                <a:latin typeface="Calibri"/>
                <a:cs typeface="Calibri"/>
              </a:rPr>
              <a:t>Provides 24/7 customer support with no human agent needed.</a:t>
            </a:r>
          </a:p>
        </p:txBody>
      </p:sp>
      <p:sp>
        <p:nvSpPr>
          <p:cNvPr id="31" name="Card"/>
          <p:cNvSpPr/>
          <p:nvPr/>
        </p:nvSpPr>
        <p:spPr>
          <a:xfrm>
            <a:off x="6233160" y="1572768"/>
            <a:ext cx="2540508" cy="18836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2" name="Top"/>
          <p:cNvSpPr/>
          <p:nvPr/>
        </p:nvSpPr>
        <p:spPr>
          <a:xfrm>
            <a:off x="6233160" y="1572768"/>
            <a:ext cx="2540508" cy="45720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3" name="Dot"/>
          <p:cNvSpPr/>
          <p:nvPr/>
        </p:nvSpPr>
        <p:spPr>
          <a:xfrm>
            <a:off x="6452616" y="1792224"/>
            <a:ext cx="384048" cy="384048"/>
          </a:xfrm>
          <a:prstGeom prst="ellipse">
            <a:avLst/>
          </a:prstGeom>
          <a:solidFill>
            <a:srgbClr val="FAF1D8"/>
          </a:solidFill>
          <a:ln w="1016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960" b="1" dirty="0">
                <a:solidFill>
                  <a:srgbClr val="8A6E10"/>
                </a:solidFill>
                <a:latin typeface="Georgia"/>
                <a:cs typeface="Georgia"/>
              </a:rPr>
              <a:t>03</a:t>
            </a:r>
          </a:p>
        </p:txBody>
      </p:sp>
      <p:sp>
        <p:nvSpPr>
          <p:cNvPr id="34" name="T"/>
          <p:cNvSpPr/>
          <p:nvPr/>
        </p:nvSpPr>
        <p:spPr>
          <a:xfrm>
            <a:off x="6452616" y="2286000"/>
            <a:ext cx="210159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02000"/>
              </a:lnSpc>
              <a:buNone/>
            </a:pPr>
            <a:r>
              <a:rPr lang="en-IN" sz="1320" b="1" dirty="0">
                <a:solidFill>
                  <a:srgbClr val="5E0B15"/>
                </a:solidFill>
                <a:latin typeface="Georgia"/>
                <a:cs typeface="Georgia"/>
              </a:rPr>
              <a:t>PaaS</a:t>
            </a:r>
          </a:p>
        </p:txBody>
      </p:sp>
      <p:sp>
        <p:nvSpPr>
          <p:cNvPr id="35" name="B"/>
          <p:cNvSpPr/>
          <p:nvPr/>
        </p:nvSpPr>
        <p:spPr>
          <a:xfrm>
            <a:off x="6452616" y="2798064"/>
            <a:ext cx="21015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IN" sz="980" dirty="0">
                <a:solidFill>
                  <a:srgbClr val="4A4A55"/>
                </a:solidFill>
                <a:latin typeface="Calibri"/>
                <a:cs typeface="Calibri"/>
              </a:rPr>
              <a:t>Provides a ready-to-use environment for building and deploying AI.</a:t>
            </a:r>
          </a:p>
        </p:txBody>
      </p:sp>
      <p:sp>
        <p:nvSpPr>
          <p:cNvPr id="36" name="Card"/>
          <p:cNvSpPr/>
          <p:nvPr/>
        </p:nvSpPr>
        <p:spPr>
          <a:xfrm>
            <a:off x="9047988" y="1572768"/>
            <a:ext cx="2540508" cy="18836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 algn="ctr">
            <a:solidFill>
              <a:srgbClr val="E6E2DA"/>
            </a:solidFill>
            <a:prstDash val="solid"/>
            <a:round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7" name="Top"/>
          <p:cNvSpPr/>
          <p:nvPr/>
        </p:nvSpPr>
        <p:spPr>
          <a:xfrm>
            <a:off x="9047988" y="1572768"/>
            <a:ext cx="2540508" cy="45720"/>
          </a:xfrm>
          <a:prstGeom prst="rect">
            <a:avLst/>
          </a:prstGeom>
          <a:solidFill>
            <a:srgbClr val="8A6E10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38" name="Dot"/>
          <p:cNvSpPr/>
          <p:nvPr/>
        </p:nvSpPr>
        <p:spPr>
          <a:xfrm>
            <a:off x="9267444" y="1792224"/>
            <a:ext cx="384048" cy="384048"/>
          </a:xfrm>
          <a:prstGeom prst="ellipse">
            <a:avLst/>
          </a:prstGeom>
          <a:solidFill>
            <a:srgbClr val="FAF1D8"/>
          </a:solidFill>
          <a:ln w="1016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960" b="1" dirty="0">
                <a:solidFill>
                  <a:srgbClr val="8A6E10"/>
                </a:solidFill>
                <a:latin typeface="Georgia"/>
                <a:cs typeface="Georgia"/>
              </a:rPr>
              <a:t>04</a:t>
            </a:r>
          </a:p>
        </p:txBody>
      </p:sp>
      <p:sp>
        <p:nvSpPr>
          <p:cNvPr id="39" name="T"/>
          <p:cNvSpPr/>
          <p:nvPr/>
        </p:nvSpPr>
        <p:spPr>
          <a:xfrm>
            <a:off x="9267444" y="2286000"/>
            <a:ext cx="210159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02000"/>
              </a:lnSpc>
              <a:buNone/>
            </a:pPr>
            <a:r>
              <a:rPr lang="en-IN" sz="1320" b="1" dirty="0">
                <a:solidFill>
                  <a:srgbClr val="5E0B15"/>
                </a:solidFill>
                <a:latin typeface="Georgia"/>
                <a:cs typeface="Georgia"/>
              </a:rPr>
              <a:t>Adaptive fraud prevention</a:t>
            </a:r>
          </a:p>
        </p:txBody>
      </p:sp>
      <p:sp>
        <p:nvSpPr>
          <p:cNvPr id="40" name="B"/>
          <p:cNvSpPr/>
          <p:nvPr/>
        </p:nvSpPr>
        <p:spPr>
          <a:xfrm>
            <a:off x="9267444" y="2798064"/>
            <a:ext cx="21015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IN" sz="980" dirty="0">
                <a:solidFill>
                  <a:srgbClr val="4A4A55"/>
                </a:solidFill>
                <a:latin typeface="Calibri"/>
                <a:cs typeface="Calibri"/>
              </a:rPr>
              <a:t>Uses real-time risk scores to identify and respond to suspicious transactions.</a:t>
            </a:r>
          </a:p>
        </p:txBody>
      </p:sp>
      <p:sp>
        <p:nvSpPr>
          <p:cNvPr id="41" name="Out"/>
          <p:cNvSpPr/>
          <p:nvPr/>
        </p:nvSpPr>
        <p:spPr>
          <a:xfrm>
            <a:off x="603504" y="3639312"/>
            <a:ext cx="3478784" cy="566928"/>
          </a:xfrm>
          <a:prstGeom prst="roundRect">
            <a:avLst>
              <a:gd name="adj" fmla="val 20000"/>
            </a:avLst>
          </a:prstGeom>
          <a:solidFill>
            <a:srgbClr val="FAF1D8"/>
          </a:solidFill>
          <a:ln w="1016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1160" b="1" spc="80" dirty="0">
                <a:solidFill>
                  <a:srgbClr val="5E0B15"/>
                </a:solidFill>
                <a:latin typeface="Georgia"/>
                <a:cs typeface="Georgia"/>
              </a:rPr>
              <a:t>FASTER</a:t>
            </a:r>
            <a:r>
              <a:rPr lang="en-IN" sz="980" dirty="0">
                <a:solidFill>
                  <a:srgbClr val="8A6E10"/>
                </a:solidFill>
                <a:latin typeface="Calibri"/>
                <a:cs typeface="Calibri"/>
              </a:rPr>
              <a:t>   —   seconds, not days</a:t>
            </a:r>
          </a:p>
        </p:txBody>
      </p:sp>
      <p:sp>
        <p:nvSpPr>
          <p:cNvPr id="42" name="Out"/>
          <p:cNvSpPr/>
          <p:nvPr/>
        </p:nvSpPr>
        <p:spPr>
          <a:xfrm>
            <a:off x="4356608" y="3639312"/>
            <a:ext cx="3478784" cy="566928"/>
          </a:xfrm>
          <a:prstGeom prst="roundRect">
            <a:avLst>
              <a:gd name="adj" fmla="val 20000"/>
            </a:avLst>
          </a:prstGeom>
          <a:solidFill>
            <a:srgbClr val="FAF1D8"/>
          </a:solidFill>
          <a:ln w="1016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1160" b="1" spc="80" dirty="0">
                <a:solidFill>
                  <a:srgbClr val="5E0B15"/>
                </a:solidFill>
                <a:latin typeface="Georgia"/>
                <a:cs typeface="Georgia"/>
              </a:rPr>
              <a:t>SAFER</a:t>
            </a:r>
            <a:r>
              <a:rPr lang="en-IN" sz="980" dirty="0">
                <a:solidFill>
                  <a:srgbClr val="8A6E10"/>
                </a:solidFill>
                <a:latin typeface="Calibri"/>
                <a:cs typeface="Calibri"/>
              </a:rPr>
              <a:t>   —   risk-scored in real time</a:t>
            </a:r>
          </a:p>
        </p:txBody>
      </p:sp>
      <p:sp>
        <p:nvSpPr>
          <p:cNvPr id="43" name="Out"/>
          <p:cNvSpPr/>
          <p:nvPr/>
        </p:nvSpPr>
        <p:spPr>
          <a:xfrm>
            <a:off x="8109712" y="3639312"/>
            <a:ext cx="3478784" cy="566928"/>
          </a:xfrm>
          <a:prstGeom prst="roundRect">
            <a:avLst>
              <a:gd name="adj" fmla="val 20000"/>
            </a:avLst>
          </a:prstGeom>
          <a:solidFill>
            <a:srgbClr val="FAF1D8"/>
          </a:solidFill>
          <a:ln w="10160" cap="flat" cmpd="sng" algn="ctr">
            <a:solidFill>
              <a:srgbClr val="C9A227"/>
            </a:solidFill>
            <a:prstDash val="solid"/>
            <a:round/>
          </a:ln>
        </p:spPr>
        <p:txBody>
          <a:bodyPr wrap="square" lIns="73152" tIns="36576" rIns="73152" bIns="36576" anchor="ctr" anchorCtr="0">
            <a:noAutofit/>
          </a:bodyPr>
          <a:lstStyle/>
          <a:p>
            <a:pPr algn="ctr">
              <a:buNone/>
            </a:pPr>
            <a:r>
              <a:rPr lang="en-IN" sz="1160" b="1" spc="80" dirty="0">
                <a:solidFill>
                  <a:srgbClr val="5E0B15"/>
                </a:solidFill>
                <a:latin typeface="Georgia"/>
                <a:cs typeface="Georgia"/>
              </a:rPr>
              <a:t>MORE CONVENIENT</a:t>
            </a:r>
            <a:r>
              <a:rPr lang="en-IN" sz="980" dirty="0">
                <a:solidFill>
                  <a:srgbClr val="8A6E10"/>
                </a:solidFill>
                <a:latin typeface="Calibri"/>
                <a:cs typeface="Calibri"/>
              </a:rPr>
              <a:t>   —   any hour, any channel</a:t>
            </a:r>
          </a:p>
        </p:txBody>
      </p:sp>
      <p:sp>
        <p:nvSpPr>
          <p:cNvPr id="44" name="Card"/>
          <p:cNvSpPr/>
          <p:nvPr/>
        </p:nvSpPr>
        <p:spPr>
          <a:xfrm>
            <a:off x="603504" y="4480560"/>
            <a:ext cx="10984992" cy="1408176"/>
          </a:xfrm>
          <a:prstGeom prst="roundRect">
            <a:avLst>
              <a:gd name="adj" fmla="val 4000"/>
            </a:avLst>
          </a:prstGeom>
          <a:gradFill flip="none" rotWithShape="1">
            <a:gsLst>
              <a:gs pos="0">
                <a:srgbClr val="5E0B15"/>
              </a:gs>
              <a:gs pos="55000">
                <a:srgbClr val="9E1B32"/>
              </a:gs>
              <a:gs pos="100000">
                <a:srgbClr val="3C060E"/>
              </a:gs>
            </a:gsLst>
            <a:lin ang="2700000" scaled="0"/>
          </a:gradFill>
          <a:ln>
            <a:noFill/>
          </a:ln>
          <a:effectLst>
            <a:outerShdw blurRad="228600" dist="63500" dir="5400000" rotWithShape="0">
              <a:srgbClr val="000000">
                <a:alpha val="9000"/>
              </a:srgbClr>
            </a:outerShdw>
          </a:effectLst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5" name="Bar"/>
          <p:cNvSpPr/>
          <p:nvPr/>
        </p:nvSpPr>
        <p:spPr>
          <a:xfrm>
            <a:off x="603504" y="4480560"/>
            <a:ext cx="54864" cy="1408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lIns="73152" tIns="36576" rIns="73152" bIns="36576" anchor="t" anchorCtr="0">
            <a:noAutofit/>
          </a:bodyPr>
          <a:lstStyle/>
          <a:p>
            <a:pPr/>
          </a:p>
        </p:txBody>
      </p:sp>
      <p:sp>
        <p:nvSpPr>
          <p:cNvPr id="46" name="TY"/>
          <p:cNvSpPr/>
          <p:nvPr/>
        </p:nvSpPr>
        <p:spPr>
          <a:xfrm>
            <a:off x="969264" y="4791456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None/>
            </a:pPr>
            <a:r>
              <a:rPr lang="en-IN" sz="3200" b="1" spc="60" dirty="0">
                <a:solidFill>
                  <a:srgbClr val="FFFFFF"/>
                </a:solidFill>
                <a:latin typeface="Georgia"/>
                <a:cs typeface="Georgia"/>
              </a:rPr>
              <a:t>THANK YOU</a:t>
            </a:r>
          </a:p>
          <a:p>
            <a:pPr algn="l">
              <a:spcBef>
                <a:spcPts val="400"/>
              </a:spcBef>
              <a:buNone/>
            </a:pPr>
            <a:r>
              <a:rPr lang="en-IN" sz="1040" dirty="0">
                <a:solidFill>
                  <a:srgbClr val="E3C567"/>
                </a:solidFill>
                <a:latin typeface="Calibri"/>
                <a:cs typeface="Calibri"/>
              </a:rPr>
              <a:t>Questions are welcome.</a:t>
            </a:r>
          </a:p>
        </p:txBody>
      </p:sp>
      <p:sp>
        <p:nvSpPr>
          <p:cNvPr id="47" name="Det"/>
          <p:cNvSpPr/>
          <p:nvPr/>
        </p:nvSpPr>
        <p:spPr>
          <a:xfrm>
            <a:off x="5023104" y="4864608"/>
            <a:ext cx="1975104" cy="64008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0160" cap="flat" cmpd="sng" algn="ctr">
            <a:solidFill>
              <a:srgbClr val="E3C567">
                <a:alpha val="45000"/>
              </a:srgbClr>
            </a:solidFill>
            <a:prstDash val="solid"/>
            <a:round/>
          </a:ln>
        </p:spPr>
        <p:txBody>
          <a:bodyPr wrap="square" lIns="164592" tIns="100584" rIns="109728" bIns="73152" anchor="t" anchorCtr="0">
            <a:noAutofit/>
          </a:bodyPr>
          <a:lstStyle/>
          <a:p>
            <a:pPr algn="l">
              <a:buNone/>
            </a:pPr>
            <a:r>
              <a:rPr lang="en-IN" sz="760" b="1" spc="150" dirty="0">
                <a:solidFill>
                  <a:srgbClr val="E3C567"/>
                </a:solidFill>
                <a:latin typeface="Calibri"/>
                <a:cs typeface="Calibri"/>
              </a:rPr>
              <a:t>PRESENTED BY</a:t>
            </a:r>
          </a:p>
          <a:p>
            <a:pPr algn="l">
              <a:spcBef>
                <a:spcPts val="300"/>
              </a:spcBef>
              <a:buNone/>
            </a:pPr>
            <a:r>
              <a:rPr lang="en-IN" sz="1120" b="1" dirty="0">
                <a:solidFill>
                  <a:srgbClr val="FFFFFF"/>
                </a:solidFill>
                <a:latin typeface="Georgia"/>
                <a:cs typeface="Georgia"/>
              </a:rPr>
              <a:t>Prahadhesvaryaa K S</a:t>
            </a:r>
          </a:p>
        </p:txBody>
      </p:sp>
      <p:sp>
        <p:nvSpPr>
          <p:cNvPr id="48" name="Det"/>
          <p:cNvSpPr/>
          <p:nvPr/>
        </p:nvSpPr>
        <p:spPr>
          <a:xfrm>
            <a:off x="7162800" y="4864608"/>
            <a:ext cx="1975104" cy="64008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0160" cap="flat" cmpd="sng" algn="ctr">
            <a:solidFill>
              <a:srgbClr val="E3C567">
                <a:alpha val="45000"/>
              </a:srgbClr>
            </a:solidFill>
            <a:prstDash val="solid"/>
            <a:round/>
          </a:ln>
        </p:spPr>
        <p:txBody>
          <a:bodyPr wrap="square" lIns="164592" tIns="100584" rIns="109728" bIns="73152" anchor="t" anchorCtr="0">
            <a:noAutofit/>
          </a:bodyPr>
          <a:lstStyle/>
          <a:p>
            <a:pPr algn="l">
              <a:buNone/>
            </a:pPr>
            <a:r>
              <a:rPr lang="en-IN" sz="760" b="1" spc="150" dirty="0">
                <a:solidFill>
                  <a:srgbClr val="E3C567"/>
                </a:solidFill>
                <a:latin typeface="Calibri"/>
                <a:cs typeface="Calibri"/>
              </a:rPr>
              <a:t>REGISTER NO</a:t>
            </a:r>
          </a:p>
          <a:p>
            <a:pPr algn="l">
              <a:spcBef>
                <a:spcPts val="300"/>
              </a:spcBef>
              <a:buNone/>
            </a:pPr>
            <a:r>
              <a:rPr lang="en-IN" sz="1120" b="1" dirty="0">
                <a:solidFill>
                  <a:srgbClr val="FFFFFF"/>
                </a:solidFill>
                <a:latin typeface="Georgia"/>
                <a:cs typeface="Georgia"/>
              </a:rPr>
              <a:t>OSI2509093</a:t>
            </a:r>
          </a:p>
        </p:txBody>
      </p:sp>
      <p:sp>
        <p:nvSpPr>
          <p:cNvPr id="49" name="Det"/>
          <p:cNvSpPr/>
          <p:nvPr/>
        </p:nvSpPr>
        <p:spPr>
          <a:xfrm>
            <a:off x="9302496" y="4864608"/>
            <a:ext cx="1975104" cy="64008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0160" cap="flat" cmpd="sng" algn="ctr">
            <a:solidFill>
              <a:srgbClr val="E3C567">
                <a:alpha val="45000"/>
              </a:srgbClr>
            </a:solidFill>
            <a:prstDash val="solid"/>
            <a:round/>
          </a:ln>
        </p:spPr>
        <p:txBody>
          <a:bodyPr wrap="square" lIns="164592" tIns="100584" rIns="109728" bIns="73152" anchor="t" anchorCtr="0">
            <a:noAutofit/>
          </a:bodyPr>
          <a:lstStyle/>
          <a:p>
            <a:pPr algn="l">
              <a:buNone/>
            </a:pPr>
            <a:r>
              <a:rPr lang="en-IN" sz="760" b="1" spc="150" dirty="0">
                <a:solidFill>
                  <a:srgbClr val="E3C567"/>
                </a:solidFill>
                <a:latin typeface="Calibri"/>
                <a:cs typeface="Calibri"/>
              </a:rPr>
              <a:t>PROGRAMME</a:t>
            </a:r>
          </a:p>
          <a:p>
            <a:pPr algn="l">
              <a:spcBef>
                <a:spcPts val="300"/>
              </a:spcBef>
              <a:buNone/>
            </a:pPr>
            <a:r>
              <a:rPr lang="en-IN" sz="1120" b="1" dirty="0">
                <a:solidFill>
                  <a:srgbClr val="FFFFFF"/>
                </a:solidFill>
                <a:latin typeface="Georgia"/>
                <a:cs typeface="Georgia"/>
              </a:rPr>
              <a:t>MBA — Finance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Company>ISSM Business School</Company>
  <Slides>6</Slides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 2 - HDFC Bank | AI-Driven Digital Banking Transformation</dc:title>
  <dc:creator>Prahadhesvaryaa K S</dc:creator>
  <cp:lastModifiedBy>Prahadhesvaryaa K S</cp:lastModifiedBy>
  <dcterms:created xsi:type="dcterms:W3CDTF">2026-08-11T09:00:00Z</dcterms:created>
  <dcterms:modified xsi:type="dcterms:W3CDTF">2026-08-11T09:00:00Z</dcterms:modified>
</cp:coreProperties>
</file>