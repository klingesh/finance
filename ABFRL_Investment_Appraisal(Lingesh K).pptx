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I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ssm_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nd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LeftGold 3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4" name="ISSM Log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868680" y="1389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150" b="1" i="0" dirty="0" spc="420" cap="all">
                <a:solidFill>
                  <a:srgbClr val="C9A227"/>
                </a:solidFill>
                <a:latin typeface="Arial"/>
                <a:cs typeface="Arial"/>
              </a:rPr>
              <a:t>CASE STUDY 2</a:t>
            </a:r>
          </a:p>
        </p:txBody>
      </p:sp>
      <p:sp>
        <p:nvSpPr>
          <p:cNvPr id="6" name="Text 6"/>
          <p:cNvSpPr/>
          <p:nvPr/>
        </p:nvSpPr>
        <p:spPr>
          <a:xfrm>
            <a:off x="868680" y="1682496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4600" b="1" i="0" dirty="0" spc="20">
                <a:solidFill>
                  <a:srgbClr val="D71920"/>
                </a:solidFill>
                <a:latin typeface="Calibri"/>
                <a:cs typeface="Calibri"/>
              </a:rPr>
              <a:t>INVESTMENT APPRAISAL</a:t>
            </a:r>
          </a:p>
        </p:txBody>
      </p:sp>
      <p:sp>
        <p:nvSpPr>
          <p:cNvPr id="7" name="Text 7"/>
          <p:cNvSpPr/>
          <p:nvPr/>
        </p:nvSpPr>
        <p:spPr>
          <a:xfrm>
            <a:off x="868680" y="2523744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1A1A1A"/>
                </a:solidFill>
                <a:latin typeface="Calibri"/>
                <a:cs typeface="Calibri"/>
              </a:rPr>
              <a:t>ADITYA BIRLA FASHION &amp; RETAIL LTD.</a:t>
            </a:r>
          </a:p>
        </p:txBody>
      </p:sp>
      <p:sp>
        <p:nvSpPr>
          <p:cNvPr id="8" name="GoldRule 8"/>
          <p:cNvSpPr/>
          <p:nvPr/>
        </p:nvSpPr>
        <p:spPr>
          <a:xfrm>
            <a:off x="868680" y="3182112"/>
            <a:ext cx="155448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868680" y="34015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250" b="1" i="0" dirty="0" spc="140">
                <a:solidFill>
                  <a:srgbClr val="3A3A3A"/>
                </a:solidFill>
                <a:latin typeface="Arial"/>
                <a:cs typeface="Arial"/>
              </a:rPr>
              <a:t>NPV   •   IRR   •   PAYBACK PERIOD   •   STRATEGIC RISK</a:t>
            </a:r>
          </a:p>
        </p:txBody>
      </p:sp>
      <p:sp>
        <p:nvSpPr>
          <p:cNvPr id="10" name="PresBar 10"/>
          <p:cNvSpPr/>
          <p:nvPr/>
        </p:nvSpPr>
        <p:spPr>
          <a:xfrm>
            <a:off x="868680" y="4389120"/>
            <a:ext cx="41148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1060704" y="438912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260">
                <a:solidFill>
                  <a:srgbClr val="C9A227"/>
                </a:solidFill>
                <a:latin typeface="Arial"/>
                <a:cs typeface="Arial"/>
              </a:rPr>
              <a:t>PRESENTED BY</a:t>
            </a:r>
          </a:p>
          <a:p>
            <a:pPr algn="l"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2200" b="1" i="0" dirty="0">
                <a:solidFill>
                  <a:srgbClr val="1A1A1A"/>
                </a:solidFill>
                <a:latin typeface="Calibri"/>
                <a:cs typeface="Calibri"/>
              </a:rPr>
              <a:t>Lingesh K</a:t>
            </a:r>
          </a:p>
          <a:p>
            <a:pPr algn="l"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250" b="0" i="0" dirty="0">
                <a:solidFill>
                  <a:srgbClr val="6E6E6E"/>
                </a:solidFill>
                <a:latin typeface="Calibri"/>
                <a:cs typeface="Calibri"/>
              </a:rPr>
              <a:t>Register No. OSI2509030</a:t>
            </a:r>
          </a:p>
          <a:p>
            <a:pPr algn="l">
              <a:lnSpc>
                <a:spcPct val="100000"/>
              </a:lnSpc>
              <a:spcBef>
                <a:spcPts val="60"/>
              </a:spcBef>
              <a:buNone/>
            </a:pPr>
            <a:r>
              <a:rPr lang="en-IN" sz="1250" b="0" i="0" dirty="0">
                <a:solidFill>
                  <a:srgbClr val="6E6E6E"/>
                </a:solidFill>
                <a:latin typeface="Calibri"/>
                <a:cs typeface="Calibri"/>
              </a:rPr>
              <a:t>MBA Finance</a:t>
            </a:r>
          </a:p>
        </p:txBody>
      </p:sp>
      <p:sp>
        <p:nvSpPr>
          <p:cNvPr id="12" name="Chip 12"/>
          <p:cNvSpPr/>
          <p:nvPr/>
        </p:nvSpPr>
        <p:spPr>
          <a:xfrm>
            <a:off x="8732520" y="1828800"/>
            <a:ext cx="28163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ChipAccent 13"/>
          <p:cNvSpPr/>
          <p:nvPr/>
        </p:nvSpPr>
        <p:spPr>
          <a:xfrm>
            <a:off x="8732520" y="1828800"/>
            <a:ext cx="4572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8942832" y="194767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D71920"/>
                </a:solidFill>
                <a:latin typeface="Calibri"/>
                <a:cs typeface="Calibri"/>
              </a:rPr>
              <a:t>₹1,200 Cr</a:t>
            </a:r>
          </a:p>
        </p:txBody>
      </p:sp>
      <p:sp>
        <p:nvSpPr>
          <p:cNvPr id="15" name="Text 15"/>
          <p:cNvSpPr/>
          <p:nvPr/>
        </p:nvSpPr>
        <p:spPr>
          <a:xfrm>
            <a:off x="8942832" y="23774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180" cap="all">
                <a:solidFill>
                  <a:srgbClr val="6E6E6E"/>
                </a:solidFill>
                <a:latin typeface="Arial"/>
                <a:cs typeface="Arial"/>
              </a:rPr>
              <a:t>Initial Investment</a:t>
            </a:r>
          </a:p>
        </p:txBody>
      </p:sp>
      <p:sp>
        <p:nvSpPr>
          <p:cNvPr id="16" name="Chip 16"/>
          <p:cNvSpPr/>
          <p:nvPr/>
        </p:nvSpPr>
        <p:spPr>
          <a:xfrm>
            <a:off x="8732520" y="2880360"/>
            <a:ext cx="28163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ChipAccent 17"/>
          <p:cNvSpPr/>
          <p:nvPr/>
        </p:nvSpPr>
        <p:spPr>
          <a:xfrm>
            <a:off x="8732520" y="2880360"/>
            <a:ext cx="4572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8942832" y="299923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1A1A1A"/>
                </a:solidFill>
                <a:latin typeface="Calibri"/>
                <a:cs typeface="Calibri"/>
              </a:rPr>
              <a:t>11%</a:t>
            </a:r>
          </a:p>
        </p:txBody>
      </p:sp>
      <p:sp>
        <p:nvSpPr>
          <p:cNvPr id="19" name="Text 19"/>
          <p:cNvSpPr/>
          <p:nvPr/>
        </p:nvSpPr>
        <p:spPr>
          <a:xfrm>
            <a:off x="8942832" y="34290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180" cap="all">
                <a:solidFill>
                  <a:srgbClr val="6E6E6E"/>
                </a:solidFill>
                <a:latin typeface="Arial"/>
                <a:cs typeface="Arial"/>
              </a:rPr>
              <a:t>Cost of Capital</a:t>
            </a:r>
          </a:p>
        </p:txBody>
      </p:sp>
      <p:sp>
        <p:nvSpPr>
          <p:cNvPr id="20" name="Chip 20"/>
          <p:cNvSpPr/>
          <p:nvPr/>
        </p:nvSpPr>
        <p:spPr>
          <a:xfrm>
            <a:off x="8732520" y="3931920"/>
            <a:ext cx="28163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ChipAccent 21"/>
          <p:cNvSpPr/>
          <p:nvPr/>
        </p:nvSpPr>
        <p:spPr>
          <a:xfrm>
            <a:off x="8732520" y="3931920"/>
            <a:ext cx="4572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8942832" y="4050792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1A1A1A"/>
                </a:solidFill>
                <a:latin typeface="Calibri"/>
                <a:cs typeface="Calibri"/>
              </a:rPr>
              <a:t>5 Years</a:t>
            </a:r>
          </a:p>
        </p:txBody>
      </p:sp>
      <p:sp>
        <p:nvSpPr>
          <p:cNvPr id="23" name="Text 23"/>
          <p:cNvSpPr/>
          <p:nvPr/>
        </p:nvSpPr>
        <p:spPr>
          <a:xfrm>
            <a:off x="8942832" y="44805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180" cap="all">
                <a:solidFill>
                  <a:srgbClr val="6E6E6E"/>
                </a:solidFill>
                <a:latin typeface="Arial"/>
                <a:cs typeface="Arial"/>
              </a:rPr>
              <a:t>Project Life</a:t>
            </a:r>
          </a:p>
        </p:txBody>
      </p:sp>
      <p:sp>
        <p:nvSpPr>
          <p:cNvPr id="24" name="BotRule 24"/>
          <p:cNvSpPr/>
          <p:nvPr/>
        </p:nvSpPr>
        <p:spPr>
          <a:xfrm>
            <a:off x="0" y="6780276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Case Overview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The Investment Decision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250" b="0" i="0" dirty="0">
                <a:solidFill>
                  <a:srgbClr val="6E6E6E"/>
                </a:solidFill>
                <a:latin typeface="Calibri"/>
                <a:cs typeface="Calibri"/>
              </a:rPr>
              <a:t>ABFRL is considering an investment of</a:t>
            </a:r>
          </a:p>
        </p:txBody>
      </p:sp>
      <p:sp>
        <p:nvSpPr>
          <p:cNvPr id="8" name="BigNumber 8"/>
          <p:cNvSpPr/>
          <p:nvPr/>
        </p:nvSpPr>
        <p:spPr>
          <a:xfrm>
            <a:off x="640080" y="2084832"/>
            <a:ext cx="4206240" cy="160020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640080" y="2304288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4000" b="1" i="0" dirty="0">
                <a:solidFill>
                  <a:srgbClr val="FFFFFF"/>
                </a:solidFill>
                <a:latin typeface="Calibri"/>
                <a:cs typeface="Calibri"/>
              </a:rPr>
              <a:t>₹1,200 Crore</a:t>
            </a:r>
          </a:p>
        </p:txBody>
      </p:sp>
      <p:sp>
        <p:nvSpPr>
          <p:cNvPr id="10" name="Text 10"/>
          <p:cNvSpPr/>
          <p:nvPr/>
        </p:nvSpPr>
        <p:spPr>
          <a:xfrm>
            <a:off x="640080" y="31089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50" b="1" i="0" dirty="0" spc="260">
                <a:solidFill>
                  <a:srgbClr val="E7D89A"/>
                </a:solidFill>
                <a:latin typeface="Arial"/>
                <a:cs typeface="Arial"/>
              </a:rPr>
              <a:t>TOTAL PROPOSED INVESTMENT</a:t>
            </a:r>
          </a:p>
        </p:txBody>
      </p:sp>
      <p:sp>
        <p:nvSpPr>
          <p:cNvPr id="11" name="Objective 11"/>
          <p:cNvSpPr/>
          <p:nvPr/>
        </p:nvSpPr>
        <p:spPr>
          <a:xfrm>
            <a:off x="640080" y="3858768"/>
            <a:ext cx="4206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Accent 12"/>
          <p:cNvSpPr/>
          <p:nvPr/>
        </p:nvSpPr>
        <p:spPr>
          <a:xfrm>
            <a:off x="640080" y="3858768"/>
            <a:ext cx="45720" cy="2148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896112" y="405993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240">
                <a:solidFill>
                  <a:srgbClr val="C9A227"/>
                </a:solidFill>
                <a:latin typeface="Arial"/>
                <a:cs typeface="Arial"/>
              </a:rPr>
              <a:t>OBJECTIVE</a:t>
            </a:r>
          </a:p>
        </p:txBody>
      </p:sp>
      <p:sp>
        <p:nvSpPr>
          <p:cNvPr id="14" name="Text 14"/>
          <p:cNvSpPr/>
          <p:nvPr/>
        </p:nvSpPr>
        <p:spPr>
          <a:xfrm>
            <a:off x="896112" y="438912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</a:pPr>
            <a:r>
              <a:rPr lang="en-IN" sz="1450" b="0" i="0" dirty="0">
                <a:solidFill>
                  <a:srgbClr val="3A3A3A"/>
                </a:solidFill>
                <a:latin typeface="Calibri"/>
                <a:cs typeface="Calibri"/>
              </a:rPr>
              <a:t>To establish a new integrated manufacturing facility to support growing demand for its premium apparel brands.</a:t>
            </a:r>
          </a:p>
        </p:txBody>
      </p:sp>
      <p:sp>
        <p:nvSpPr>
          <p:cNvPr id="15" name="Param 15"/>
          <p:cNvSpPr/>
          <p:nvPr/>
        </p:nvSpPr>
        <p:spPr>
          <a:xfrm>
            <a:off x="5074920" y="1783080"/>
            <a:ext cx="64739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ParamAccent 16"/>
          <p:cNvSpPr/>
          <p:nvPr/>
        </p:nvSpPr>
        <p:spPr>
          <a:xfrm>
            <a:off x="5074920" y="1783080"/>
            <a:ext cx="45720" cy="12984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5303520" y="1947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220" cap="all">
                <a:solidFill>
                  <a:srgbClr val="6E6E6E"/>
                </a:solidFill>
                <a:latin typeface="Arial"/>
                <a:cs typeface="Arial"/>
              </a:rPr>
              <a:t>Project Life</a:t>
            </a:r>
          </a:p>
        </p:txBody>
      </p:sp>
      <p:sp>
        <p:nvSpPr>
          <p:cNvPr id="18" name="Text 18"/>
          <p:cNvSpPr/>
          <p:nvPr/>
        </p:nvSpPr>
        <p:spPr>
          <a:xfrm>
            <a:off x="5303520" y="22402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1A1A1A"/>
                </a:solidFill>
                <a:latin typeface="Calibri"/>
                <a:cs typeface="Calibri"/>
              </a:rPr>
              <a:t>5 Years</a:t>
            </a:r>
          </a:p>
        </p:txBody>
      </p:sp>
      <p:sp>
        <p:nvSpPr>
          <p:cNvPr id="19" name="Text 19"/>
          <p:cNvSpPr/>
          <p:nvPr/>
        </p:nvSpPr>
        <p:spPr>
          <a:xfrm>
            <a:off x="8549640" y="2167128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100" b="0" i="0" dirty="0">
                <a:solidFill>
                  <a:srgbClr val="6E6E6E"/>
                </a:solidFill>
                <a:latin typeface="Calibri"/>
                <a:cs typeface="Calibri"/>
              </a:rPr>
              <a:t>Duration over which cash flows are appraised</a:t>
            </a:r>
          </a:p>
        </p:txBody>
      </p:sp>
      <p:sp>
        <p:nvSpPr>
          <p:cNvPr id="20" name="Param 20"/>
          <p:cNvSpPr/>
          <p:nvPr/>
        </p:nvSpPr>
        <p:spPr>
          <a:xfrm>
            <a:off x="5074920" y="3200400"/>
            <a:ext cx="64739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ParamAccent 21"/>
          <p:cNvSpPr/>
          <p:nvPr/>
        </p:nvSpPr>
        <p:spPr>
          <a:xfrm>
            <a:off x="5074920" y="3200400"/>
            <a:ext cx="45720" cy="12984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5303520" y="33649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220" cap="all">
                <a:solidFill>
                  <a:srgbClr val="6E6E6E"/>
                </a:solidFill>
                <a:latin typeface="Arial"/>
                <a:cs typeface="Arial"/>
              </a:rPr>
              <a:t>Cost of Capital</a:t>
            </a:r>
          </a:p>
        </p:txBody>
      </p:sp>
      <p:sp>
        <p:nvSpPr>
          <p:cNvPr id="23" name="Text 23"/>
          <p:cNvSpPr/>
          <p:nvPr/>
        </p:nvSpPr>
        <p:spPr>
          <a:xfrm>
            <a:off x="5303520" y="36576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D71920"/>
                </a:solidFill>
                <a:latin typeface="Calibri"/>
                <a:cs typeface="Calibri"/>
              </a:rPr>
              <a:t>11%</a:t>
            </a:r>
          </a:p>
        </p:txBody>
      </p:sp>
      <p:sp>
        <p:nvSpPr>
          <p:cNvPr id="24" name="Text 24"/>
          <p:cNvSpPr/>
          <p:nvPr/>
        </p:nvSpPr>
        <p:spPr>
          <a:xfrm>
            <a:off x="8549640" y="3584448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100" b="0" i="0" dirty="0">
                <a:solidFill>
                  <a:srgbClr val="6E6E6E"/>
                </a:solidFill>
                <a:latin typeface="Calibri"/>
                <a:cs typeface="Calibri"/>
              </a:rPr>
              <a:t>Required rate of return used for discounting</a:t>
            </a:r>
          </a:p>
        </p:txBody>
      </p:sp>
      <p:sp>
        <p:nvSpPr>
          <p:cNvPr id="25" name="Param 25"/>
          <p:cNvSpPr/>
          <p:nvPr/>
        </p:nvSpPr>
        <p:spPr>
          <a:xfrm>
            <a:off x="5074920" y="4617720"/>
            <a:ext cx="647395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ParamAccent 26"/>
          <p:cNvSpPr/>
          <p:nvPr/>
        </p:nvSpPr>
        <p:spPr>
          <a:xfrm>
            <a:off x="5074920" y="4617720"/>
            <a:ext cx="45720" cy="12984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7"/>
          <p:cNvSpPr/>
          <p:nvPr/>
        </p:nvSpPr>
        <p:spPr>
          <a:xfrm>
            <a:off x="5303520" y="47823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220" cap="all">
                <a:solidFill>
                  <a:srgbClr val="6E6E6E"/>
                </a:solidFill>
                <a:latin typeface="Arial"/>
                <a:cs typeface="Arial"/>
              </a:rPr>
              <a:t>Salvage Value</a:t>
            </a:r>
          </a:p>
        </p:txBody>
      </p:sp>
      <p:sp>
        <p:nvSpPr>
          <p:cNvPr id="28" name="Text 28"/>
          <p:cNvSpPr/>
          <p:nvPr/>
        </p:nvSpPr>
        <p:spPr>
          <a:xfrm>
            <a:off x="5303520" y="50749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1A1A1A"/>
                </a:solidFill>
                <a:latin typeface="Calibri"/>
                <a:cs typeface="Calibri"/>
              </a:rPr>
              <a:t>₹150 Crore</a:t>
            </a:r>
          </a:p>
        </p:txBody>
      </p:sp>
      <p:sp>
        <p:nvSpPr>
          <p:cNvPr id="29" name="Text 29"/>
          <p:cNvSpPr/>
          <p:nvPr/>
        </p:nvSpPr>
        <p:spPr>
          <a:xfrm>
            <a:off x="8549640" y="5001768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100" b="0" i="0" dirty="0">
                <a:solidFill>
                  <a:srgbClr val="6E6E6E"/>
                </a:solidFill>
                <a:latin typeface="Calibri"/>
                <a:cs typeface="Calibri"/>
              </a:rPr>
              <a:t>Realised at the end of Year 5</a:t>
            </a:r>
          </a:p>
        </p:txBody>
      </p:sp>
      <p:sp>
        <p:nvSpPr>
          <p:cNvPr id="30" name="FooterL 3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31" name="FooterR 31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Project Cash Flows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Expected After-Tax Cash Inflows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InitInv 7"/>
          <p:cNvSpPr/>
          <p:nvPr/>
        </p:nvSpPr>
        <p:spPr>
          <a:xfrm>
            <a:off x="640080" y="1828800"/>
            <a:ext cx="3200400" cy="82296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8"/>
          <p:cNvSpPr/>
          <p:nvPr/>
        </p:nvSpPr>
        <p:spPr>
          <a:xfrm>
            <a:off x="841248" y="195681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1" i="0" dirty="0" spc="240">
                <a:solidFill>
                  <a:srgbClr val="E7D89A"/>
                </a:solidFill>
                <a:latin typeface="Arial"/>
                <a:cs typeface="Arial"/>
              </a:rPr>
              <a:t>INITIAL INVESTMENT</a:t>
            </a:r>
          </a:p>
        </p:txBody>
      </p:sp>
      <p:sp>
        <p:nvSpPr>
          <p:cNvPr id="9" name="Text 9"/>
          <p:cNvSpPr/>
          <p:nvPr/>
        </p:nvSpPr>
        <p:spPr>
          <a:xfrm>
            <a:off x="841248" y="219456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FFFFFF"/>
                </a:solidFill>
                <a:latin typeface="Calibri"/>
                <a:cs typeface="Calibri"/>
              </a:rPr>
              <a:t>₹1,200 Cr  (outflow)</a:t>
            </a:r>
          </a:p>
        </p:txBody>
      </p:sp>
      <p:sp>
        <p:nvSpPr>
          <p:cNvPr id="10" name="Yr5Note 10"/>
          <p:cNvSpPr/>
          <p:nvPr/>
        </p:nvSpPr>
        <p:spPr>
          <a:xfrm>
            <a:off x="7772400" y="1828800"/>
            <a:ext cx="3776472" cy="822960"/>
          </a:xfrm>
          <a:prstGeom prst="rect">
            <a:avLst/>
          </a:prstGeom>
          <a:solidFill>
            <a:srgbClr val="FCF5E2"/>
          </a:solidFill>
          <a:ln w="12700">
            <a:solidFill>
              <a:srgbClr val="E7D89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Yr5Accent 11"/>
          <p:cNvSpPr/>
          <p:nvPr/>
        </p:nvSpPr>
        <p:spPr>
          <a:xfrm>
            <a:off x="7772400" y="1828800"/>
            <a:ext cx="45720" cy="822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7973568" y="195681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1" i="0" dirty="0" spc="200">
                <a:solidFill>
                  <a:srgbClr val="C9A227"/>
                </a:solidFill>
                <a:latin typeface="Arial"/>
                <a:cs typeface="Arial"/>
              </a:rPr>
              <a:t>YEAR 5 TOTAL CASH FLOW</a:t>
            </a:r>
          </a:p>
        </p:txBody>
      </p:sp>
      <p:sp>
        <p:nvSpPr>
          <p:cNvPr id="13" name="Text 13"/>
          <p:cNvSpPr/>
          <p:nvPr/>
        </p:nvSpPr>
        <p:spPr>
          <a:xfrm>
            <a:off x="7973568" y="219456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500" b="0" i="0" dirty="0">
                <a:solidFill>
                  <a:srgbClr val="3A3A3A"/>
                </a:solidFill>
                <a:latin typeface="Calibri"/>
                <a:cs typeface="Calibri"/>
              </a:rPr>
              <a:t>₹380 Cr + ₹150 Cr = </a:t>
            </a: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₹530 Cr</a:t>
            </a:r>
          </a:p>
        </p:txBody>
      </p:sp>
      <p:sp>
        <p:nvSpPr>
          <p:cNvPr id="14" name="Bar 14"/>
          <p:cNvSpPr/>
          <p:nvPr/>
        </p:nvSpPr>
        <p:spPr>
          <a:xfrm>
            <a:off x="1901952" y="4526280"/>
            <a:ext cx="1371600" cy="100584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1673352" y="419709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₹220 Cr</a:t>
            </a:r>
          </a:p>
        </p:txBody>
      </p:sp>
      <p:sp>
        <p:nvSpPr>
          <p:cNvPr id="16" name="Text 16"/>
          <p:cNvSpPr/>
          <p:nvPr/>
        </p:nvSpPr>
        <p:spPr>
          <a:xfrm>
            <a:off x="1901952" y="56052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180">
                <a:solidFill>
                  <a:srgbClr val="3A3A3A"/>
                </a:solidFill>
                <a:latin typeface="Arial"/>
                <a:cs typeface="Arial"/>
              </a:rPr>
              <a:t>YEAR 1</a:t>
            </a:r>
          </a:p>
        </p:txBody>
      </p:sp>
      <p:sp>
        <p:nvSpPr>
          <p:cNvPr id="17" name="Bar 17"/>
          <p:cNvSpPr/>
          <p:nvPr/>
        </p:nvSpPr>
        <p:spPr>
          <a:xfrm>
            <a:off x="3657600" y="4343400"/>
            <a:ext cx="1371600" cy="1188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3429000" y="401421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₹260 Cr</a:t>
            </a:r>
          </a:p>
        </p:txBody>
      </p:sp>
      <p:sp>
        <p:nvSpPr>
          <p:cNvPr id="19" name="Text 19"/>
          <p:cNvSpPr/>
          <p:nvPr/>
        </p:nvSpPr>
        <p:spPr>
          <a:xfrm>
            <a:off x="3657600" y="56052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180">
                <a:solidFill>
                  <a:srgbClr val="3A3A3A"/>
                </a:solidFill>
                <a:latin typeface="Arial"/>
                <a:cs typeface="Arial"/>
              </a:rPr>
              <a:t>YEAR 2</a:t>
            </a:r>
          </a:p>
        </p:txBody>
      </p:sp>
      <p:sp>
        <p:nvSpPr>
          <p:cNvPr id="20" name="Bar 20"/>
          <p:cNvSpPr/>
          <p:nvPr/>
        </p:nvSpPr>
        <p:spPr>
          <a:xfrm>
            <a:off x="5413248" y="4160520"/>
            <a:ext cx="1371600" cy="13716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5184648" y="383133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₹300 Cr</a:t>
            </a:r>
          </a:p>
        </p:txBody>
      </p:sp>
      <p:sp>
        <p:nvSpPr>
          <p:cNvPr id="22" name="Text 22"/>
          <p:cNvSpPr/>
          <p:nvPr/>
        </p:nvSpPr>
        <p:spPr>
          <a:xfrm>
            <a:off x="5413248" y="56052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180">
                <a:solidFill>
                  <a:srgbClr val="3A3A3A"/>
                </a:solidFill>
                <a:latin typeface="Arial"/>
                <a:cs typeface="Arial"/>
              </a:rPr>
              <a:t>YEAR 3</a:t>
            </a:r>
          </a:p>
        </p:txBody>
      </p:sp>
      <p:sp>
        <p:nvSpPr>
          <p:cNvPr id="23" name="Bar 23"/>
          <p:cNvSpPr/>
          <p:nvPr/>
        </p:nvSpPr>
        <p:spPr>
          <a:xfrm>
            <a:off x="7168896" y="3977640"/>
            <a:ext cx="1371600" cy="15544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6940296" y="364845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₹340 Cr</a:t>
            </a:r>
          </a:p>
        </p:txBody>
      </p:sp>
      <p:sp>
        <p:nvSpPr>
          <p:cNvPr id="25" name="Text 25"/>
          <p:cNvSpPr/>
          <p:nvPr/>
        </p:nvSpPr>
        <p:spPr>
          <a:xfrm>
            <a:off x="7168896" y="56052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180">
                <a:solidFill>
                  <a:srgbClr val="3A3A3A"/>
                </a:solidFill>
                <a:latin typeface="Arial"/>
                <a:cs typeface="Arial"/>
              </a:rPr>
              <a:t>YEAR 4</a:t>
            </a:r>
          </a:p>
        </p:txBody>
      </p:sp>
      <p:sp>
        <p:nvSpPr>
          <p:cNvPr id="26" name="Bar 26"/>
          <p:cNvSpPr/>
          <p:nvPr/>
        </p:nvSpPr>
        <p:spPr>
          <a:xfrm>
            <a:off x="8924544" y="3794760"/>
            <a:ext cx="1371600" cy="1737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Salvage 27"/>
          <p:cNvSpPr/>
          <p:nvPr/>
        </p:nvSpPr>
        <p:spPr>
          <a:xfrm>
            <a:off x="8924544" y="3108960"/>
            <a:ext cx="1371600" cy="685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8924544" y="310896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850" b="1" i="0" dirty="0" spc="140">
                <a:solidFill>
                  <a:srgbClr val="FFFFFF"/>
                </a:solidFill>
                <a:latin typeface="Arial"/>
                <a:cs typeface="Arial"/>
              </a:rPr>
              <a:t>SALVAGE</a:t>
            </a:r>
          </a:p>
          <a:p>
            <a:pPr algn="ctr">
              <a:lnSpc>
                <a:spcPct val="100000"/>
              </a:lnSpc>
              <a:spcBef>
                <a:spcPts val="30"/>
              </a:spcBef>
              <a:buNone/>
            </a:pPr>
            <a:r>
              <a:rPr lang="en-IN" sz="1100" b="1" i="0" dirty="0">
                <a:solidFill>
                  <a:srgbClr val="FFFFFF"/>
                </a:solidFill>
                <a:latin typeface="Calibri"/>
                <a:cs typeface="Calibri"/>
              </a:rPr>
              <a:t>₹150 Cr</a:t>
            </a:r>
          </a:p>
        </p:txBody>
      </p:sp>
      <p:sp>
        <p:nvSpPr>
          <p:cNvPr id="29" name="Text 29"/>
          <p:cNvSpPr/>
          <p:nvPr/>
        </p:nvSpPr>
        <p:spPr>
          <a:xfrm>
            <a:off x="8924544" y="394106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100" b="1" i="0" dirty="0">
                <a:solidFill>
                  <a:srgbClr val="FFFFFF"/>
                </a:solidFill>
                <a:latin typeface="Calibri"/>
                <a:cs typeface="Calibri"/>
              </a:rPr>
              <a:t>₹380 Cr</a:t>
            </a:r>
          </a:p>
        </p:txBody>
      </p:sp>
      <p:sp>
        <p:nvSpPr>
          <p:cNvPr id="30" name="Text 30"/>
          <p:cNvSpPr/>
          <p:nvPr/>
        </p:nvSpPr>
        <p:spPr>
          <a:xfrm>
            <a:off x="8695944" y="2779776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D71920"/>
                </a:solidFill>
                <a:latin typeface="Calibri"/>
                <a:cs typeface="Calibri"/>
              </a:rPr>
              <a:t>₹530 Cr</a:t>
            </a:r>
          </a:p>
        </p:txBody>
      </p:sp>
      <p:sp>
        <p:nvSpPr>
          <p:cNvPr id="31" name="Text 31"/>
          <p:cNvSpPr/>
          <p:nvPr/>
        </p:nvSpPr>
        <p:spPr>
          <a:xfrm>
            <a:off x="8924544" y="56052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180">
                <a:solidFill>
                  <a:srgbClr val="3A3A3A"/>
                </a:solidFill>
                <a:latin typeface="Arial"/>
                <a:cs typeface="Arial"/>
              </a:rPr>
              <a:t>YEAR 5</a:t>
            </a:r>
          </a:p>
        </p:txBody>
      </p:sp>
      <p:sp>
        <p:nvSpPr>
          <p:cNvPr id="32" name="Baseline 32"/>
          <p:cNvSpPr/>
          <p:nvPr/>
        </p:nvSpPr>
        <p:spPr>
          <a:xfrm>
            <a:off x="1463040" y="5532120"/>
            <a:ext cx="9509760" cy="1280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GrowthArrow 33"/>
          <p:cNvSpPr/>
          <p:nvPr/>
        </p:nvSpPr>
        <p:spPr>
          <a:xfrm>
            <a:off x="1901952" y="5925312"/>
            <a:ext cx="8394192" cy="274320"/>
          </a:xfrm>
          <a:prstGeom prst="rightArrow">
            <a:avLst>
              <a:gd name="adj1" fmla="val 45000"/>
              <a:gd name="adj2" fmla="val 62000"/>
            </a:avLst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4"/>
          <p:cNvSpPr/>
          <p:nvPr/>
        </p:nvSpPr>
        <p:spPr>
          <a:xfrm>
            <a:off x="1901952" y="5925312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160">
                <a:solidFill>
                  <a:srgbClr val="9E1319"/>
                </a:solidFill>
                <a:latin typeface="Arial"/>
                <a:cs typeface="Arial"/>
              </a:rPr>
              <a:t>CASH INFLOWS GROW STEADILY FROM YEAR 1 TO YEAR 5</a:t>
            </a:r>
          </a:p>
        </p:txBody>
      </p:sp>
      <p:sp>
        <p:nvSpPr>
          <p:cNvPr id="35" name="FooterL 35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36" name="FooterR 36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NPV Analysis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Net Present Value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Formula 7"/>
          <p:cNvSpPr/>
          <p:nvPr/>
        </p:nvSpPr>
        <p:spPr>
          <a:xfrm>
            <a:off x="640080" y="1783080"/>
            <a:ext cx="10911810" cy="566928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BandAccent 8"/>
          <p:cNvSpPr/>
          <p:nvPr/>
        </p:nvSpPr>
        <p:spPr>
          <a:xfrm>
            <a:off x="640080" y="1783080"/>
            <a:ext cx="50292" cy="5669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640080" y="1783080"/>
            <a:ext cx="1091181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500" b="1" i="0" dirty="0">
                <a:solidFill>
                  <a:srgbClr val="C9A227"/>
                </a:solidFill>
                <a:latin typeface="Calibri"/>
                <a:cs typeface="Calibri"/>
              </a:rPr>
              <a:t>NPV  =  </a:t>
            </a:r>
            <a:r>
              <a:rPr lang="en-IN" sz="1500" b="0" i="0" dirty="0">
                <a:solidFill>
                  <a:srgbClr val="1A1A1A"/>
                </a:solidFill>
                <a:latin typeface="Calibri"/>
                <a:cs typeface="Calibri"/>
              </a:rPr>
              <a:t>Present Value of Future Cash Flows</a:t>
            </a:r>
            <a:r>
              <a:rPr lang="en-IN" sz="1500" b="1" i="0" dirty="0">
                <a:solidFill>
                  <a:srgbClr val="C9A227"/>
                </a:solidFill>
                <a:latin typeface="Calibri"/>
                <a:cs typeface="Calibri"/>
              </a:rPr>
              <a:t>  −  </a:t>
            </a:r>
            <a:r>
              <a:rPr lang="en-IN" sz="1500" b="0" i="0" dirty="0">
                <a:solidFill>
                  <a:srgbClr val="1A1A1A"/>
                </a:solidFill>
                <a:latin typeface="Calibri"/>
                <a:cs typeface="Calibri"/>
              </a:rPr>
              <a:t>Initial Investment</a:t>
            </a:r>
          </a:p>
        </p:txBody>
      </p:sp>
      <p:graphicFrame>
        <p:nvGraphicFramePr>
          <p:cNvPr id="10" name="PV Table 10"/>
          <p:cNvGraphicFramePr>
            <a:graphicFrameLocks noGrp="1"/>
          </p:cNvGraphicFramePr>
          <p:nvPr/>
        </p:nvGraphicFramePr>
        <p:xfrm>
          <a:off x="640080" y="2606040"/>
          <a:ext cx="5852160" cy="288950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71600"/>
                <a:gridCol w="2194560"/>
                <a:gridCol w="2286000"/>
              </a:tblGrid>
              <a:tr h="420624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CASH FLOW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PV @ 11%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1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₹220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₹198.20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2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₹260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₹211.02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3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₹300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₹219.36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4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₹340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₹223.97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5</a:t>
                      </a:r>
                      <a:r>
                        <a:rPr lang="en-IN" sz="1000" b="0" i="0" dirty="0">
                          <a:solidFill>
                            <a:srgbClr val="C9A227"/>
                          </a:solidFill>
                          <a:latin typeface="Calibri"/>
                          <a:cs typeface="Calibri"/>
                        </a:rPr>
                        <a:t>  (incl. salvage)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₹530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₹314.53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</a:tr>
              <a:tr h="45720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100" b="1" i="0" dirty="0" spc="1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 PRESENT VALUE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25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400" b="1" i="0" dirty="0">
                          <a:solidFill>
                            <a:srgbClr val="E7D89A"/>
                          </a:solidFill>
                          <a:latin typeface="Calibri"/>
                          <a:cs typeface="Calibri"/>
                        </a:rPr>
                        <a:t>₹1,167.08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1" name="NPVCard 11"/>
          <p:cNvSpPr/>
          <p:nvPr/>
        </p:nvSpPr>
        <p:spPr>
          <a:xfrm>
            <a:off x="6766560" y="2606040"/>
            <a:ext cx="4785330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NPVHead 12"/>
          <p:cNvSpPr/>
          <p:nvPr/>
        </p:nvSpPr>
        <p:spPr>
          <a:xfrm>
            <a:off x="6766560" y="2606040"/>
            <a:ext cx="4785330" cy="402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6766560" y="2606040"/>
            <a:ext cx="478533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280">
                <a:solidFill>
                  <a:srgbClr val="FFFFFF"/>
                </a:solidFill>
                <a:latin typeface="Arial"/>
                <a:cs typeface="Arial"/>
              </a:rPr>
              <a:t>NET PRESENT VALUE</a:t>
            </a:r>
          </a:p>
        </p:txBody>
      </p:sp>
      <p:sp>
        <p:nvSpPr>
          <p:cNvPr id="14" name="Text 14"/>
          <p:cNvSpPr/>
          <p:nvPr/>
        </p:nvSpPr>
        <p:spPr>
          <a:xfrm>
            <a:off x="6766560" y="3118104"/>
            <a:ext cx="478533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250" b="1" i="0" dirty="0">
                <a:solidFill>
                  <a:srgbClr val="3A3A3A"/>
                </a:solidFill>
                <a:latin typeface="Calibri"/>
                <a:cs typeface="Calibri"/>
              </a:rPr>
              <a:t>₹1,167.08 Cr</a:t>
            </a:r>
            <a:r>
              <a:rPr lang="en-IN" sz="1250" b="0" i="0" dirty="0">
                <a:solidFill>
                  <a:srgbClr val="6E6E6E"/>
                </a:solidFill>
                <a:latin typeface="Calibri"/>
                <a:cs typeface="Calibri"/>
              </a:rPr>
              <a:t>  −  </a:t>
            </a:r>
            <a:r>
              <a:rPr lang="en-IN" sz="1250" b="1" i="0" dirty="0">
                <a:solidFill>
                  <a:srgbClr val="3A3A3A"/>
                </a:solidFill>
                <a:latin typeface="Calibri"/>
                <a:cs typeface="Calibri"/>
              </a:rPr>
              <a:t>₹1,200.00 Cr</a:t>
            </a:r>
          </a:p>
        </p:txBody>
      </p:sp>
      <p:sp>
        <p:nvSpPr>
          <p:cNvPr id="15" name="Text 15"/>
          <p:cNvSpPr/>
          <p:nvPr/>
        </p:nvSpPr>
        <p:spPr>
          <a:xfrm>
            <a:off x="6766560" y="3447288"/>
            <a:ext cx="478533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4000" b="1" i="0" dirty="0">
                <a:solidFill>
                  <a:srgbClr val="D71920"/>
                </a:solidFill>
                <a:latin typeface="Calibri"/>
                <a:cs typeface="Calibri"/>
              </a:rPr>
              <a:t>− ₹32.92 Cr</a:t>
            </a:r>
          </a:p>
        </p:txBody>
      </p:sp>
      <p:sp>
        <p:nvSpPr>
          <p:cNvPr id="16" name="Div 16"/>
          <p:cNvSpPr/>
          <p:nvPr/>
        </p:nvSpPr>
        <p:spPr>
          <a:xfrm>
            <a:off x="7269480" y="4306824"/>
            <a:ext cx="3779490" cy="1097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Verdict 17"/>
          <p:cNvSpPr/>
          <p:nvPr/>
        </p:nvSpPr>
        <p:spPr>
          <a:xfrm>
            <a:off x="7150608" y="4453128"/>
            <a:ext cx="4017234" cy="402336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7150608" y="4453128"/>
            <a:ext cx="4017234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250" b="1" i="0" dirty="0">
                <a:solidFill>
                  <a:srgbClr val="D71920"/>
                </a:solidFill>
                <a:latin typeface="Segoe UI Symbol"/>
                <a:cs typeface="Segoe UI Symbol"/>
              </a:rPr>
              <a:t>✕  </a:t>
            </a:r>
            <a:r>
              <a:rPr lang="en-IN" sz="1250" b="1" i="0" dirty="0" spc="160">
                <a:solidFill>
                  <a:srgbClr val="D71920"/>
                </a:solidFill>
                <a:latin typeface="Arial"/>
                <a:cs typeface="Arial"/>
              </a:rPr>
              <a:t>NPV IS NEGATIVE</a:t>
            </a:r>
          </a:p>
        </p:txBody>
      </p:sp>
      <p:sp>
        <p:nvSpPr>
          <p:cNvPr id="19" name="Text 19"/>
          <p:cNvSpPr/>
          <p:nvPr/>
        </p:nvSpPr>
        <p:spPr>
          <a:xfrm>
            <a:off x="7040880" y="4946904"/>
            <a:ext cx="423669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150" b="0" i="0" dirty="0">
                <a:solidFill>
                  <a:srgbClr val="6E6E6E"/>
                </a:solidFill>
                <a:latin typeface="Calibri"/>
                <a:cs typeface="Calibri"/>
              </a:rPr>
              <a:t>The project does not generate the required 11% return on the stated cash flows.</a:t>
            </a:r>
          </a:p>
        </p:txBody>
      </p:sp>
      <p:sp>
        <p:nvSpPr>
          <p:cNvPr id="20" name="FooterL 2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21" name="FooterR 21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IRR Analysis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Internal Rate of Return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IRRDef 7"/>
          <p:cNvSpPr/>
          <p:nvPr/>
        </p:nvSpPr>
        <p:spPr>
          <a:xfrm>
            <a:off x="640080" y="1783080"/>
            <a:ext cx="51206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8"/>
          <p:cNvSpPr/>
          <p:nvPr/>
        </p:nvSpPr>
        <p:spPr>
          <a:xfrm>
            <a:off x="914400" y="1965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300" b="0" i="0" dirty="0">
                <a:solidFill>
                  <a:srgbClr val="6E6E6E"/>
                </a:solidFill>
                <a:latin typeface="Calibri"/>
                <a:cs typeface="Calibri"/>
              </a:rPr>
              <a:t>IRR is the discount rate at which</a:t>
            </a:r>
          </a:p>
        </p:txBody>
      </p:sp>
      <p:sp>
        <p:nvSpPr>
          <p:cNvPr id="9" name="Text 9"/>
          <p:cNvSpPr/>
          <p:nvPr/>
        </p:nvSpPr>
        <p:spPr>
          <a:xfrm>
            <a:off x="914400" y="2231136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200" b="1" i="0" dirty="0">
                <a:solidFill>
                  <a:srgbClr val="D71920"/>
                </a:solidFill>
                <a:latin typeface="Calibri"/>
                <a:cs typeface="Calibri"/>
              </a:rPr>
              <a:t>NPV = 0</a:t>
            </a:r>
          </a:p>
        </p:txBody>
      </p:sp>
      <p:sp>
        <p:nvSpPr>
          <p:cNvPr id="10" name="Div 10"/>
          <p:cNvSpPr/>
          <p:nvPr/>
        </p:nvSpPr>
        <p:spPr>
          <a:xfrm>
            <a:off x="914400" y="2871216"/>
            <a:ext cx="4572000" cy="1097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914400" y="299923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1" i="0" dirty="0" spc="200">
                <a:solidFill>
                  <a:srgbClr val="C9A227"/>
                </a:solidFill>
                <a:latin typeface="Arial"/>
                <a:cs typeface="Arial"/>
              </a:rPr>
              <a:t>PROJECT CASH FLOWS (₹ CRORE)</a:t>
            </a:r>
          </a:p>
        </p:txBody>
      </p:sp>
      <p:sp>
        <p:nvSpPr>
          <p:cNvPr id="12" name="Text 12"/>
          <p:cNvSpPr/>
          <p:nvPr/>
        </p:nvSpPr>
        <p:spPr>
          <a:xfrm>
            <a:off x="914400" y="3273552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D71920"/>
                </a:solidFill>
                <a:latin typeface="Calibri"/>
                <a:cs typeface="Calibri"/>
              </a:rPr>
              <a:t>−1,200</a:t>
            </a:r>
            <a:r>
              <a:rPr lang="en-IN" sz="1400" b="0" i="0" dirty="0">
                <a:solidFill>
                  <a:srgbClr val="3A3A3A"/>
                </a:solidFill>
                <a:latin typeface="Calibri"/>
                <a:cs typeface="Calibri"/>
              </a:rPr>
              <a:t>  →  220  →  260  →  300  →  340  →  </a:t>
            </a:r>
            <a:r>
              <a:rPr lang="en-IN" sz="1400" b="1" i="0" dirty="0">
                <a:solidFill>
                  <a:srgbClr val="C9A227"/>
                </a:solidFill>
                <a:latin typeface="Calibri"/>
                <a:cs typeface="Calibri"/>
              </a:rPr>
              <a:t>530</a:t>
            </a:r>
          </a:p>
        </p:txBody>
      </p:sp>
      <p:sp>
        <p:nvSpPr>
          <p:cNvPr id="13" name="IRRCompare 13"/>
          <p:cNvSpPr/>
          <p:nvPr/>
        </p:nvSpPr>
        <p:spPr>
          <a:xfrm>
            <a:off x="5971032" y="178308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6227064" y="1956816"/>
            <a:ext cx="50657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220">
                <a:solidFill>
                  <a:srgbClr val="C9A227"/>
                </a:solidFill>
                <a:latin typeface="Arial"/>
                <a:cs typeface="Arial"/>
              </a:rPr>
              <a:t>IRR vs COST OF CAPITAL</a:t>
            </a:r>
          </a:p>
        </p:txBody>
      </p:sp>
      <p:sp>
        <p:nvSpPr>
          <p:cNvPr id="15" name="Text 15"/>
          <p:cNvSpPr/>
          <p:nvPr/>
        </p:nvSpPr>
        <p:spPr>
          <a:xfrm>
            <a:off x="6227064" y="2304288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120">
                <a:solidFill>
                  <a:srgbClr val="3A3A3A"/>
                </a:solidFill>
                <a:latin typeface="Arial"/>
                <a:cs typeface="Arial"/>
              </a:rPr>
              <a:t>IRR</a:t>
            </a:r>
          </a:p>
        </p:txBody>
      </p:sp>
      <p:sp>
        <p:nvSpPr>
          <p:cNvPr id="16" name="Track 16"/>
          <p:cNvSpPr/>
          <p:nvPr/>
        </p:nvSpPr>
        <p:spPr>
          <a:xfrm>
            <a:off x="7891272" y="2304288"/>
            <a:ext cx="3291840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Bar 17"/>
          <p:cNvSpPr/>
          <p:nvPr/>
        </p:nvSpPr>
        <p:spPr>
          <a:xfrm>
            <a:off x="7891272" y="2304288"/>
            <a:ext cx="3006019" cy="3840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7891272" y="2304288"/>
            <a:ext cx="2914579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4864" bIns="0" anchor="ctr"/>
          <a:lstStyle/>
          <a:p>
            <a:pPr algn="r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  <a:cs typeface="Calibri"/>
              </a:rPr>
              <a:t>10.04%</a:t>
            </a:r>
          </a:p>
        </p:txBody>
      </p:sp>
      <p:sp>
        <p:nvSpPr>
          <p:cNvPr id="19" name="Text 19"/>
          <p:cNvSpPr/>
          <p:nvPr/>
        </p:nvSpPr>
        <p:spPr>
          <a:xfrm>
            <a:off x="6227064" y="2907792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120">
                <a:solidFill>
                  <a:srgbClr val="3A3A3A"/>
                </a:solidFill>
                <a:latin typeface="Arial"/>
                <a:cs typeface="Arial"/>
              </a:rPr>
              <a:t>COST OF CAPITAL</a:t>
            </a:r>
          </a:p>
        </p:txBody>
      </p:sp>
      <p:sp>
        <p:nvSpPr>
          <p:cNvPr id="20" name="Track 20"/>
          <p:cNvSpPr/>
          <p:nvPr/>
        </p:nvSpPr>
        <p:spPr>
          <a:xfrm>
            <a:off x="7891272" y="2907792"/>
            <a:ext cx="3291840" cy="38404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Bar 21"/>
          <p:cNvSpPr/>
          <p:nvPr/>
        </p:nvSpPr>
        <p:spPr>
          <a:xfrm>
            <a:off x="7891272" y="2907792"/>
            <a:ext cx="329184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7891272" y="2907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54864" bIns="0" anchor="ctr"/>
          <a:lstStyle/>
          <a:p>
            <a:pPr algn="r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  <a:cs typeface="Calibri"/>
              </a:rPr>
              <a:t>11.00%</a:t>
            </a:r>
          </a:p>
        </p:txBody>
      </p:sp>
      <p:sp>
        <p:nvSpPr>
          <p:cNvPr id="23" name="Text 23"/>
          <p:cNvSpPr/>
          <p:nvPr/>
        </p:nvSpPr>
        <p:spPr>
          <a:xfrm>
            <a:off x="6227064" y="3529584"/>
            <a:ext cx="506577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140">
                <a:solidFill>
                  <a:srgbClr val="6E6E6E"/>
                </a:solidFill>
                <a:latin typeface="Arial"/>
                <a:cs typeface="Arial"/>
              </a:rPr>
              <a:t>SHORTFALL:  </a:t>
            </a:r>
            <a:r>
              <a:rPr lang="en-IN" sz="1200" b="1" i="0" dirty="0">
                <a:solidFill>
                  <a:srgbClr val="D71920"/>
                </a:solidFill>
                <a:latin typeface="Calibri"/>
                <a:cs typeface="Calibri"/>
              </a:rPr>
              <a:t>−0.96 percentage points</a:t>
            </a:r>
          </a:p>
        </p:txBody>
      </p:sp>
      <p:sp>
        <p:nvSpPr>
          <p:cNvPr id="24" name="Verdict 24"/>
          <p:cNvSpPr/>
          <p:nvPr/>
        </p:nvSpPr>
        <p:spPr>
          <a:xfrm>
            <a:off x="640080" y="4389120"/>
            <a:ext cx="10911810" cy="96012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640080" y="4517136"/>
            <a:ext cx="1091181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900" b="1" i="0" dirty="0">
                <a:solidFill>
                  <a:srgbClr val="E7D89A"/>
                </a:solidFill>
                <a:latin typeface="Segoe UI Symbol"/>
                <a:cs typeface="Segoe UI Symbol"/>
              </a:rPr>
              <a:t>✕   </a:t>
            </a:r>
            <a:r>
              <a:rPr lang="en-IN" sz="2000" b="1" i="0" dirty="0">
                <a:solidFill>
                  <a:srgbClr val="FFFFFF"/>
                </a:solidFill>
                <a:latin typeface="Calibri"/>
                <a:cs typeface="Calibri"/>
              </a:rPr>
              <a:t>IRR 10.04%  &lt;  COST OF CAPITAL 11%</a:t>
            </a:r>
          </a:p>
        </p:txBody>
      </p:sp>
      <p:sp>
        <p:nvSpPr>
          <p:cNvPr id="26" name="Text 26"/>
          <p:cNvSpPr/>
          <p:nvPr/>
        </p:nvSpPr>
        <p:spPr>
          <a:xfrm>
            <a:off x="640080" y="4937760"/>
            <a:ext cx="1091181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250" b="0" i="0" dirty="0">
                <a:solidFill>
                  <a:srgbClr val="F0C7C9"/>
                </a:solidFill>
                <a:latin typeface="Calibri"/>
                <a:cs typeface="Calibri"/>
              </a:rPr>
              <a:t>The project earns less than the company requires — it is financially unattractive.</a:t>
            </a:r>
          </a:p>
        </p:txBody>
      </p:sp>
      <p:sp>
        <p:nvSpPr>
          <p:cNvPr id="27" name="Note 27"/>
          <p:cNvSpPr/>
          <p:nvPr/>
        </p:nvSpPr>
        <p:spPr>
          <a:xfrm>
            <a:off x="640080" y="5532120"/>
            <a:ext cx="10911810" cy="566928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NoteAccent 28"/>
          <p:cNvSpPr/>
          <p:nvPr/>
        </p:nvSpPr>
        <p:spPr>
          <a:xfrm>
            <a:off x="640080" y="5532120"/>
            <a:ext cx="50292" cy="5669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/>
          <p:cNvSpPr/>
          <p:nvPr/>
        </p:nvSpPr>
        <p:spPr>
          <a:xfrm>
            <a:off x="896112" y="5532120"/>
            <a:ext cx="10399746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150" b="1" i="0" dirty="0">
                <a:solidFill>
                  <a:srgbClr val="C9A227"/>
                </a:solidFill>
                <a:latin typeface="Calibri"/>
                <a:cs typeface="Calibri"/>
              </a:rPr>
              <a:t>Cross-check:  </a:t>
            </a:r>
            <a:r>
              <a:rPr lang="en-IN" sz="1150" b="0" i="0" dirty="0">
                <a:solidFill>
                  <a:srgbClr val="3A3A3A"/>
                </a:solidFill>
                <a:latin typeface="Calibri"/>
                <a:cs typeface="Calibri"/>
              </a:rPr>
              <a:t>NPV is +₹1.58 Cr at 10% and −₹32.92 Cr at 11% — so the break-even discount rate lies at 10.04%.</a:t>
            </a:r>
          </a:p>
        </p:txBody>
      </p:sp>
      <p:sp>
        <p:nvSpPr>
          <p:cNvPr id="30" name="FooterL 3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31" name="FooterR 31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Payback Period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How Quickly Is the Investment Recovered?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Payback Table 7"/>
          <p:cNvGraphicFramePr>
            <a:graphicFrameLocks noGrp="1"/>
          </p:cNvGraphicFramePr>
          <p:nvPr/>
        </p:nvGraphicFramePr>
        <p:xfrm>
          <a:off x="640080" y="1783080"/>
          <a:ext cx="6035040" cy="28346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554480"/>
                <a:gridCol w="2148840"/>
                <a:gridCol w="2331720"/>
              </a:tblGrid>
              <a:tr h="420624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CASH FLOW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CUMULATIVE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Initial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−₹1,200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D71920"/>
                          </a:solidFill>
                          <a:latin typeface="Calibri"/>
                          <a:cs typeface="Calibri"/>
                        </a:rPr>
                        <a:t>−₹1,200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1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₹220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D71920"/>
                          </a:solidFill>
                          <a:latin typeface="Calibri"/>
                          <a:cs typeface="Calibri"/>
                        </a:rPr>
                        <a:t>−₹980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2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₹260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D71920"/>
                          </a:solidFill>
                          <a:latin typeface="Calibri"/>
                          <a:cs typeface="Calibri"/>
                        </a:rPr>
                        <a:t>−₹720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3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₹300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D71920"/>
                          </a:solidFill>
                          <a:latin typeface="Calibri"/>
                          <a:cs typeface="Calibri"/>
                        </a:rPr>
                        <a:t>−₹420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4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₹340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D71920"/>
                          </a:solidFill>
                          <a:latin typeface="Calibri"/>
                          <a:cs typeface="Calibri"/>
                        </a:rPr>
                        <a:t>−₹80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 5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₹530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C9A227"/>
                          </a:solidFill>
                          <a:latin typeface="Calibri"/>
                          <a:cs typeface="Calibri"/>
                        </a:rPr>
                        <a:t>+₹450 Cr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solidFill>
                      <a:srgbClr val="FCF5E2"/>
                    </a:solidFill>
                  </a:tcPr>
                </a:tc>
              </a:tr>
            </a:tbl>
          </a:graphicData>
        </a:graphic>
      </p:graphicFrame>
      <p:sp>
        <p:nvSpPr>
          <p:cNvPr id="8" name="PBCard 8"/>
          <p:cNvSpPr/>
          <p:nvPr/>
        </p:nvSpPr>
        <p:spPr>
          <a:xfrm>
            <a:off x="6885432" y="1783080"/>
            <a:ext cx="46634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PBHead 9"/>
          <p:cNvSpPr/>
          <p:nvPr/>
        </p:nvSpPr>
        <p:spPr>
          <a:xfrm>
            <a:off x="6885432" y="1783080"/>
            <a:ext cx="466344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6885432" y="1783080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050" b="1" i="0" dirty="0" spc="280">
                <a:solidFill>
                  <a:srgbClr val="FFFFFF"/>
                </a:solidFill>
                <a:latin typeface="Arial"/>
                <a:cs typeface="Arial"/>
              </a:rPr>
              <a:t>PAYBACK CALCULATION</a:t>
            </a:r>
          </a:p>
        </p:txBody>
      </p:sp>
      <p:sp>
        <p:nvSpPr>
          <p:cNvPr id="11" name="Text 11"/>
          <p:cNvSpPr/>
          <p:nvPr/>
        </p:nvSpPr>
        <p:spPr>
          <a:xfrm>
            <a:off x="7159752" y="2340864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200" b="0" i="0" dirty="0">
                <a:solidFill>
                  <a:srgbClr val="6E6E6E"/>
                </a:solidFill>
                <a:latin typeface="Calibri"/>
                <a:cs typeface="Calibri"/>
              </a:rPr>
              <a:t>Unrecovered after Year 4</a:t>
            </a:r>
          </a:p>
        </p:txBody>
      </p:sp>
      <p:sp>
        <p:nvSpPr>
          <p:cNvPr id="12" name="Text 12"/>
          <p:cNvSpPr/>
          <p:nvPr/>
        </p:nvSpPr>
        <p:spPr>
          <a:xfrm>
            <a:off x="9720072" y="23408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1A1A1A"/>
                </a:solidFill>
                <a:latin typeface="Calibri"/>
                <a:cs typeface="Calibri"/>
              </a:rPr>
              <a:t>₹80 Cr</a:t>
            </a:r>
          </a:p>
        </p:txBody>
      </p:sp>
      <p:sp>
        <p:nvSpPr>
          <p:cNvPr id="13" name="Text 13"/>
          <p:cNvSpPr/>
          <p:nvPr/>
        </p:nvSpPr>
        <p:spPr>
          <a:xfrm>
            <a:off x="7159752" y="272491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200" b="0" i="0" dirty="0">
                <a:solidFill>
                  <a:srgbClr val="6E6E6E"/>
                </a:solidFill>
                <a:latin typeface="Calibri"/>
                <a:cs typeface="Calibri"/>
              </a:rPr>
              <a:t>Year 5 cash inflow</a:t>
            </a:r>
          </a:p>
        </p:txBody>
      </p:sp>
      <p:sp>
        <p:nvSpPr>
          <p:cNvPr id="14" name="Text 14"/>
          <p:cNvSpPr/>
          <p:nvPr/>
        </p:nvSpPr>
        <p:spPr>
          <a:xfrm>
            <a:off x="9720072" y="272491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1A1A1A"/>
                </a:solidFill>
                <a:latin typeface="Calibri"/>
                <a:cs typeface="Calibri"/>
              </a:rPr>
              <a:t>₹530 Cr</a:t>
            </a:r>
          </a:p>
        </p:txBody>
      </p:sp>
      <p:sp>
        <p:nvSpPr>
          <p:cNvPr id="15" name="Div 15"/>
          <p:cNvSpPr/>
          <p:nvPr/>
        </p:nvSpPr>
        <p:spPr>
          <a:xfrm>
            <a:off x="7159752" y="3145536"/>
            <a:ext cx="4114800" cy="10973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6885432" y="3255264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400" b="0" i="0" dirty="0">
                <a:solidFill>
                  <a:srgbClr val="3A3A3A"/>
                </a:solidFill>
                <a:latin typeface="Calibri"/>
                <a:cs typeface="Calibri"/>
              </a:rPr>
              <a:t>4  +  (</a:t>
            </a: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₹80</a:t>
            </a:r>
            <a:r>
              <a:rPr lang="en-IN" sz="1400" b="0" i="0" dirty="0">
                <a:solidFill>
                  <a:srgbClr val="3A3A3A"/>
                </a:solidFill>
                <a:latin typeface="Calibri"/>
                <a:cs typeface="Calibri"/>
              </a:rPr>
              <a:t>  ÷  </a:t>
            </a: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₹530</a:t>
            </a:r>
            <a:r>
              <a:rPr lang="en-IN" sz="1400" b="0" i="0" dirty="0">
                <a:solidFill>
                  <a:srgbClr val="3A3A3A"/>
                </a:solidFill>
                <a:latin typeface="Calibri"/>
                <a:cs typeface="Calibri"/>
              </a:rPr>
              <a:t>)</a:t>
            </a:r>
          </a:p>
        </p:txBody>
      </p:sp>
      <p:sp>
        <p:nvSpPr>
          <p:cNvPr id="17" name="Text 17"/>
          <p:cNvSpPr/>
          <p:nvPr/>
        </p:nvSpPr>
        <p:spPr>
          <a:xfrm>
            <a:off x="6885432" y="3639312"/>
            <a:ext cx="466344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3800" b="1" i="0" dirty="0">
                <a:solidFill>
                  <a:srgbClr val="C9A227"/>
                </a:solidFill>
                <a:latin typeface="Calibri"/>
                <a:cs typeface="Calibri"/>
              </a:rPr>
              <a:t>4.15 Years</a:t>
            </a:r>
          </a:p>
        </p:txBody>
      </p:sp>
      <p:sp>
        <p:nvSpPr>
          <p:cNvPr id="18" name="Text 18"/>
          <p:cNvSpPr/>
          <p:nvPr/>
        </p:nvSpPr>
        <p:spPr>
          <a:xfrm>
            <a:off x="6885432" y="431596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60">
                <a:solidFill>
                  <a:srgbClr val="6E6E6E"/>
                </a:solidFill>
                <a:latin typeface="Arial"/>
                <a:cs typeface="Arial"/>
              </a:rPr>
              <a:t>PAYBACK PERIOD</a:t>
            </a:r>
          </a:p>
        </p:txBody>
      </p:sp>
      <p:sp>
        <p:nvSpPr>
          <p:cNvPr id="19" name="SalvageNote 19"/>
          <p:cNvSpPr/>
          <p:nvPr/>
        </p:nvSpPr>
        <p:spPr>
          <a:xfrm>
            <a:off x="640080" y="4846320"/>
            <a:ext cx="10911810" cy="804672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" name="Accent 20"/>
          <p:cNvSpPr/>
          <p:nvPr/>
        </p:nvSpPr>
        <p:spPr>
          <a:xfrm>
            <a:off x="640080" y="4846320"/>
            <a:ext cx="50292" cy="8046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914400" y="4846320"/>
            <a:ext cx="1036317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buNone/>
            </a:pPr>
            <a:r>
              <a:rPr lang="en-IN" sz="1200" b="1" i="0" dirty="0">
                <a:solidFill>
                  <a:srgbClr val="C9A227"/>
                </a:solidFill>
                <a:latin typeface="Calibri"/>
                <a:cs typeface="Calibri"/>
              </a:rPr>
              <a:t>Note on salvage value:  </a:t>
            </a:r>
            <a:r>
              <a:rPr lang="en-IN" sz="1200" b="0" i="0" dirty="0">
                <a:solidFill>
                  <a:srgbClr val="3A3A3A"/>
                </a:solidFill>
                <a:latin typeface="Calibri"/>
                <a:cs typeface="Calibri"/>
              </a:rPr>
              <a:t>Year 5 includes the ₹150 Cr salvage value, so the recovery-year inflow is ₹530 Cr. The payback is therefore 4.15 years, not 4.21 years.</a:t>
            </a:r>
          </a:p>
        </p:txBody>
      </p:sp>
      <p:sp>
        <p:nvSpPr>
          <p:cNvPr id="22" name="Text 22"/>
          <p:cNvSpPr/>
          <p:nvPr/>
        </p:nvSpPr>
        <p:spPr>
          <a:xfrm>
            <a:off x="640080" y="5779008"/>
            <a:ext cx="1091181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100" b="0" i="1" dirty="0">
                <a:solidFill>
                  <a:srgbClr val="6E6E6E"/>
                </a:solidFill>
                <a:latin typeface="Calibri"/>
                <a:cs typeface="Calibri"/>
              </a:rPr>
              <a:t>Payback ignores the time value of money — it is read here only as a liquidity indicator alongside NPV and IRR.</a:t>
            </a:r>
          </a:p>
        </p:txBody>
      </p:sp>
      <p:sp>
        <p:nvSpPr>
          <p:cNvPr id="23" name="FooterL 23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24" name="FooterR 24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Financial Decision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Should ABFRL Undertake the Project?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Tile 7"/>
          <p:cNvSpPr/>
          <p:nvPr/>
        </p:nvSpPr>
        <p:spPr>
          <a:xfrm>
            <a:off x="640080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ileAccent 8"/>
          <p:cNvSpPr/>
          <p:nvPr/>
        </p:nvSpPr>
        <p:spPr>
          <a:xfrm>
            <a:off x="640080" y="1783080"/>
            <a:ext cx="2542032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ileLabel 9"/>
          <p:cNvSpPr/>
          <p:nvPr/>
        </p:nvSpPr>
        <p:spPr>
          <a:xfrm>
            <a:off x="640080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NPV</a:t>
            </a:r>
          </a:p>
        </p:txBody>
      </p:sp>
      <p:sp>
        <p:nvSpPr>
          <p:cNvPr id="10" name="TileValue 10"/>
          <p:cNvSpPr/>
          <p:nvPr/>
        </p:nvSpPr>
        <p:spPr>
          <a:xfrm>
            <a:off x="640080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D71920"/>
                </a:solidFill>
                <a:latin typeface="Calibri"/>
                <a:cs typeface="Calibri"/>
              </a:rPr>
              <a:t>− ₹32.92 Cr</a:t>
            </a:r>
          </a:p>
        </p:txBody>
      </p:sp>
      <p:sp>
        <p:nvSpPr>
          <p:cNvPr id="11" name="Tile 11"/>
          <p:cNvSpPr/>
          <p:nvPr/>
        </p:nvSpPr>
        <p:spPr>
          <a:xfrm>
            <a:off x="3430006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ileAccent 12"/>
          <p:cNvSpPr/>
          <p:nvPr/>
        </p:nvSpPr>
        <p:spPr>
          <a:xfrm>
            <a:off x="3430006" y="1783080"/>
            <a:ext cx="2542032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ileLabel 13"/>
          <p:cNvSpPr/>
          <p:nvPr/>
        </p:nvSpPr>
        <p:spPr>
          <a:xfrm>
            <a:off x="3430006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IRR</a:t>
            </a:r>
          </a:p>
        </p:txBody>
      </p:sp>
      <p:sp>
        <p:nvSpPr>
          <p:cNvPr id="14" name="TileValue 14"/>
          <p:cNvSpPr/>
          <p:nvPr/>
        </p:nvSpPr>
        <p:spPr>
          <a:xfrm>
            <a:off x="3430006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D71920"/>
                </a:solidFill>
                <a:latin typeface="Calibri"/>
                <a:cs typeface="Calibri"/>
              </a:rPr>
              <a:t>10.04%</a:t>
            </a:r>
          </a:p>
        </p:txBody>
      </p:sp>
      <p:sp>
        <p:nvSpPr>
          <p:cNvPr id="15" name="Tile 15"/>
          <p:cNvSpPr/>
          <p:nvPr/>
        </p:nvSpPr>
        <p:spPr>
          <a:xfrm>
            <a:off x="6219932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ileAccent 16"/>
          <p:cNvSpPr/>
          <p:nvPr/>
        </p:nvSpPr>
        <p:spPr>
          <a:xfrm>
            <a:off x="6219932" y="1783080"/>
            <a:ext cx="254203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ileLabel 17"/>
          <p:cNvSpPr/>
          <p:nvPr/>
        </p:nvSpPr>
        <p:spPr>
          <a:xfrm>
            <a:off x="6219932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Cost of Capital</a:t>
            </a:r>
          </a:p>
        </p:txBody>
      </p:sp>
      <p:sp>
        <p:nvSpPr>
          <p:cNvPr id="18" name="TileValue 18"/>
          <p:cNvSpPr/>
          <p:nvPr/>
        </p:nvSpPr>
        <p:spPr>
          <a:xfrm>
            <a:off x="6219932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1A1A1A"/>
                </a:solidFill>
                <a:latin typeface="Calibri"/>
                <a:cs typeface="Calibri"/>
              </a:rPr>
              <a:t>11.00%</a:t>
            </a:r>
          </a:p>
        </p:txBody>
      </p:sp>
      <p:sp>
        <p:nvSpPr>
          <p:cNvPr id="19" name="Tile 19"/>
          <p:cNvSpPr/>
          <p:nvPr/>
        </p:nvSpPr>
        <p:spPr>
          <a:xfrm>
            <a:off x="9009858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ileAccent 20"/>
          <p:cNvSpPr/>
          <p:nvPr/>
        </p:nvSpPr>
        <p:spPr>
          <a:xfrm>
            <a:off x="9009858" y="1783080"/>
            <a:ext cx="254203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ileLabel 21"/>
          <p:cNvSpPr/>
          <p:nvPr/>
        </p:nvSpPr>
        <p:spPr>
          <a:xfrm>
            <a:off x="9009858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Payback</a:t>
            </a:r>
          </a:p>
        </p:txBody>
      </p:sp>
      <p:sp>
        <p:nvSpPr>
          <p:cNvPr id="22" name="TileValue 22"/>
          <p:cNvSpPr/>
          <p:nvPr/>
        </p:nvSpPr>
        <p:spPr>
          <a:xfrm>
            <a:off x="9009858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1A1A1A"/>
                </a:solidFill>
                <a:latin typeface="Calibri"/>
                <a:cs typeface="Calibri"/>
              </a:rPr>
              <a:t>4.15 Years</a:t>
            </a:r>
          </a:p>
        </p:txBody>
      </p:sp>
      <p:sp>
        <p:nvSpPr>
          <p:cNvPr id="23" name="Recommendation 23"/>
          <p:cNvSpPr/>
          <p:nvPr/>
        </p:nvSpPr>
        <p:spPr>
          <a:xfrm>
            <a:off x="640080" y="3200400"/>
            <a:ext cx="10911810" cy="91440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640080" y="3200400"/>
            <a:ext cx="1091181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E7D89A"/>
                </a:solidFill>
                <a:latin typeface="Segoe UI Symbol"/>
                <a:cs typeface="Segoe UI Symbol"/>
              </a:rPr>
              <a:t>✕    </a:t>
            </a:r>
            <a:r>
              <a:rPr lang="en-IN" sz="2600" b="1" i="0" dirty="0" spc="30">
                <a:solidFill>
                  <a:srgbClr val="FFFFFF"/>
                </a:solidFill>
                <a:latin typeface="Calibri"/>
                <a:cs typeface="Calibri"/>
              </a:rPr>
              <a:t>DO NOT UNDERTAKE THE PROJECT</a:t>
            </a:r>
          </a:p>
        </p:txBody>
      </p:sp>
      <p:sp>
        <p:nvSpPr>
          <p:cNvPr id="25" name="Reason 25"/>
          <p:cNvSpPr/>
          <p:nvPr/>
        </p:nvSpPr>
        <p:spPr>
          <a:xfrm>
            <a:off x="640080" y="4343400"/>
            <a:ext cx="34544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Accent 26"/>
          <p:cNvSpPr/>
          <p:nvPr/>
        </p:nvSpPr>
        <p:spPr>
          <a:xfrm>
            <a:off x="640080" y="4343400"/>
            <a:ext cx="45720" cy="1051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7"/>
          <p:cNvSpPr/>
          <p:nvPr/>
        </p:nvSpPr>
        <p:spPr>
          <a:xfrm>
            <a:off x="877824" y="448056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C9A227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28" name="Text 28"/>
          <p:cNvSpPr/>
          <p:nvPr/>
        </p:nvSpPr>
        <p:spPr>
          <a:xfrm>
            <a:off x="877824" y="4791456"/>
            <a:ext cx="29789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NPV is negative at the 11% cost of capital.</a:t>
            </a:r>
          </a:p>
        </p:txBody>
      </p:sp>
      <p:sp>
        <p:nvSpPr>
          <p:cNvPr id="29" name="Reason 29"/>
          <p:cNvSpPr/>
          <p:nvPr/>
        </p:nvSpPr>
        <p:spPr>
          <a:xfrm>
            <a:off x="4368820" y="4343400"/>
            <a:ext cx="34544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Accent 30"/>
          <p:cNvSpPr/>
          <p:nvPr/>
        </p:nvSpPr>
        <p:spPr>
          <a:xfrm>
            <a:off x="4368820" y="4343400"/>
            <a:ext cx="45720" cy="1051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31"/>
          <p:cNvSpPr/>
          <p:nvPr/>
        </p:nvSpPr>
        <p:spPr>
          <a:xfrm>
            <a:off x="4606564" y="448056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C9A227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32" name="Text 32"/>
          <p:cNvSpPr/>
          <p:nvPr/>
        </p:nvSpPr>
        <p:spPr>
          <a:xfrm>
            <a:off x="4606564" y="4791456"/>
            <a:ext cx="29789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IRR of 10.04% is below the required 11%.</a:t>
            </a:r>
          </a:p>
        </p:txBody>
      </p:sp>
      <p:sp>
        <p:nvSpPr>
          <p:cNvPr id="33" name="Reason 33"/>
          <p:cNvSpPr/>
          <p:nvPr/>
        </p:nvSpPr>
        <p:spPr>
          <a:xfrm>
            <a:off x="8097561" y="4343400"/>
            <a:ext cx="34544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Accent 34"/>
          <p:cNvSpPr/>
          <p:nvPr/>
        </p:nvSpPr>
        <p:spPr>
          <a:xfrm>
            <a:off x="8097561" y="4343400"/>
            <a:ext cx="45720" cy="1051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5"/>
          <p:cNvSpPr/>
          <p:nvPr/>
        </p:nvSpPr>
        <p:spPr>
          <a:xfrm>
            <a:off x="8335305" y="448056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C9A227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36" name="Text 36"/>
          <p:cNvSpPr/>
          <p:nvPr/>
        </p:nvSpPr>
        <p:spPr>
          <a:xfrm>
            <a:off x="8335305" y="4791456"/>
            <a:ext cx="29789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Recovery takes more than four years (4.15).</a:t>
            </a:r>
          </a:p>
        </p:txBody>
      </p:sp>
      <p:sp>
        <p:nvSpPr>
          <p:cNvPr id="37" name="Conclusion 37"/>
          <p:cNvSpPr/>
          <p:nvPr/>
        </p:nvSpPr>
        <p:spPr>
          <a:xfrm>
            <a:off x="640080" y="5577840"/>
            <a:ext cx="10911810" cy="640080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" name="Accent 38"/>
          <p:cNvSpPr/>
          <p:nvPr/>
        </p:nvSpPr>
        <p:spPr>
          <a:xfrm>
            <a:off x="640080" y="5577840"/>
            <a:ext cx="50292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9"/>
          <p:cNvSpPr/>
          <p:nvPr/>
        </p:nvSpPr>
        <p:spPr>
          <a:xfrm>
            <a:off x="914400" y="5577840"/>
            <a:ext cx="1036317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250" b="1" i="0" dirty="0">
                <a:solidFill>
                  <a:srgbClr val="C9A227"/>
                </a:solidFill>
                <a:latin typeface="Calibri"/>
                <a:cs typeface="Calibri"/>
              </a:rPr>
              <a:t>Financial conclusion:  </a:t>
            </a: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the project does not create sufficient value at ABFRL's required 11% return.</a:t>
            </a:r>
          </a:p>
        </p:txBody>
      </p:sp>
      <p:sp>
        <p:nvSpPr>
          <p:cNvPr id="40" name="FooterL 4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41" name="FooterR 41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Strategic Risks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Three Major Risks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iskCard 7"/>
          <p:cNvSpPr/>
          <p:nvPr/>
        </p:nvSpPr>
        <p:spPr>
          <a:xfrm>
            <a:off x="640080" y="1783080"/>
            <a:ext cx="34544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iskAccent 8"/>
          <p:cNvSpPr/>
          <p:nvPr/>
        </p:nvSpPr>
        <p:spPr>
          <a:xfrm>
            <a:off x="640080" y="1783080"/>
            <a:ext cx="3454420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914400" y="20116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600" b="1" i="0" dirty="0">
                <a:solidFill>
                  <a:srgbClr val="E7D89A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10" name="Text 10"/>
          <p:cNvSpPr/>
          <p:nvPr/>
        </p:nvSpPr>
        <p:spPr>
          <a:xfrm>
            <a:off x="914400" y="2743200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700" b="1" i="0" dirty="0">
                <a:solidFill>
                  <a:srgbClr val="D71920"/>
                </a:solidFill>
                <a:latin typeface="Calibri"/>
                <a:cs typeface="Calibri"/>
              </a:rPr>
              <a:t>Demand Risk</a:t>
            </a:r>
          </a:p>
        </p:txBody>
      </p:sp>
      <p:sp>
        <p:nvSpPr>
          <p:cNvPr id="11" name="Text 11"/>
          <p:cNvSpPr/>
          <p:nvPr/>
        </p:nvSpPr>
        <p:spPr>
          <a:xfrm>
            <a:off x="914400" y="3218688"/>
            <a:ext cx="29057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Demand for premium apparel may be lower than the levels assumed in the forecast.</a:t>
            </a:r>
          </a:p>
        </p:txBody>
      </p:sp>
      <p:sp>
        <p:nvSpPr>
          <p:cNvPr id="12" name="Impact 12"/>
          <p:cNvSpPr/>
          <p:nvPr/>
        </p:nvSpPr>
        <p:spPr>
          <a:xfrm>
            <a:off x="859536" y="4480560"/>
            <a:ext cx="3015508" cy="1298448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1042416" y="4608576"/>
            <a:ext cx="26497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850" b="1" i="0" dirty="0" spc="240">
                <a:solidFill>
                  <a:srgbClr val="D71920"/>
                </a:solidFill>
                <a:latin typeface="Arial"/>
                <a:cs typeface="Arial"/>
              </a:rPr>
              <a:t>IMPACT</a:t>
            </a:r>
          </a:p>
        </p:txBody>
      </p:sp>
      <p:sp>
        <p:nvSpPr>
          <p:cNvPr id="14" name="Text 14"/>
          <p:cNvSpPr/>
          <p:nvPr/>
        </p:nvSpPr>
        <p:spPr>
          <a:xfrm>
            <a:off x="1042416" y="4864608"/>
            <a:ext cx="264974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buNone/>
            </a:pPr>
            <a:r>
              <a:rPr lang="en-IN" sz="1150" b="0" i="0" dirty="0">
                <a:solidFill>
                  <a:srgbClr val="9E1319"/>
                </a:solidFill>
                <a:latin typeface="Calibri"/>
                <a:cs typeface="Calibri"/>
              </a:rPr>
              <a:t>Lower sales lead to weaker cash inflows and even poorer project returns.</a:t>
            </a:r>
          </a:p>
        </p:txBody>
      </p:sp>
      <p:sp>
        <p:nvSpPr>
          <p:cNvPr id="15" name="RiskCard 15"/>
          <p:cNvSpPr/>
          <p:nvPr/>
        </p:nvSpPr>
        <p:spPr>
          <a:xfrm>
            <a:off x="4368820" y="1783080"/>
            <a:ext cx="34544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RiskAccent 16"/>
          <p:cNvSpPr/>
          <p:nvPr/>
        </p:nvSpPr>
        <p:spPr>
          <a:xfrm>
            <a:off x="4368820" y="1783080"/>
            <a:ext cx="3454420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4643140" y="20116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600" b="1" i="0" dirty="0">
                <a:solidFill>
                  <a:srgbClr val="E7D89A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18" name="Text 18"/>
          <p:cNvSpPr/>
          <p:nvPr/>
        </p:nvSpPr>
        <p:spPr>
          <a:xfrm>
            <a:off x="4643140" y="2743200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700" b="1" i="0" dirty="0">
                <a:solidFill>
                  <a:srgbClr val="D71920"/>
                </a:solidFill>
                <a:latin typeface="Calibri"/>
                <a:cs typeface="Calibri"/>
              </a:rPr>
              <a:t>Cost &amp; Execution Risk</a:t>
            </a:r>
          </a:p>
        </p:txBody>
      </p:sp>
      <p:sp>
        <p:nvSpPr>
          <p:cNvPr id="19" name="Text 19"/>
          <p:cNvSpPr/>
          <p:nvPr/>
        </p:nvSpPr>
        <p:spPr>
          <a:xfrm>
            <a:off x="4643140" y="3218688"/>
            <a:ext cx="29057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Construction delays, rising raw-material prices or higher equipment costs may push the outlay above ₹1,200 Cr.</a:t>
            </a:r>
          </a:p>
        </p:txBody>
      </p:sp>
      <p:sp>
        <p:nvSpPr>
          <p:cNvPr id="20" name="Impact 20"/>
          <p:cNvSpPr/>
          <p:nvPr/>
        </p:nvSpPr>
        <p:spPr>
          <a:xfrm>
            <a:off x="4588276" y="4480560"/>
            <a:ext cx="3015508" cy="1298448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4771156" y="4608576"/>
            <a:ext cx="26497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850" b="1" i="0" dirty="0" spc="240">
                <a:solidFill>
                  <a:srgbClr val="D71920"/>
                </a:solidFill>
                <a:latin typeface="Arial"/>
                <a:cs typeface="Arial"/>
              </a:rPr>
              <a:t>IMPACT</a:t>
            </a:r>
          </a:p>
        </p:txBody>
      </p:sp>
      <p:sp>
        <p:nvSpPr>
          <p:cNvPr id="22" name="Text 22"/>
          <p:cNvSpPr/>
          <p:nvPr/>
        </p:nvSpPr>
        <p:spPr>
          <a:xfrm>
            <a:off x="4771156" y="4864608"/>
            <a:ext cx="264974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buNone/>
            </a:pPr>
            <a:r>
              <a:rPr lang="en-IN" sz="1150" b="0" i="0" dirty="0">
                <a:solidFill>
                  <a:srgbClr val="9E1319"/>
                </a:solidFill>
                <a:latin typeface="Calibri"/>
                <a:cs typeface="Calibri"/>
              </a:rPr>
              <a:t>A larger investment reduces NPV further and lengthens payback.</a:t>
            </a:r>
          </a:p>
        </p:txBody>
      </p:sp>
      <p:sp>
        <p:nvSpPr>
          <p:cNvPr id="23" name="RiskCard 23"/>
          <p:cNvSpPr/>
          <p:nvPr/>
        </p:nvSpPr>
        <p:spPr>
          <a:xfrm>
            <a:off x="8097561" y="1783080"/>
            <a:ext cx="34544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RiskAccent 24"/>
          <p:cNvSpPr/>
          <p:nvPr/>
        </p:nvSpPr>
        <p:spPr>
          <a:xfrm>
            <a:off x="8097561" y="1783080"/>
            <a:ext cx="3454420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8371881" y="20116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600" b="1" i="0" dirty="0">
                <a:solidFill>
                  <a:srgbClr val="E7D89A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26" name="Text 26"/>
          <p:cNvSpPr/>
          <p:nvPr/>
        </p:nvSpPr>
        <p:spPr>
          <a:xfrm>
            <a:off x="8371881" y="2743200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700" b="1" i="0" dirty="0">
                <a:solidFill>
                  <a:srgbClr val="D71920"/>
                </a:solidFill>
                <a:latin typeface="Calibri"/>
                <a:cs typeface="Calibri"/>
              </a:rPr>
              <a:t>Fashion &amp; Market Risk</a:t>
            </a:r>
          </a:p>
        </p:txBody>
      </p:sp>
      <p:sp>
        <p:nvSpPr>
          <p:cNvPr id="27" name="Text 27"/>
          <p:cNvSpPr/>
          <p:nvPr/>
        </p:nvSpPr>
        <p:spPr>
          <a:xfrm>
            <a:off x="8371881" y="3218688"/>
            <a:ext cx="29057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  <a:buNone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Consumer preferences shift quickly in the fashion industry, and styles can date within a season.</a:t>
            </a:r>
          </a:p>
        </p:txBody>
      </p:sp>
      <p:sp>
        <p:nvSpPr>
          <p:cNvPr id="28" name="Impact 28"/>
          <p:cNvSpPr/>
          <p:nvPr/>
        </p:nvSpPr>
        <p:spPr>
          <a:xfrm>
            <a:off x="8317017" y="4480560"/>
            <a:ext cx="3015508" cy="1298448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/>
          <p:cNvSpPr/>
          <p:nvPr/>
        </p:nvSpPr>
        <p:spPr>
          <a:xfrm>
            <a:off x="8499897" y="4608576"/>
            <a:ext cx="26497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850" b="1" i="0" dirty="0" spc="240">
                <a:solidFill>
                  <a:srgbClr val="D71920"/>
                </a:solidFill>
                <a:latin typeface="Arial"/>
                <a:cs typeface="Arial"/>
              </a:rPr>
              <a:t>IMPACT</a:t>
            </a:r>
          </a:p>
        </p:txBody>
      </p:sp>
      <p:sp>
        <p:nvSpPr>
          <p:cNvPr id="30" name="Text 30"/>
          <p:cNvSpPr/>
          <p:nvPr/>
        </p:nvSpPr>
        <p:spPr>
          <a:xfrm>
            <a:off x="8499897" y="4864608"/>
            <a:ext cx="2649748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buNone/>
            </a:pPr>
            <a:r>
              <a:rPr lang="en-IN" sz="1150" b="0" i="0" dirty="0">
                <a:solidFill>
                  <a:srgbClr val="9E1319"/>
                </a:solidFill>
                <a:latin typeface="Calibri"/>
                <a:cs typeface="Calibri"/>
              </a:rPr>
              <a:t>Unsold inventory, markdowns and lower profitability.</a:t>
            </a:r>
          </a:p>
        </p:txBody>
      </p:sp>
      <p:sp>
        <p:nvSpPr>
          <p:cNvPr id="31" name="FooterL 3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32" name="FooterR 32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Risk → Impact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What Could Go Wrong?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Risk Matrix 7"/>
          <p:cNvGraphicFramePr>
            <a:graphicFrameLocks noGrp="1"/>
          </p:cNvGraphicFramePr>
          <p:nvPr/>
        </p:nvGraphicFramePr>
        <p:xfrm>
          <a:off x="640080" y="1783080"/>
          <a:ext cx="6903720" cy="316382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788920"/>
                <a:gridCol w="2971800"/>
                <a:gridCol w="1143000"/>
              </a:tblGrid>
              <a:tr h="420624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STRATEGIC RISK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POSSIBLE IMPACT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SEVERITY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1920"/>
                    </a:solidFill>
                  </a:tcPr>
                </a:tc>
              </a:tr>
              <a:tr h="54864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Demand uncertainty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Lower revenue than forecast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40">
                          <a:solidFill>
                            <a:srgbClr val="D71920"/>
                          </a:solidFill>
                          <a:latin typeface="Arial"/>
                          <a:cs typeface="Arial"/>
                        </a:rPr>
                        <a:t>HIGH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FFFFF"/>
                      </a:solidFill>
                    </a:lnB>
                    <a:solidFill>
                      <a:srgbClr val="FBE9EA"/>
                    </a:solidFill>
                  </a:tcPr>
                </a:tc>
              </a:tr>
              <a:tr h="54864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Construction delays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Cost overruns on the outlay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40">
                          <a:solidFill>
                            <a:srgbClr val="C9A227"/>
                          </a:solidFill>
                          <a:latin typeface="Arial"/>
                          <a:cs typeface="Arial"/>
                        </a:rPr>
                        <a:t>MEDIUM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FFFFF"/>
                      </a:solidFill>
                    </a:lnB>
                    <a:solidFill>
                      <a:srgbClr val="FCF5E2"/>
                    </a:solidFill>
                  </a:tcPr>
                </a:tc>
              </a:tr>
              <a:tr h="54864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Raw-material inflation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Reduced operating margins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40">
                          <a:solidFill>
                            <a:srgbClr val="C9A227"/>
                          </a:solidFill>
                          <a:latin typeface="Arial"/>
                          <a:cs typeface="Arial"/>
                        </a:rPr>
                        <a:t>MEDIUM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FFFFF"/>
                      </a:solidFill>
                    </a:lnB>
                    <a:solidFill>
                      <a:srgbClr val="FCF5E2"/>
                    </a:solidFill>
                  </a:tcPr>
                </a:tc>
              </a:tr>
              <a:tr h="54864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Fashion trends change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Unsold inventory and markdowns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40">
                          <a:solidFill>
                            <a:srgbClr val="D71920"/>
                          </a:solidFill>
                          <a:latin typeface="Arial"/>
                          <a:cs typeface="Arial"/>
                        </a:rPr>
                        <a:t>HIGH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FFFFF"/>
                      </a:solidFill>
                    </a:lnB>
                    <a:solidFill>
                      <a:srgbClr val="FBE9EA"/>
                    </a:solidFill>
                  </a:tcPr>
                </a:tc>
              </a:tr>
              <a:tr h="548640"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Competition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Lower market share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EDEDED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000" b="1" i="0" dirty="0" spc="140">
                          <a:solidFill>
                            <a:srgbClr val="C9A227"/>
                          </a:solidFill>
                          <a:latin typeface="Arial"/>
                          <a:cs typeface="Arial"/>
                        </a:rPr>
                        <a:t>MEDIUM</a:t>
                      </a:r>
                    </a:p>
                  </a:txBody>
                  <a:tcPr marL="128016" marR="12801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FFFFF"/>
                      </a:solidFill>
                    </a:lnB>
                    <a:solidFill>
                      <a:srgbClr val="FCF5E2"/>
                    </a:solidFill>
                  </a:tcPr>
                </a:tc>
              </a:tr>
            </a:tbl>
          </a:graphicData>
        </a:graphic>
      </p:graphicFrame>
      <p:sp>
        <p:nvSpPr>
          <p:cNvPr id="8" name="KeyMessage 8"/>
          <p:cNvSpPr/>
          <p:nvPr/>
        </p:nvSpPr>
        <p:spPr>
          <a:xfrm>
            <a:off x="7754112" y="1783080"/>
            <a:ext cx="3794760" cy="3163824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8046720" y="2011680"/>
            <a:ext cx="3209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50" b="1" i="0" dirty="0" spc="280">
                <a:solidFill>
                  <a:srgbClr val="E7D89A"/>
                </a:solidFill>
                <a:latin typeface="Arial"/>
                <a:cs typeface="Arial"/>
              </a:rPr>
              <a:t>KEY MESSAGE</a:t>
            </a:r>
          </a:p>
        </p:txBody>
      </p:sp>
      <p:sp>
        <p:nvSpPr>
          <p:cNvPr id="10" name="Text 10"/>
          <p:cNvSpPr/>
          <p:nvPr/>
        </p:nvSpPr>
        <p:spPr>
          <a:xfrm>
            <a:off x="8046720" y="2359152"/>
            <a:ext cx="32095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  <a:buNone/>
            </a:pPr>
            <a:r>
              <a:rPr lang="en-IN" sz="1900" b="1" i="0" dirty="0">
                <a:solidFill>
                  <a:srgbClr val="FFFFFF"/>
                </a:solidFill>
                <a:latin typeface="Calibri"/>
                <a:cs typeface="Calibri"/>
              </a:rPr>
              <a:t>The project is exposed to both financial and operational uncertainty.</a:t>
            </a:r>
          </a:p>
        </p:txBody>
      </p:sp>
      <p:sp>
        <p:nvSpPr>
          <p:cNvPr id="11" name="Div 11"/>
          <p:cNvSpPr/>
          <p:nvPr/>
        </p:nvSpPr>
        <p:spPr>
          <a:xfrm>
            <a:off x="8046720" y="3639312"/>
            <a:ext cx="3209544" cy="10973"/>
          </a:xfrm>
          <a:prstGeom prst="rect">
            <a:avLst/>
          </a:prstGeom>
          <a:solidFill>
            <a:srgbClr val="9E131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8046720" y="3767328"/>
            <a:ext cx="320954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150" b="1" i="0" dirty="0">
                <a:solidFill>
                  <a:srgbClr val="E7D89A"/>
                </a:solidFill>
                <a:latin typeface="Calibri"/>
                <a:cs typeface="Calibri"/>
              </a:rPr>
              <a:t>Financial:  </a:t>
            </a:r>
            <a:r>
              <a:rPr lang="en-IN" sz="1150" b="0" i="0" dirty="0">
                <a:solidFill>
                  <a:srgbClr val="F0C7C9"/>
                </a:solidFill>
                <a:latin typeface="Calibri"/>
                <a:cs typeface="Calibri"/>
              </a:rPr>
              <a:t>returns fall below the 11% hurdle rate.</a:t>
            </a:r>
          </a:p>
          <a:p>
            <a:pPr algn="l">
              <a:lnSpc>
                <a:spcPct val="100000"/>
              </a:lnSpc>
              <a:spcBef>
                <a:spcPts val="140"/>
              </a:spcBef>
              <a:buNone/>
            </a:pPr>
            <a:r>
              <a:rPr lang="en-IN" sz="1150" b="1" i="0" dirty="0">
                <a:solidFill>
                  <a:srgbClr val="E7D89A"/>
                </a:solidFill>
                <a:latin typeface="Calibri"/>
                <a:cs typeface="Calibri"/>
              </a:rPr>
              <a:t>Operational:  </a:t>
            </a:r>
            <a:r>
              <a:rPr lang="en-IN" sz="1150" b="0" i="0" dirty="0">
                <a:solidFill>
                  <a:srgbClr val="F0C7C9"/>
                </a:solidFill>
                <a:latin typeface="Calibri"/>
                <a:cs typeface="Calibri"/>
              </a:rPr>
              <a:t>cost overruns and inventory pressure.</a:t>
            </a:r>
          </a:p>
        </p:txBody>
      </p:sp>
      <p:sp>
        <p:nvSpPr>
          <p:cNvPr id="13" name="Legend 13"/>
          <p:cNvSpPr/>
          <p:nvPr/>
        </p:nvSpPr>
        <p:spPr>
          <a:xfrm>
            <a:off x="640080" y="5166360"/>
            <a:ext cx="109118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PillHigh 14"/>
          <p:cNvSpPr/>
          <p:nvPr/>
        </p:nvSpPr>
        <p:spPr>
          <a:xfrm>
            <a:off x="914400" y="5367528"/>
            <a:ext cx="822960" cy="292608"/>
          </a:xfrm>
          <a:prstGeom prst="rect">
            <a:avLst/>
          </a:prstGeom>
          <a:solidFill>
            <a:srgbClr val="FBE9E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914400" y="536752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140">
                <a:solidFill>
                  <a:srgbClr val="D71920"/>
                </a:solidFill>
                <a:latin typeface="Arial"/>
                <a:cs typeface="Arial"/>
              </a:rPr>
              <a:t>HIGH</a:t>
            </a:r>
          </a:p>
        </p:txBody>
      </p:sp>
      <p:sp>
        <p:nvSpPr>
          <p:cNvPr id="16" name="PillMed 16"/>
          <p:cNvSpPr/>
          <p:nvPr/>
        </p:nvSpPr>
        <p:spPr>
          <a:xfrm>
            <a:off x="1847088" y="5367528"/>
            <a:ext cx="1051560" cy="292608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1847088" y="536752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140">
                <a:solidFill>
                  <a:srgbClr val="C9A227"/>
                </a:solidFill>
                <a:latin typeface="Arial"/>
                <a:cs typeface="Arial"/>
              </a:rPr>
              <a:t>MEDIUM</a:t>
            </a:r>
          </a:p>
        </p:txBody>
      </p:sp>
      <p:sp>
        <p:nvSpPr>
          <p:cNvPr id="18" name="Text 18"/>
          <p:cNvSpPr/>
          <p:nvPr/>
        </p:nvSpPr>
        <p:spPr>
          <a:xfrm>
            <a:off x="3108960" y="5166360"/>
            <a:ext cx="816861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150" b="0" i="0" dirty="0">
                <a:solidFill>
                  <a:srgbClr val="3A3A3A"/>
                </a:solidFill>
                <a:latin typeface="Calibri"/>
                <a:cs typeface="Calibri"/>
              </a:rPr>
              <a:t>Severity reflects the likely effect on project cash flows — high-severity risks are the ones that would push NPV further below zero.</a:t>
            </a:r>
          </a:p>
        </p:txBody>
      </p:sp>
      <p:sp>
        <p:nvSpPr>
          <p:cNvPr id="19" name="FooterL 19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20" name="FooterR 20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Risk Mitigation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Management Actions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MitCard 7"/>
          <p:cNvSpPr/>
          <p:nvPr/>
        </p:nvSpPr>
        <p:spPr>
          <a:xfrm>
            <a:off x="640080" y="1783080"/>
            <a:ext cx="34544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MitAccent 8"/>
          <p:cNvSpPr/>
          <p:nvPr/>
        </p:nvSpPr>
        <p:spPr>
          <a:xfrm>
            <a:off x="640080" y="1783080"/>
            <a:ext cx="34544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914400" y="2029968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D71920"/>
                </a:solidFill>
                <a:latin typeface="Calibri"/>
                <a:cs typeface="Calibri"/>
              </a:rPr>
              <a:t>Demand Risk</a:t>
            </a:r>
          </a:p>
        </p:txBody>
      </p:sp>
      <p:sp>
        <p:nvSpPr>
          <p:cNvPr id="10" name="MiniRule 10"/>
          <p:cNvSpPr/>
          <p:nvPr/>
        </p:nvSpPr>
        <p:spPr>
          <a:xfrm>
            <a:off x="914400" y="2542032"/>
            <a:ext cx="1005840" cy="25603"/>
          </a:xfrm>
          <a:prstGeom prst="rect">
            <a:avLst/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914400" y="2724912"/>
            <a:ext cx="290578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74320" indent="-274320">
              <a:lnSpc>
                <a:spcPct val="98000"/>
              </a:lnSpc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Conduct detailed market research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Use conservative sales forecasts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Start production in phases</a:t>
            </a:r>
          </a:p>
        </p:txBody>
      </p:sp>
      <p:sp>
        <p:nvSpPr>
          <p:cNvPr id="12" name="MitCard 12"/>
          <p:cNvSpPr/>
          <p:nvPr/>
        </p:nvSpPr>
        <p:spPr>
          <a:xfrm>
            <a:off x="4368820" y="1783080"/>
            <a:ext cx="34544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MitAccent 13"/>
          <p:cNvSpPr/>
          <p:nvPr/>
        </p:nvSpPr>
        <p:spPr>
          <a:xfrm>
            <a:off x="4368820" y="1783080"/>
            <a:ext cx="34544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4643140" y="2029968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D71920"/>
                </a:solidFill>
                <a:latin typeface="Calibri"/>
                <a:cs typeface="Calibri"/>
              </a:rPr>
              <a:t>Cost Risk</a:t>
            </a:r>
          </a:p>
        </p:txBody>
      </p:sp>
      <p:sp>
        <p:nvSpPr>
          <p:cNvPr id="15" name="MiniRule 15"/>
          <p:cNvSpPr/>
          <p:nvPr/>
        </p:nvSpPr>
        <p:spPr>
          <a:xfrm>
            <a:off x="4643140" y="2542032"/>
            <a:ext cx="1005840" cy="25603"/>
          </a:xfrm>
          <a:prstGeom prst="rect">
            <a:avLst/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4643140" y="2724912"/>
            <a:ext cx="290578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74320" indent="-274320">
              <a:lnSpc>
                <a:spcPct val="98000"/>
              </a:lnSpc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Fixed-price supplier contracts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Strict project cost monitoring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Maintain contingency reserves</a:t>
            </a:r>
          </a:p>
        </p:txBody>
      </p:sp>
      <p:sp>
        <p:nvSpPr>
          <p:cNvPr id="17" name="MitCard 17"/>
          <p:cNvSpPr/>
          <p:nvPr/>
        </p:nvSpPr>
        <p:spPr>
          <a:xfrm>
            <a:off x="8097561" y="1783080"/>
            <a:ext cx="34544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MitAccent 18"/>
          <p:cNvSpPr/>
          <p:nvPr/>
        </p:nvSpPr>
        <p:spPr>
          <a:xfrm>
            <a:off x="8097561" y="1783080"/>
            <a:ext cx="34544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9"/>
          <p:cNvSpPr/>
          <p:nvPr/>
        </p:nvSpPr>
        <p:spPr>
          <a:xfrm>
            <a:off x="8371881" y="2029968"/>
            <a:ext cx="29057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D71920"/>
                </a:solidFill>
                <a:latin typeface="Calibri"/>
                <a:cs typeface="Calibri"/>
              </a:rPr>
              <a:t>Fashion Risk</a:t>
            </a:r>
          </a:p>
        </p:txBody>
      </p:sp>
      <p:sp>
        <p:nvSpPr>
          <p:cNvPr id="20" name="MiniRule 20"/>
          <p:cNvSpPr/>
          <p:nvPr/>
        </p:nvSpPr>
        <p:spPr>
          <a:xfrm>
            <a:off x="8371881" y="2542032"/>
            <a:ext cx="1005840" cy="25603"/>
          </a:xfrm>
          <a:prstGeom prst="rect">
            <a:avLst/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8371881" y="2724912"/>
            <a:ext cx="290578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74320" indent="-274320">
              <a:lnSpc>
                <a:spcPct val="98000"/>
              </a:lnSpc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Shorter production cycles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Data-driven demand forecasting</a:t>
            </a:r>
          </a:p>
          <a:p>
            <a:pPr algn="l" marL="274320" indent="-274320">
              <a:lnSpc>
                <a:spcPct val="98000"/>
              </a:lnSpc>
              <a:spcBef>
                <a:spcPts val="240"/>
              </a:spcBef>
              <a:buClr>
                <a:srgbClr val="C9A227"/>
              </a:buClr>
              <a:buFont typeface="Segoe UI Symbol"/>
              <a:buChar char="✓"/>
            </a:pPr>
            <a:r>
              <a:rPr lang="en-IN" sz="1250" b="0" i="0" dirty="0">
                <a:solidFill>
                  <a:srgbClr val="3A3A3A"/>
                </a:solidFill>
                <a:latin typeface="Calibri"/>
                <a:cs typeface="Calibri"/>
              </a:rPr>
              <a:t>Flexible manufacturing lines</a:t>
            </a:r>
          </a:p>
        </p:txBody>
      </p:sp>
      <p:sp>
        <p:nvSpPr>
          <p:cNvPr id="22" name="MitNote 22"/>
          <p:cNvSpPr/>
          <p:nvPr/>
        </p:nvSpPr>
        <p:spPr>
          <a:xfrm>
            <a:off x="640080" y="5669280"/>
            <a:ext cx="10911810" cy="548640"/>
          </a:xfrm>
          <a:prstGeom prst="rect">
            <a:avLst/>
          </a:prstGeom>
          <a:solidFill>
            <a:srgbClr val="FCF5E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Accent 23"/>
          <p:cNvSpPr/>
          <p:nvPr/>
        </p:nvSpPr>
        <p:spPr>
          <a:xfrm>
            <a:off x="640080" y="5669280"/>
            <a:ext cx="5029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914400" y="5669280"/>
            <a:ext cx="1036317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en-IN" sz="1200" b="0" i="0" dirty="0">
                <a:solidFill>
                  <a:srgbClr val="3A3A3A"/>
                </a:solidFill>
                <a:latin typeface="Calibri"/>
                <a:cs typeface="Calibri"/>
              </a:rPr>
              <a:t>With these actions in place, management should re-test the project's NPV and IRR before committing capital.</a:t>
            </a:r>
          </a:p>
        </p:txBody>
      </p:sp>
      <p:sp>
        <p:nvSpPr>
          <p:cNvPr id="25" name="FooterL 25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26" name="FooterR 26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Management Recommendation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A 'No' On Current Numbers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NoCard 7"/>
          <p:cNvSpPr/>
          <p:nvPr/>
        </p:nvSpPr>
        <p:spPr>
          <a:xfrm>
            <a:off x="640080" y="1783080"/>
            <a:ext cx="4206240" cy="214884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8"/>
          <p:cNvSpPr/>
          <p:nvPr/>
        </p:nvSpPr>
        <p:spPr>
          <a:xfrm>
            <a:off x="932688" y="19751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300">
                <a:solidFill>
                  <a:srgbClr val="E7D89A"/>
                </a:solidFill>
                <a:latin typeface="Arial"/>
                <a:cs typeface="Arial"/>
              </a:rPr>
              <a:t>FINANCIALLY</a:t>
            </a:r>
          </a:p>
        </p:txBody>
      </p:sp>
      <p:sp>
        <p:nvSpPr>
          <p:cNvPr id="9" name="Text 9"/>
          <p:cNvSpPr/>
          <p:nvPr/>
        </p:nvSpPr>
        <p:spPr>
          <a:xfrm>
            <a:off x="932688" y="2194560"/>
            <a:ext cx="36576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6000" b="1" i="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</a:p>
        </p:txBody>
      </p:sp>
      <p:sp>
        <p:nvSpPr>
          <p:cNvPr id="10" name="Text 10"/>
          <p:cNvSpPr/>
          <p:nvPr/>
        </p:nvSpPr>
        <p:spPr>
          <a:xfrm>
            <a:off x="932688" y="3273552"/>
            <a:ext cx="36576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buNone/>
            </a:pPr>
            <a:r>
              <a:rPr lang="en-IN" sz="1250" b="0" i="0" dirty="0">
                <a:solidFill>
                  <a:srgbClr val="F0C7C9"/>
                </a:solidFill>
                <a:latin typeface="Calibri"/>
                <a:cs typeface="Calibri"/>
              </a:rPr>
              <a:t>The current project does not meet the company's required return.</a:t>
            </a:r>
          </a:p>
        </p:txBody>
      </p:sp>
      <p:sp>
        <p:nvSpPr>
          <p:cNvPr id="11" name="However 11"/>
          <p:cNvSpPr/>
          <p:nvPr/>
        </p:nvSpPr>
        <p:spPr>
          <a:xfrm>
            <a:off x="640080" y="4114800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Accent 12"/>
          <p:cNvSpPr/>
          <p:nvPr/>
        </p:nvSpPr>
        <p:spPr>
          <a:xfrm>
            <a:off x="640080" y="4114800"/>
            <a:ext cx="45720" cy="2103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932688" y="431596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600" b="1" i="0" dirty="0" spc="60">
                <a:solidFill>
                  <a:srgbClr val="C9A227"/>
                </a:solidFill>
                <a:latin typeface="Calibri"/>
                <a:cs typeface="Calibri"/>
              </a:rPr>
              <a:t>HOWEVER…</a:t>
            </a:r>
          </a:p>
        </p:txBody>
      </p:sp>
      <p:sp>
        <p:nvSpPr>
          <p:cNvPr id="14" name="Text 14"/>
          <p:cNvSpPr/>
          <p:nvPr/>
        </p:nvSpPr>
        <p:spPr>
          <a:xfrm>
            <a:off x="932688" y="4700016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  <a:buNone/>
            </a:pPr>
            <a:r>
              <a:rPr lang="en-IN" sz="1300" b="0" i="0" dirty="0">
                <a:solidFill>
                  <a:srgbClr val="3A3A3A"/>
                </a:solidFill>
                <a:latin typeface="Calibri"/>
                <a:cs typeface="Calibri"/>
              </a:rPr>
              <a:t>This is a rejection of the project as currently costed — not of the strategy. Management could reconsider it if the economics can be improved.</a:t>
            </a:r>
          </a:p>
        </p:txBody>
      </p:sp>
      <p:sp>
        <p:nvSpPr>
          <p:cNvPr id="15" name="Text 15"/>
          <p:cNvSpPr/>
          <p:nvPr/>
        </p:nvSpPr>
        <p:spPr>
          <a:xfrm>
            <a:off x="5074920" y="1783080"/>
            <a:ext cx="64739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 spc="280">
                <a:solidFill>
                  <a:srgbClr val="C9A227"/>
                </a:solidFill>
                <a:latin typeface="Arial"/>
                <a:cs typeface="Arial"/>
              </a:rPr>
              <a:t>WHAT WOULD HAVE TO CHANGE</a:t>
            </a:r>
          </a:p>
        </p:txBody>
      </p:sp>
      <p:sp>
        <p:nvSpPr>
          <p:cNvPr id="16" name="Step 16"/>
          <p:cNvSpPr/>
          <p:nvPr/>
        </p:nvSpPr>
        <p:spPr>
          <a:xfrm>
            <a:off x="5074920" y="2121408"/>
            <a:ext cx="647395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StepAccent 17"/>
          <p:cNvSpPr/>
          <p:nvPr/>
        </p:nvSpPr>
        <p:spPr>
          <a:xfrm>
            <a:off x="5074920" y="2121408"/>
            <a:ext cx="45720" cy="53035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312664" y="2121408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C9A227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19" name="Text 19"/>
          <p:cNvSpPr/>
          <p:nvPr/>
        </p:nvSpPr>
        <p:spPr>
          <a:xfrm>
            <a:off x="5852160" y="2121408"/>
            <a:ext cx="542239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Increase expected cash inflows</a:t>
            </a:r>
          </a:p>
        </p:txBody>
      </p:sp>
      <p:sp>
        <p:nvSpPr>
          <p:cNvPr id="20" name="Arrow 20"/>
          <p:cNvSpPr/>
          <p:nvPr/>
        </p:nvSpPr>
        <p:spPr>
          <a:xfrm>
            <a:off x="8211312" y="2688336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Step 21"/>
          <p:cNvSpPr/>
          <p:nvPr/>
        </p:nvSpPr>
        <p:spPr>
          <a:xfrm>
            <a:off x="5074920" y="2889504"/>
            <a:ext cx="647395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StepAccent 22"/>
          <p:cNvSpPr/>
          <p:nvPr/>
        </p:nvSpPr>
        <p:spPr>
          <a:xfrm>
            <a:off x="5074920" y="2889504"/>
            <a:ext cx="45720" cy="53035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5312664" y="2889504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C9A227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24" name="Text 24"/>
          <p:cNvSpPr/>
          <p:nvPr/>
        </p:nvSpPr>
        <p:spPr>
          <a:xfrm>
            <a:off x="5852160" y="2889504"/>
            <a:ext cx="542239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Reduce the initial investment outlay</a:t>
            </a:r>
          </a:p>
        </p:txBody>
      </p:sp>
      <p:sp>
        <p:nvSpPr>
          <p:cNvPr id="25" name="Arrow 25"/>
          <p:cNvSpPr/>
          <p:nvPr/>
        </p:nvSpPr>
        <p:spPr>
          <a:xfrm>
            <a:off x="8211312" y="3456432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Step 26"/>
          <p:cNvSpPr/>
          <p:nvPr/>
        </p:nvSpPr>
        <p:spPr>
          <a:xfrm>
            <a:off x="5074920" y="3657600"/>
            <a:ext cx="647395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StepAccent 27"/>
          <p:cNvSpPr/>
          <p:nvPr/>
        </p:nvSpPr>
        <p:spPr>
          <a:xfrm>
            <a:off x="5074920" y="3657600"/>
            <a:ext cx="45720" cy="53035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312664" y="3657600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C9A227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29" name="Text 29"/>
          <p:cNvSpPr/>
          <p:nvPr/>
        </p:nvSpPr>
        <p:spPr>
          <a:xfrm>
            <a:off x="5852160" y="3657600"/>
            <a:ext cx="542239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Improve operating margins</a:t>
            </a:r>
          </a:p>
        </p:txBody>
      </p:sp>
      <p:sp>
        <p:nvSpPr>
          <p:cNvPr id="30" name="Arrow 30"/>
          <p:cNvSpPr/>
          <p:nvPr/>
        </p:nvSpPr>
        <p:spPr>
          <a:xfrm>
            <a:off x="8211312" y="4224528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Step 31"/>
          <p:cNvSpPr/>
          <p:nvPr/>
        </p:nvSpPr>
        <p:spPr>
          <a:xfrm>
            <a:off x="5074920" y="4425696"/>
            <a:ext cx="647395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" name="StepAccent 32"/>
          <p:cNvSpPr/>
          <p:nvPr/>
        </p:nvSpPr>
        <p:spPr>
          <a:xfrm>
            <a:off x="5074920" y="4425696"/>
            <a:ext cx="45720" cy="53035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5312664" y="4425696"/>
            <a:ext cx="4572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C9A227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34" name="Text 34"/>
          <p:cNvSpPr/>
          <p:nvPr/>
        </p:nvSpPr>
        <p:spPr>
          <a:xfrm>
            <a:off x="5852160" y="4425696"/>
            <a:ext cx="542239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Calibri"/>
                <a:cs typeface="Calibri"/>
              </a:rPr>
              <a:t>Reduce project risk through a phased rollout</a:t>
            </a:r>
          </a:p>
        </p:txBody>
      </p:sp>
      <p:sp>
        <p:nvSpPr>
          <p:cNvPr id="35" name="Arrow 35"/>
          <p:cNvSpPr/>
          <p:nvPr/>
        </p:nvSpPr>
        <p:spPr>
          <a:xfrm>
            <a:off x="8211312" y="4992624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D89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6" name="Target 36"/>
          <p:cNvSpPr/>
          <p:nvPr/>
        </p:nvSpPr>
        <p:spPr>
          <a:xfrm>
            <a:off x="5074920" y="5193792"/>
            <a:ext cx="6473952" cy="960120"/>
          </a:xfrm>
          <a:prstGeom prst="rect">
            <a:avLst/>
          </a:prstGeom>
          <a:solidFill>
            <a:srgbClr val="FCF5E2"/>
          </a:solidFill>
          <a:ln w="19050">
            <a:solidFill>
              <a:srgbClr val="C9A22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7"/>
          <p:cNvSpPr/>
          <p:nvPr/>
        </p:nvSpPr>
        <p:spPr>
          <a:xfrm>
            <a:off x="5074920" y="5321808"/>
            <a:ext cx="647395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50" b="1" i="0" dirty="0" spc="280">
                <a:solidFill>
                  <a:srgbClr val="C9A227"/>
                </a:solidFill>
                <a:latin typeface="Arial"/>
                <a:cs typeface="Arial"/>
              </a:rPr>
              <a:t>TARGET FOR APPROVAL</a:t>
            </a:r>
          </a:p>
        </p:txBody>
      </p:sp>
      <p:sp>
        <p:nvSpPr>
          <p:cNvPr id="38" name="Text 38"/>
          <p:cNvSpPr/>
          <p:nvPr/>
        </p:nvSpPr>
        <p:spPr>
          <a:xfrm>
            <a:off x="5074920" y="5577840"/>
            <a:ext cx="6473952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200" b="1" i="0" dirty="0">
                <a:solidFill>
                  <a:srgbClr val="1A1A1A"/>
                </a:solidFill>
                <a:latin typeface="Calibri"/>
                <a:cs typeface="Calibri"/>
              </a:rPr>
              <a:t>IRR &gt; 11%</a:t>
            </a:r>
            <a:r>
              <a:rPr lang="en-IN" sz="1400" b="0" i="0" dirty="0">
                <a:solidFill>
                  <a:srgbClr val="6E6E6E"/>
                </a:solidFill>
                <a:latin typeface="Calibri"/>
                <a:cs typeface="Calibri"/>
              </a:rPr>
              <a:t>     and     </a:t>
            </a:r>
            <a:r>
              <a:rPr lang="en-IN" sz="2200" b="1" i="0" dirty="0">
                <a:solidFill>
                  <a:srgbClr val="1A1A1A"/>
                </a:solidFill>
                <a:latin typeface="Calibri"/>
                <a:cs typeface="Calibri"/>
              </a:rPr>
              <a:t>NPV &gt; ₹0</a:t>
            </a:r>
          </a:p>
        </p:txBody>
      </p:sp>
      <p:sp>
        <p:nvSpPr>
          <p:cNvPr id="39" name="FooterL 39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40" name="FooterR 40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Eyebrow 4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1" i="0" dirty="0" spc="340" cap="all">
                <a:solidFill>
                  <a:srgbClr val="C9A227"/>
                </a:solidFill>
                <a:latin typeface="Arial"/>
                <a:cs typeface="Arial"/>
              </a:rPr>
              <a:t>Conclusion</a:t>
            </a:r>
          </a:p>
        </p:txBody>
      </p:sp>
      <p:sp>
        <p:nvSpPr>
          <p:cNvPr id="5" name="Title 5"/>
          <p:cNvSpPr/>
          <p:nvPr/>
        </p:nvSpPr>
        <p:spPr>
          <a:xfrm>
            <a:off x="640080" y="804672"/>
            <a:ext cx="9326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3000" b="1" i="0" dirty="0">
                <a:solidFill>
                  <a:srgbClr val="1A1A1A"/>
                </a:solidFill>
                <a:latin typeface="Calibri"/>
                <a:cs typeface="Calibri"/>
              </a:rPr>
              <a:t>Investment Decision</a:t>
            </a:r>
          </a:p>
        </p:txBody>
      </p:sp>
      <p:sp>
        <p:nvSpPr>
          <p:cNvPr id="6" name="GoldRule 6"/>
          <p:cNvSpPr/>
          <p:nvPr/>
        </p:nvSpPr>
        <p:spPr>
          <a:xfrm>
            <a:off x="640080" y="1490472"/>
            <a:ext cx="1051560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Tile 7"/>
          <p:cNvSpPr/>
          <p:nvPr/>
        </p:nvSpPr>
        <p:spPr>
          <a:xfrm>
            <a:off x="640080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ileAccent 8"/>
          <p:cNvSpPr/>
          <p:nvPr/>
        </p:nvSpPr>
        <p:spPr>
          <a:xfrm>
            <a:off x="640080" y="1783080"/>
            <a:ext cx="254203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ileLabel 9"/>
          <p:cNvSpPr/>
          <p:nvPr/>
        </p:nvSpPr>
        <p:spPr>
          <a:xfrm>
            <a:off x="640080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Initial Investment</a:t>
            </a:r>
          </a:p>
        </p:txBody>
      </p:sp>
      <p:sp>
        <p:nvSpPr>
          <p:cNvPr id="10" name="TileValue 10"/>
          <p:cNvSpPr/>
          <p:nvPr/>
        </p:nvSpPr>
        <p:spPr>
          <a:xfrm>
            <a:off x="640080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1A1A1A"/>
                </a:solidFill>
                <a:latin typeface="Calibri"/>
                <a:cs typeface="Calibri"/>
              </a:rPr>
              <a:t>₹1,200 Cr</a:t>
            </a:r>
          </a:p>
        </p:txBody>
      </p:sp>
      <p:sp>
        <p:nvSpPr>
          <p:cNvPr id="11" name="Tile 11"/>
          <p:cNvSpPr/>
          <p:nvPr/>
        </p:nvSpPr>
        <p:spPr>
          <a:xfrm>
            <a:off x="3430006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ileAccent 12"/>
          <p:cNvSpPr/>
          <p:nvPr/>
        </p:nvSpPr>
        <p:spPr>
          <a:xfrm>
            <a:off x="3430006" y="1783080"/>
            <a:ext cx="2542032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ileLabel 13"/>
          <p:cNvSpPr/>
          <p:nvPr/>
        </p:nvSpPr>
        <p:spPr>
          <a:xfrm>
            <a:off x="3430006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NPV</a:t>
            </a:r>
          </a:p>
        </p:txBody>
      </p:sp>
      <p:sp>
        <p:nvSpPr>
          <p:cNvPr id="14" name="TileValue 14"/>
          <p:cNvSpPr/>
          <p:nvPr/>
        </p:nvSpPr>
        <p:spPr>
          <a:xfrm>
            <a:off x="3430006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D71920"/>
                </a:solidFill>
                <a:latin typeface="Calibri"/>
                <a:cs typeface="Calibri"/>
              </a:rPr>
              <a:t>− ₹32.92 Cr</a:t>
            </a:r>
          </a:p>
        </p:txBody>
      </p:sp>
      <p:sp>
        <p:nvSpPr>
          <p:cNvPr id="15" name="Tile 15"/>
          <p:cNvSpPr/>
          <p:nvPr/>
        </p:nvSpPr>
        <p:spPr>
          <a:xfrm>
            <a:off x="6219932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ileAccent 16"/>
          <p:cNvSpPr/>
          <p:nvPr/>
        </p:nvSpPr>
        <p:spPr>
          <a:xfrm>
            <a:off x="6219932" y="1783080"/>
            <a:ext cx="2542032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ileLabel 17"/>
          <p:cNvSpPr/>
          <p:nvPr/>
        </p:nvSpPr>
        <p:spPr>
          <a:xfrm>
            <a:off x="6219932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IRR</a:t>
            </a:r>
          </a:p>
        </p:txBody>
      </p:sp>
      <p:sp>
        <p:nvSpPr>
          <p:cNvPr id="18" name="TileValue 18"/>
          <p:cNvSpPr/>
          <p:nvPr/>
        </p:nvSpPr>
        <p:spPr>
          <a:xfrm>
            <a:off x="6219932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600" b="1" i="0" dirty="0">
                <a:solidFill>
                  <a:srgbClr val="D71920"/>
                </a:solidFill>
                <a:latin typeface="Calibri"/>
                <a:cs typeface="Calibri"/>
              </a:rPr>
              <a:t>10.04%</a:t>
            </a:r>
          </a:p>
        </p:txBody>
      </p:sp>
      <p:sp>
        <p:nvSpPr>
          <p:cNvPr id="19" name="Tile 19"/>
          <p:cNvSpPr/>
          <p:nvPr/>
        </p:nvSpPr>
        <p:spPr>
          <a:xfrm>
            <a:off x="9009858" y="1783080"/>
            <a:ext cx="25420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ileAccent 20"/>
          <p:cNvSpPr/>
          <p:nvPr/>
        </p:nvSpPr>
        <p:spPr>
          <a:xfrm>
            <a:off x="9009858" y="1783080"/>
            <a:ext cx="254203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ileLabel 21"/>
          <p:cNvSpPr/>
          <p:nvPr/>
        </p:nvSpPr>
        <p:spPr>
          <a:xfrm>
            <a:off x="9009858" y="2020824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0" rIns="73152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00" b="1" i="0" dirty="0" spc="220" cap="all">
                <a:solidFill>
                  <a:srgbClr val="6E6E6E"/>
                </a:solidFill>
                <a:latin typeface="Arial"/>
                <a:cs typeface="Arial"/>
              </a:rPr>
              <a:t>Payback</a:t>
            </a:r>
          </a:p>
        </p:txBody>
      </p:sp>
      <p:sp>
        <p:nvSpPr>
          <p:cNvPr id="22" name="TileValue 22"/>
          <p:cNvSpPr/>
          <p:nvPr/>
        </p:nvSpPr>
        <p:spPr>
          <a:xfrm>
            <a:off x="9009858" y="2313432"/>
            <a:ext cx="2542032" cy="630936"/>
          </a:xfrm>
          <a:prstGeom prst="rect">
            <a:avLst/>
          </a:prstGeom>
          <a:noFill/>
          <a:ln>
            <a:noFill/>
          </a:ln>
        </p:spPr>
        <p:txBody>
          <a:bodyPr wrap="square" lIns="54864" tIns="0" rIns="54864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400" b="1" i="0" dirty="0">
                <a:solidFill>
                  <a:srgbClr val="1A1A1A"/>
                </a:solidFill>
                <a:latin typeface="Calibri"/>
                <a:cs typeface="Calibri"/>
              </a:rPr>
              <a:t>4.15 Years</a:t>
            </a:r>
          </a:p>
        </p:txBody>
      </p:sp>
      <p:sp>
        <p:nvSpPr>
          <p:cNvPr id="23" name="FinalRec 23"/>
          <p:cNvSpPr/>
          <p:nvPr/>
        </p:nvSpPr>
        <p:spPr>
          <a:xfrm>
            <a:off x="640080" y="3200400"/>
            <a:ext cx="10911810" cy="1097280"/>
          </a:xfrm>
          <a:prstGeom prst="rect">
            <a:avLst/>
          </a:prstGeom>
          <a:solidFill>
            <a:srgbClr val="D71920"/>
          </a:solidFill>
          <a:ln>
            <a:noFill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640080" y="3346704"/>
            <a:ext cx="1091181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1000" b="1" i="0" dirty="0" spc="300">
                <a:solidFill>
                  <a:srgbClr val="E7D89A"/>
                </a:solidFill>
                <a:latin typeface="Arial"/>
                <a:cs typeface="Arial"/>
              </a:rPr>
              <a:t>FINAL RECOMMENDATION</a:t>
            </a:r>
          </a:p>
        </p:txBody>
      </p:sp>
      <p:sp>
        <p:nvSpPr>
          <p:cNvPr id="25" name="Text 25"/>
          <p:cNvSpPr/>
          <p:nvPr/>
        </p:nvSpPr>
        <p:spPr>
          <a:xfrm>
            <a:off x="640080" y="3639312"/>
            <a:ext cx="10911810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200" b="1" i="0" dirty="0">
                <a:solidFill>
                  <a:srgbClr val="E7D89A"/>
                </a:solidFill>
                <a:latin typeface="Segoe UI Symbol"/>
                <a:cs typeface="Segoe UI Symbol"/>
              </a:rPr>
              <a:t>✕   </a:t>
            </a:r>
            <a:r>
              <a:rPr lang="en-IN" sz="2400" b="1" i="0" dirty="0" spc="20">
                <a:solidFill>
                  <a:srgbClr val="FFFFFF"/>
                </a:solidFill>
                <a:latin typeface="Calibri"/>
                <a:cs typeface="Calibri"/>
              </a:rPr>
              <a:t>DO NOT UNDERTAKE THE PROJECT IN ITS CURRENT FORM</a:t>
            </a:r>
          </a:p>
        </p:txBody>
      </p:sp>
      <p:sp>
        <p:nvSpPr>
          <p:cNvPr id="26" name="Closing 26"/>
          <p:cNvSpPr/>
          <p:nvPr/>
        </p:nvSpPr>
        <p:spPr>
          <a:xfrm>
            <a:off x="640080" y="4526280"/>
            <a:ext cx="1091181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Accent 27"/>
          <p:cNvSpPr/>
          <p:nvPr/>
        </p:nvSpPr>
        <p:spPr>
          <a:xfrm>
            <a:off x="640080" y="4526280"/>
            <a:ext cx="45720" cy="1188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950976" y="4526280"/>
            <a:ext cx="10290018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6000"/>
              </a:lnSpc>
              <a:buNone/>
            </a:pPr>
            <a:r>
              <a:rPr lang="en-IN" sz="1450" b="0" i="0" dirty="0">
                <a:solidFill>
                  <a:srgbClr val="3A3A3A"/>
                </a:solidFill>
                <a:latin typeface="Calibri"/>
                <a:cs typeface="Calibri"/>
              </a:rPr>
              <a:t>The project should only proceed if management can improve expected cash flows, reduce the investment requirement, or otherwise raise the expected return above the 11% cost of capital.</a:t>
            </a:r>
          </a:p>
        </p:txBody>
      </p:sp>
      <p:sp>
        <p:nvSpPr>
          <p:cNvPr id="29" name="Text 29"/>
          <p:cNvSpPr/>
          <p:nvPr/>
        </p:nvSpPr>
        <p:spPr>
          <a:xfrm>
            <a:off x="640080" y="5870448"/>
            <a:ext cx="1091181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1050" b="0" i="1" dirty="0">
                <a:solidFill>
                  <a:srgbClr val="6E6E6E"/>
                </a:solidFill>
                <a:latin typeface="Calibri"/>
                <a:cs typeface="Calibri"/>
              </a:rPr>
              <a:t>Basis: five years of after-tax cash inflows, ₹150 Cr salvage value in Year 5, 11% cost of capital.</a:t>
            </a:r>
          </a:p>
        </p:txBody>
      </p:sp>
      <p:sp>
        <p:nvSpPr>
          <p:cNvPr id="30" name="FooterL 3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IN" sz="900" b="0" i="0" dirty="0" spc="120">
                <a:solidFill>
                  <a:srgbClr val="999999"/>
                </a:solidFill>
                <a:latin typeface="Arial"/>
                <a:cs typeface="Arial"/>
              </a:rPr>
              <a:t>ABFRL  •  INVESTMENT APPRAISAL  •  CASE STUDY 2</a:t>
            </a:r>
          </a:p>
        </p:txBody>
      </p:sp>
      <p:sp>
        <p:nvSpPr>
          <p:cNvPr id="31" name="FooterR 31"/>
          <p:cNvSpPr/>
          <p:nvPr/>
        </p:nvSpPr>
        <p:spPr>
          <a:xfrm>
            <a:off x="9723090" y="6382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IN" sz="900" b="1" i="0" dirty="0" spc="120">
                <a:solidFill>
                  <a:srgbClr val="C9A227"/>
                </a:solidFill>
                <a:latin typeface="Arial"/>
                <a:cs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 2"/>
          <p:cNvSpPr/>
          <p:nvPr/>
        </p:nvSpPr>
        <p:spPr>
          <a:xfrm>
            <a:off x="0" y="0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ISSM Log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0" y="2057400"/>
            <a:ext cx="1219197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5400" b="1" i="0" dirty="0" spc="100">
                <a:solidFill>
                  <a:srgbClr val="D71920"/>
                </a:solidFill>
                <a:latin typeface="Calibri"/>
                <a:cs typeface="Calibri"/>
              </a:rPr>
              <a:t>THANK YOU</a:t>
            </a:r>
          </a:p>
        </p:txBody>
      </p:sp>
      <p:sp>
        <p:nvSpPr>
          <p:cNvPr id="5" name="GoldRule 5"/>
          <p:cNvSpPr/>
          <p:nvPr/>
        </p:nvSpPr>
        <p:spPr>
          <a:xfrm>
            <a:off x="5318745" y="3218688"/>
            <a:ext cx="155448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0" y="3438144"/>
            <a:ext cx="1219197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2000" b="0" i="0" dirty="0">
                <a:solidFill>
                  <a:srgbClr val="3A3A3A"/>
                </a:solidFill>
                <a:latin typeface="Calibri"/>
                <a:cs typeface="Calibri"/>
              </a:rPr>
              <a:t>Questions?</a:t>
            </a:r>
          </a:p>
        </p:txBody>
      </p:sp>
      <p:sp>
        <p:nvSpPr>
          <p:cNvPr id="7" name="Text 7"/>
          <p:cNvSpPr/>
          <p:nvPr/>
        </p:nvSpPr>
        <p:spPr>
          <a:xfrm>
            <a:off x="0" y="4434840"/>
            <a:ext cx="1219197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IN" sz="950" b="1" i="0" dirty="0" spc="300">
                <a:solidFill>
                  <a:srgbClr val="C9A227"/>
                </a:solidFill>
                <a:latin typeface="Arial"/>
                <a:cs typeface="Arial"/>
              </a:rPr>
              <a:t>PRESENTED BY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2000" b="1" i="0" dirty="0">
                <a:solidFill>
                  <a:srgbClr val="1A1A1A"/>
                </a:solidFill>
                <a:latin typeface="Calibri"/>
                <a:cs typeface="Calibri"/>
              </a:rPr>
              <a:t>Lingesh K</a:t>
            </a:r>
          </a:p>
          <a:p>
            <a:pPr algn="ctr">
              <a:lnSpc>
                <a:spcPct val="100000"/>
              </a:lnSpc>
              <a:spcBef>
                <a:spcPts val="140"/>
              </a:spcBef>
              <a:buNone/>
            </a:pPr>
            <a:r>
              <a:rPr lang="en-IN" sz="1250" b="0" i="0" dirty="0">
                <a:solidFill>
                  <a:srgbClr val="6E6E6E"/>
                </a:solidFill>
                <a:latin typeface="Calibri"/>
                <a:cs typeface="Calibri"/>
              </a:rPr>
              <a:t>Register No. OSI2509030   |   MBA Finance</a:t>
            </a:r>
          </a:p>
        </p:txBody>
      </p:sp>
      <p:sp>
        <p:nvSpPr>
          <p:cNvPr id="8" name="BotRule 8"/>
          <p:cNvSpPr/>
          <p:nvPr/>
        </p:nvSpPr>
        <p:spPr>
          <a:xfrm>
            <a:off x="0" y="6780276"/>
            <a:ext cx="12191970" cy="777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SM">
  <a:themeElements>
    <a:clrScheme name="ISSM">
      <a:dk1>
        <a:srgbClr val="1A1A1A"/>
      </a:dk1>
      <a:lt1>
        <a:srgbClr val="FFFFFF"/>
      </a:lt1>
      <a:dk2>
        <a:srgbClr val="3A3A3A"/>
      </a:dk2>
      <a:lt2>
        <a:srgbClr val="EDEDED"/>
      </a:lt2>
      <a:accent1>
        <a:srgbClr val="D71920"/>
      </a:accent1>
      <a:accent2>
        <a:srgbClr val="C9A227"/>
      </a:accent2>
      <a:accent3>
        <a:srgbClr val="1A1A1A"/>
      </a:accent3>
      <a:accent4>
        <a:srgbClr val="6E6E6E"/>
      </a:accent4>
      <a:accent5>
        <a:srgbClr val="9E1319"/>
      </a:accent5>
      <a:accent6>
        <a:srgbClr val="E7D89A"/>
      </a:accent6>
      <a:hlink>
        <a:srgbClr val="D71920"/>
      </a:hlink>
      <a:folHlink>
        <a:srgbClr val="9E1319"/>
      </a:folHlink>
    </a:clrScheme>
    <a:fontScheme name="ISS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ISSM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Company/>
  <TitlesOfParts>
    <vt:vector size="13" baseType="lpstr">
      <vt:lpstr>Investment Appraisal - ABFRL</vt:lpstr>
      <vt:lpstr>Case Overview</vt:lpstr>
      <vt:lpstr>Project Cash Flows</vt:lpstr>
      <vt:lpstr>NPV Analysis</vt:lpstr>
      <vt:lpstr>IRR Analysis</vt:lpstr>
      <vt:lpstr>Payback Period</vt:lpstr>
      <vt:lpstr>Financial Decision</vt:lpstr>
      <vt:lpstr>Strategic Risks</vt:lpstr>
      <vt:lpstr>Risk to Impact</vt:lpstr>
      <vt:lpstr>Risk Mitigation</vt:lpstr>
      <vt:lpstr>Management Recommendation</vt:lpstr>
      <vt:lpstr>Conclusion</vt:lpstr>
      <vt:lpstr>Thank You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Appraisal - Aditya Birla Fashion &amp; Retail Ltd.</dc:title>
  <dc:creator>Lingesh K</dc:creator>
  <cp:lastModifiedBy>Lingesh K</cp:lastModifiedBy>
</cp:coreProperties>
</file>